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79" r:id="rId6"/>
    <p:sldId id="260" r:id="rId7"/>
    <p:sldId id="261" r:id="rId8"/>
    <p:sldId id="262" r:id="rId9"/>
    <p:sldId id="280" r:id="rId10"/>
    <p:sldId id="263" r:id="rId11"/>
    <p:sldId id="264" r:id="rId12"/>
    <p:sldId id="276" r:id="rId13"/>
    <p:sldId id="282" r:id="rId14"/>
    <p:sldId id="281" r:id="rId15"/>
    <p:sldId id="284" r:id="rId16"/>
    <p:sldId id="283" r:id="rId17"/>
    <p:sldId id="285" r:id="rId18"/>
    <p:sldId id="266" r:id="rId19"/>
    <p:sldId id="267" r:id="rId20"/>
    <p:sldId id="268" r:id="rId21"/>
    <p:sldId id="269" r:id="rId22"/>
    <p:sldId id="270" r:id="rId23"/>
    <p:sldId id="271" r:id="rId24"/>
    <p:sldId id="277" r:id="rId25"/>
    <p:sldId id="278" r:id="rId26"/>
    <p:sldId id="272" r:id="rId27"/>
    <p:sldId id="273" r:id="rId28"/>
    <p:sldId id="274" r:id="rId29"/>
    <p:sldId id="275" r:id="rId30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10" d="100"/>
          <a:sy n="110" d="100"/>
        </p:scale>
        <p:origin x="-1644" y="-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564739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247771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15397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299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66752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7876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94648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366441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9342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105517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34342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BDA7C16-BD27-4BF0-A331-0963955FBA3F}" type="datetimeFigureOut">
              <a:rPr lang="ko-KR" altLang="en-US" smtClean="0"/>
              <a:t>2017-04-12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8714C7A-EEC3-4A0B-B924-F4E3F6F70B5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7247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0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2.jp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jpg"/><Relationship Id="rId5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jpg"/><Relationship Id="rId4" Type="http://schemas.openxmlformats.org/officeDocument/2006/relationships/image" Target="../media/image4.jp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3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jpg"/><Relationship Id="rId5" Type="http://schemas.openxmlformats.org/officeDocument/2006/relationships/image" Target="../media/image4.jpg"/><Relationship Id="rId4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e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64173" y="2694110"/>
            <a:ext cx="7886700" cy="1325563"/>
          </a:xfrm>
        </p:spPr>
        <p:txBody>
          <a:bodyPr>
            <a:normAutofit/>
          </a:bodyPr>
          <a:lstStyle/>
          <a:p>
            <a:pPr algn="ctr"/>
            <a:r>
              <a:rPr lang="ko-KR" altLang="en-US" sz="4000" dirty="0" smtClean="0"/>
              <a:t>실제 게임 </a:t>
            </a:r>
            <a:r>
              <a:rPr lang="ko-KR" altLang="en-US" sz="4000" dirty="0" err="1" smtClean="0"/>
              <a:t>플로우</a:t>
            </a:r>
            <a:r>
              <a:rPr lang="ko-KR" altLang="en-US" sz="4000" dirty="0" smtClean="0"/>
              <a:t> </a:t>
            </a:r>
            <a:endParaRPr lang="ko-KR" altLang="en-US" sz="4000" dirty="0"/>
          </a:p>
        </p:txBody>
      </p:sp>
    </p:spTree>
    <p:extLst>
      <p:ext uri="{BB962C8B-B14F-4D97-AF65-F5344CB8AC3E}">
        <p14:creationId xmlns:p14="http://schemas.microsoft.com/office/powerpoint/2010/main" val="1829694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15996" y="293924"/>
            <a:ext cx="2647269" cy="6361900"/>
          </a:xfrm>
          <a:prstGeom prst="rect">
            <a:avLst/>
          </a:prstGeom>
        </p:spPr>
      </p:pic>
      <p:sp>
        <p:nvSpPr>
          <p:cNvPr id="4" name="순서도: 대체 처리 3"/>
          <p:cNvSpPr/>
          <p:nvPr/>
        </p:nvSpPr>
        <p:spPr>
          <a:xfrm>
            <a:off x="3299254" y="2084173"/>
            <a:ext cx="1995617" cy="235602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로고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타이틀화면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게임 배경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스토리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680842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99" y="29392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40916" y="427840"/>
            <a:ext cx="5605943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dirty="0" smtClean="0"/>
              <a:t>메인 로비 입장 </a:t>
            </a:r>
            <a:endParaRPr lang="en-US" altLang="ko-KR" sz="4000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sz="1600" dirty="0" smtClean="0"/>
              <a:t>게임 플레이</a:t>
            </a:r>
            <a:endParaRPr lang="en-US" altLang="ko-KR" sz="1600" dirty="0"/>
          </a:p>
          <a:p>
            <a:r>
              <a:rPr lang="en-US" altLang="ko-KR" sz="1600" dirty="0"/>
              <a:t>1</a:t>
            </a:r>
            <a:r>
              <a:rPr lang="ko-KR" altLang="en-US" sz="1600" dirty="0"/>
              <a:t>일 </a:t>
            </a:r>
            <a:r>
              <a:rPr lang="en-US" altLang="ko-KR" sz="1600" dirty="0" smtClean="0"/>
              <a:t>N</a:t>
            </a:r>
            <a:r>
              <a:rPr lang="ko-KR" altLang="en-US" sz="1600" dirty="0" smtClean="0"/>
              <a:t>회 </a:t>
            </a:r>
            <a:r>
              <a:rPr lang="ko-KR" altLang="en-US" sz="1600" dirty="0" smtClean="0"/>
              <a:t>기본입장</a:t>
            </a:r>
            <a:endParaRPr lang="en-US" altLang="ko-KR" sz="1600" dirty="0" smtClean="0"/>
          </a:p>
          <a:p>
            <a:r>
              <a:rPr lang="en-US" altLang="ko-KR" sz="1600" dirty="0" smtClean="0"/>
              <a:t>( </a:t>
            </a:r>
            <a:r>
              <a:rPr lang="ko-KR" altLang="en-US" sz="1400" dirty="0" smtClean="0"/>
              <a:t>별 </a:t>
            </a:r>
            <a:r>
              <a:rPr lang="en-US" altLang="ko-KR" sz="1400" dirty="0" smtClean="0"/>
              <a:t>1</a:t>
            </a:r>
            <a:r>
              <a:rPr lang="ko-KR" altLang="en-US" sz="1400" dirty="0" smtClean="0"/>
              <a:t>개당 </a:t>
            </a:r>
            <a:r>
              <a:rPr lang="en-US" altLang="ko-KR" sz="1400" dirty="0" smtClean="0"/>
              <a:t>100</a:t>
            </a:r>
            <a:r>
              <a:rPr lang="ko-KR" altLang="en-US" sz="1400" dirty="0" smtClean="0"/>
              <a:t>만원 </a:t>
            </a:r>
            <a:r>
              <a:rPr lang="en-US" altLang="ko-KR" sz="1400" dirty="0" smtClean="0"/>
              <a:t>,  </a:t>
            </a:r>
            <a:r>
              <a:rPr lang="ko-KR" altLang="en-US" sz="1400" dirty="0" smtClean="0"/>
              <a:t>개인보유금 </a:t>
            </a:r>
            <a:r>
              <a:rPr lang="en-US" altLang="ko-KR" sz="1400" dirty="0" smtClean="0"/>
              <a:t>300</a:t>
            </a:r>
            <a:r>
              <a:rPr lang="ko-KR" altLang="en-US" sz="1400" dirty="0" err="1" smtClean="0"/>
              <a:t>만원이하시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1</a:t>
            </a:r>
            <a:r>
              <a:rPr lang="ko-KR" altLang="en-US" sz="1400" dirty="0" smtClean="0"/>
              <a:t>일 </a:t>
            </a:r>
            <a:r>
              <a:rPr lang="en-US" altLang="ko-KR" sz="1400" dirty="0" smtClean="0"/>
              <a:t>N</a:t>
            </a:r>
            <a:r>
              <a:rPr lang="ko-KR" altLang="en-US" sz="1400" dirty="0" err="1" smtClean="0"/>
              <a:t>회충전</a:t>
            </a:r>
            <a:r>
              <a:rPr lang="ko-KR" altLang="en-US" sz="1400" dirty="0" smtClean="0"/>
              <a:t> 가능</a:t>
            </a:r>
            <a:r>
              <a:rPr lang="en-US" altLang="ko-KR" sz="1600" dirty="0" smtClean="0"/>
              <a:t>)</a:t>
            </a:r>
          </a:p>
          <a:p>
            <a:endParaRPr lang="en-US" altLang="ko-KR" sz="1600" dirty="0" smtClean="0"/>
          </a:p>
          <a:p>
            <a:r>
              <a:rPr lang="en-US" altLang="ko-KR" sz="1600" dirty="0"/>
              <a:t>- </a:t>
            </a:r>
            <a:r>
              <a:rPr lang="ko-KR" altLang="en-US" sz="1600" dirty="0"/>
              <a:t>게임 스토리 </a:t>
            </a:r>
            <a:endParaRPr lang="en-US" altLang="ko-KR" sz="1600" dirty="0"/>
          </a:p>
          <a:p>
            <a:r>
              <a:rPr lang="ko-KR" altLang="en-US" sz="1600" dirty="0"/>
              <a:t>플레이어가 </a:t>
            </a:r>
            <a:r>
              <a:rPr lang="ko-KR" altLang="en-US" sz="1600" dirty="0" err="1"/>
              <a:t>찌라시에</a:t>
            </a:r>
            <a:r>
              <a:rPr lang="ko-KR" altLang="en-US" sz="1600" dirty="0"/>
              <a:t> 유혹되어 게임을 시작하게 된다</a:t>
            </a:r>
            <a:r>
              <a:rPr lang="en-US" altLang="ko-KR" sz="1600" dirty="0" smtClean="0"/>
              <a:t>.</a:t>
            </a:r>
            <a:endParaRPr lang="en-US" altLang="ko-KR" sz="1600" dirty="0"/>
          </a:p>
          <a:p>
            <a:r>
              <a:rPr lang="en-US" altLang="ko-KR" sz="1600" dirty="0"/>
              <a:t/>
            </a:r>
            <a:br>
              <a:rPr lang="en-US" altLang="ko-KR" sz="1600" dirty="0"/>
            </a:br>
            <a:r>
              <a:rPr lang="en-US" altLang="ko-KR" sz="1600" dirty="0" smtClean="0"/>
              <a:t>- </a:t>
            </a:r>
            <a:r>
              <a:rPr lang="ko-KR" altLang="en-US" sz="1600" dirty="0" smtClean="0"/>
              <a:t>게임 배경 </a:t>
            </a:r>
            <a:endParaRPr lang="en-US" altLang="ko-KR" sz="1600" dirty="0"/>
          </a:p>
          <a:p>
            <a:r>
              <a:rPr lang="ko-KR" altLang="en-US" sz="1600" dirty="0" smtClean="0"/>
              <a:t>게임은 </a:t>
            </a:r>
            <a:r>
              <a:rPr lang="ko-KR" altLang="en-US" sz="1600" dirty="0" err="1" smtClean="0"/>
              <a:t>일정시간동안</a:t>
            </a:r>
            <a:r>
              <a:rPr lang="ko-KR" altLang="en-US" sz="1600" dirty="0" smtClean="0"/>
              <a:t> </a:t>
            </a:r>
            <a:r>
              <a:rPr lang="en-US" altLang="ko-KR" sz="1600" dirty="0" smtClean="0"/>
              <a:t>“</a:t>
            </a:r>
            <a:r>
              <a:rPr lang="ko-KR" altLang="en-US" sz="1600" dirty="0" smtClean="0"/>
              <a:t>배 </a:t>
            </a:r>
            <a:r>
              <a:rPr lang="en-US" altLang="ko-KR" sz="1600" dirty="0" smtClean="0"/>
              <a:t>: </a:t>
            </a:r>
            <a:r>
              <a:rPr lang="ko-KR" altLang="en-US" sz="1600" dirty="0" smtClean="0"/>
              <a:t>가위바위보 </a:t>
            </a:r>
            <a:r>
              <a:rPr lang="ko-KR" altLang="en-US" sz="1600" dirty="0" err="1" smtClean="0"/>
              <a:t>크루즈</a:t>
            </a:r>
            <a:r>
              <a:rPr lang="ko-KR" altLang="en-US" sz="1600" dirty="0" smtClean="0"/>
              <a:t> 호 </a:t>
            </a:r>
            <a:r>
              <a:rPr lang="en-US" altLang="ko-KR" sz="1600" dirty="0" smtClean="0"/>
              <a:t>”</a:t>
            </a:r>
            <a:r>
              <a:rPr lang="ko-KR" altLang="en-US" sz="1600" dirty="0" smtClean="0"/>
              <a:t>안에서 </a:t>
            </a:r>
            <a:endParaRPr lang="en-US" altLang="ko-KR" sz="1600" dirty="0" smtClean="0"/>
          </a:p>
          <a:p>
            <a:r>
              <a:rPr lang="ko-KR" altLang="en-US" sz="1600" dirty="0" smtClean="0"/>
              <a:t>이루어진다</a:t>
            </a:r>
            <a:r>
              <a:rPr lang="en-US" altLang="ko-KR" sz="1600" dirty="0" smtClean="0"/>
              <a:t>. </a:t>
            </a:r>
          </a:p>
          <a:p>
            <a:endParaRPr lang="en-US" altLang="ko-KR" sz="1600" dirty="0" smtClean="0"/>
          </a:p>
          <a:p>
            <a:endParaRPr lang="en-US" altLang="ko-KR" sz="1600" dirty="0" smtClean="0"/>
          </a:p>
          <a:p>
            <a:r>
              <a:rPr lang="en-US" altLang="ko-KR" sz="1600" dirty="0" smtClean="0"/>
              <a:t>- </a:t>
            </a:r>
            <a:r>
              <a:rPr lang="ko-KR" altLang="en-US" sz="1600" dirty="0" smtClean="0"/>
              <a:t>로비는 최대한 간단하게 구성 </a:t>
            </a:r>
            <a:endParaRPr lang="en-US" altLang="ko-KR" sz="1600" dirty="0" smtClean="0"/>
          </a:p>
          <a:p>
            <a:r>
              <a:rPr lang="ko-KR" altLang="en-US" sz="1600" dirty="0" smtClean="0"/>
              <a:t>내 정보</a:t>
            </a:r>
            <a:r>
              <a:rPr lang="en-US" altLang="ko-KR" sz="1600" dirty="0" smtClean="0"/>
              <a:t>  : </a:t>
            </a:r>
            <a:r>
              <a:rPr lang="ko-KR" altLang="en-US" sz="1600" dirty="0"/>
              <a:t> </a:t>
            </a:r>
            <a:r>
              <a:rPr lang="ko-KR" altLang="en-US" sz="1600" dirty="0" smtClean="0"/>
              <a:t>내부 상세정보 확인 가능 </a:t>
            </a:r>
            <a:endParaRPr lang="en-US" altLang="ko-KR" sz="1600" dirty="0" smtClean="0"/>
          </a:p>
          <a:p>
            <a:r>
              <a:rPr lang="en-US" altLang="ko-KR" sz="1600" dirty="0" smtClean="0"/>
              <a:t>( </a:t>
            </a:r>
            <a:r>
              <a:rPr lang="ko-KR" altLang="en-US" sz="1600" dirty="0" smtClean="0"/>
              <a:t>캐릭터 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보유아이템</a:t>
            </a:r>
            <a:r>
              <a:rPr lang="en-US" altLang="ko-KR" sz="1600" dirty="0" smtClean="0"/>
              <a:t>, </a:t>
            </a:r>
            <a:r>
              <a:rPr lang="ko-KR" altLang="en-US" sz="1600" dirty="0" smtClean="0"/>
              <a:t>등  </a:t>
            </a:r>
            <a:r>
              <a:rPr lang="en-US" altLang="ko-KR" sz="1600" dirty="0" smtClean="0"/>
              <a:t>)</a:t>
            </a:r>
          </a:p>
          <a:p>
            <a:endParaRPr lang="en-US" altLang="ko-KR" sz="1600" dirty="0" smtClean="0"/>
          </a:p>
          <a:p>
            <a:r>
              <a:rPr lang="ko-KR" altLang="en-US" sz="1600" dirty="0" smtClean="0"/>
              <a:t>상점 </a:t>
            </a:r>
            <a:r>
              <a:rPr lang="en-US" altLang="ko-KR" sz="1600" dirty="0" smtClean="0"/>
              <a:t>: 1</a:t>
            </a:r>
            <a:r>
              <a:rPr lang="ko-KR" altLang="en-US" sz="1600" dirty="0" smtClean="0"/>
              <a:t>일 </a:t>
            </a:r>
            <a:r>
              <a:rPr lang="en-US" altLang="ko-KR" sz="1600" dirty="0" smtClean="0"/>
              <a:t>N</a:t>
            </a:r>
            <a:r>
              <a:rPr lang="ko-KR" altLang="en-US" sz="1600" dirty="0" err="1" smtClean="0"/>
              <a:t>회이상</a:t>
            </a:r>
            <a:r>
              <a:rPr lang="ko-KR" altLang="en-US" sz="1600" dirty="0" smtClean="0"/>
              <a:t> </a:t>
            </a:r>
            <a:r>
              <a:rPr lang="ko-KR" altLang="en-US" sz="1600" dirty="0" err="1" smtClean="0"/>
              <a:t>입장하고싶을시</a:t>
            </a:r>
            <a:r>
              <a:rPr lang="ko-KR" altLang="en-US" sz="1600" dirty="0" smtClean="0"/>
              <a:t> 입장권 구매 혹은 캐릭터 판매 용도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endParaRPr lang="ko-KR" altLang="en-US" dirty="0"/>
          </a:p>
        </p:txBody>
      </p:sp>
      <p:pic>
        <p:nvPicPr>
          <p:cNvPr id="7" name="그림 6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752" y="937364"/>
            <a:ext cx="386020" cy="5146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750700" y="1010043"/>
            <a:ext cx="85912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/>
              <a:t>입장권 </a:t>
            </a:r>
            <a:endParaRPr lang="ko-KR" altLang="en-US" sz="1600" dirty="0"/>
          </a:p>
        </p:txBody>
      </p:sp>
      <p:sp>
        <p:nvSpPr>
          <p:cNvPr id="9" name="직사각형 8"/>
          <p:cNvSpPr/>
          <p:nvPr/>
        </p:nvSpPr>
        <p:spPr>
          <a:xfrm>
            <a:off x="490586" y="1452056"/>
            <a:ext cx="2326754" cy="453685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메인 로비 </a:t>
            </a:r>
            <a:endParaRPr lang="ko-KR" altLang="en-US" dirty="0"/>
          </a:p>
        </p:txBody>
      </p:sp>
      <p:sp>
        <p:nvSpPr>
          <p:cNvPr id="11" name="사각형: 둥근 모서리 10"/>
          <p:cNvSpPr/>
          <p:nvPr/>
        </p:nvSpPr>
        <p:spPr>
          <a:xfrm>
            <a:off x="588451" y="5255741"/>
            <a:ext cx="1050083" cy="58299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err="1" smtClean="0"/>
              <a:t>게임</a:t>
            </a:r>
            <a:r>
              <a:rPr lang="ko-KR" altLang="en-US" sz="1600" dirty="0" err="1"/>
              <a:t>방</a:t>
            </a:r>
            <a:r>
              <a:rPr lang="ko-KR" altLang="en-US" sz="1600" dirty="0" smtClean="0"/>
              <a:t> 입장</a:t>
            </a:r>
            <a:endParaRPr lang="ko-KR" altLang="en-US" sz="1600" dirty="0"/>
          </a:p>
        </p:txBody>
      </p:sp>
      <p:sp>
        <p:nvSpPr>
          <p:cNvPr id="10" name="사각형: 둥근 모서리 10"/>
          <p:cNvSpPr/>
          <p:nvPr/>
        </p:nvSpPr>
        <p:spPr>
          <a:xfrm>
            <a:off x="2180261" y="1706001"/>
            <a:ext cx="622655" cy="58299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내</a:t>
            </a:r>
            <a:endParaRPr lang="en-US" altLang="ko-KR" sz="1400" dirty="0" smtClean="0"/>
          </a:p>
          <a:p>
            <a:pPr algn="ctr"/>
            <a:r>
              <a:rPr lang="ko-KR" altLang="en-US" sz="1400" dirty="0" smtClean="0"/>
              <a:t>정보</a:t>
            </a:r>
            <a:endParaRPr lang="ko-KR" altLang="en-US" sz="1400" dirty="0"/>
          </a:p>
        </p:txBody>
      </p:sp>
      <p:sp>
        <p:nvSpPr>
          <p:cNvPr id="12" name="사각형: 둥근 모서리 10"/>
          <p:cNvSpPr/>
          <p:nvPr/>
        </p:nvSpPr>
        <p:spPr>
          <a:xfrm>
            <a:off x="2095467" y="5255741"/>
            <a:ext cx="622655" cy="582996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/>
              <a:t>상점</a:t>
            </a:r>
            <a:endParaRPr lang="ko-KR" altLang="en-US" sz="1600" dirty="0"/>
          </a:p>
        </p:txBody>
      </p:sp>
      <p:pic>
        <p:nvPicPr>
          <p:cNvPr id="3075" name="Picture 3" descr="C:\Users\goldenboy\Desktop\배이미지.jp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1489" y="1589902"/>
            <a:ext cx="1553978" cy="3591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032698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99" y="29392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90343" y="2479061"/>
            <a:ext cx="56059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임의의 정해진 게임 </a:t>
            </a:r>
            <a:r>
              <a:rPr lang="ko-KR" altLang="en-US" dirty="0"/>
              <a:t>제한시간 방을 선택 후 게임 </a:t>
            </a:r>
            <a:r>
              <a:rPr lang="ko-KR" altLang="en-US" dirty="0" smtClean="0"/>
              <a:t>신청을 해놓는다</a:t>
            </a:r>
            <a:endParaRPr lang="en-US" altLang="ko-KR" dirty="0"/>
          </a:p>
        </p:txBody>
      </p:sp>
      <p:sp>
        <p:nvSpPr>
          <p:cNvPr id="10" name="직사각형 9"/>
          <p:cNvSpPr/>
          <p:nvPr/>
        </p:nvSpPr>
        <p:spPr>
          <a:xfrm>
            <a:off x="817460" y="2175922"/>
            <a:ext cx="1642145" cy="8388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r>
              <a:rPr lang="ko-KR" altLang="en-US" dirty="0"/>
              <a:t>시간 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817460" y="3269480"/>
            <a:ext cx="1642145" cy="83889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12</a:t>
            </a:r>
            <a:r>
              <a:rPr lang="ko-KR" altLang="en-US" dirty="0"/>
              <a:t>시간 </a:t>
            </a:r>
          </a:p>
        </p:txBody>
      </p:sp>
      <p:sp>
        <p:nvSpPr>
          <p:cNvPr id="2" name="사각형: 둥근 모서리 1"/>
          <p:cNvSpPr/>
          <p:nvPr/>
        </p:nvSpPr>
        <p:spPr>
          <a:xfrm>
            <a:off x="817460" y="5179315"/>
            <a:ext cx="1287618" cy="53710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>
                <a:solidFill>
                  <a:srgbClr val="FFC000"/>
                </a:solidFill>
              </a:rPr>
              <a:t>입장신</a:t>
            </a:r>
            <a:r>
              <a:rPr lang="ko-KR" altLang="en-US" dirty="0">
                <a:solidFill>
                  <a:srgbClr val="FFC000"/>
                </a:solidFill>
              </a:rPr>
              <a:t>청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20566" y="5179314"/>
            <a:ext cx="629725" cy="761528"/>
          </a:xfrm>
          <a:prstGeom prst="rect">
            <a:avLst/>
          </a:prstGeom>
        </p:spPr>
      </p:pic>
      <p:sp>
        <p:nvSpPr>
          <p:cNvPr id="3" name="포인트가 6개인 별 2"/>
          <p:cNvSpPr/>
          <p:nvPr/>
        </p:nvSpPr>
        <p:spPr>
          <a:xfrm>
            <a:off x="1971379" y="4670808"/>
            <a:ext cx="950064" cy="840075"/>
          </a:xfrm>
          <a:prstGeom prst="star6">
            <a:avLst/>
          </a:prstGeom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클릭</a:t>
            </a:r>
            <a:r>
              <a:rPr lang="en-US" altLang="ko-KR" dirty="0" smtClean="0"/>
              <a:t>!!!</a:t>
            </a: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323968" y="420131"/>
            <a:ext cx="54616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smtClean="0"/>
              <a:t>게임 입장 메뉴</a:t>
            </a:r>
            <a:endParaRPr lang="ko-KR" altLang="en-US" sz="3600" dirty="0"/>
          </a:p>
        </p:txBody>
      </p:sp>
    </p:spTree>
    <p:extLst>
      <p:ext uri="{BB962C8B-B14F-4D97-AF65-F5344CB8AC3E}">
        <p14:creationId xmlns:p14="http://schemas.microsoft.com/office/powerpoint/2010/main" val="11565022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99" y="29392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40916" y="427839"/>
            <a:ext cx="5605943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대기 화면으로 넘어가게 되며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입장 가능한 배를 찾는 신청을 해놓은 상태가 되며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로비로 돌아간 이후 </a:t>
            </a:r>
            <a:r>
              <a:rPr lang="ko-KR" altLang="en-US" dirty="0" err="1" smtClean="0"/>
              <a:t>앱을</a:t>
            </a:r>
            <a:r>
              <a:rPr lang="ko-KR" altLang="en-US" dirty="0" smtClean="0"/>
              <a:t> 종료해도 </a:t>
            </a:r>
            <a:r>
              <a:rPr lang="ko-KR" altLang="en-US" dirty="0" smtClean="0"/>
              <a:t>상관없다</a:t>
            </a:r>
            <a:r>
              <a:rPr lang="en-US" altLang="ko-KR" dirty="0" smtClean="0"/>
              <a:t>.</a:t>
            </a:r>
          </a:p>
          <a:p>
            <a:r>
              <a:rPr lang="en-US" altLang="ko-KR" dirty="0" smtClean="0"/>
              <a:t>( </a:t>
            </a:r>
            <a:r>
              <a:rPr lang="ko-KR" altLang="en-US" dirty="0" smtClean="0"/>
              <a:t>예약이 된 상태임 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smtClean="0"/>
              <a:t>On Line </a:t>
            </a:r>
            <a:r>
              <a:rPr lang="ko-KR" altLang="en-US" dirty="0" smtClean="0"/>
              <a:t>유저는 </a:t>
            </a:r>
            <a:r>
              <a:rPr lang="ko-KR" altLang="en-US" dirty="0" err="1" smtClean="0"/>
              <a:t>매칭</a:t>
            </a:r>
            <a:r>
              <a:rPr lang="ko-KR" altLang="en-US" dirty="0" smtClean="0"/>
              <a:t> 인원이 다 채워지게 되면 </a:t>
            </a:r>
            <a:endParaRPr lang="en-US" altLang="ko-KR" dirty="0" smtClean="0"/>
          </a:p>
          <a:p>
            <a:r>
              <a:rPr lang="ko-KR" altLang="en-US" dirty="0" smtClean="0"/>
              <a:t>즉시 게임화면으로 </a:t>
            </a:r>
            <a:r>
              <a:rPr lang="ko-KR" altLang="en-US" dirty="0" smtClean="0"/>
              <a:t>입장하게 </a:t>
            </a:r>
            <a:r>
              <a:rPr lang="ko-KR" altLang="en-US" dirty="0" smtClean="0"/>
              <a:t>된다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en-US" altLang="ko-KR" dirty="0" smtClean="0"/>
              <a:t>Back </a:t>
            </a:r>
            <a:r>
              <a:rPr lang="ko-KR" altLang="en-US" dirty="0" smtClean="0"/>
              <a:t>버튼 누를 시 로비로 이동 </a:t>
            </a:r>
            <a:endParaRPr lang="en-US" altLang="ko-KR" dirty="0"/>
          </a:p>
        </p:txBody>
      </p:sp>
      <p:sp>
        <p:nvSpPr>
          <p:cNvPr id="10" name="직사각형 9"/>
          <p:cNvSpPr/>
          <p:nvPr/>
        </p:nvSpPr>
        <p:spPr>
          <a:xfrm>
            <a:off x="612038" y="1844824"/>
            <a:ext cx="2111091" cy="1045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입장 가능한 방을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찾고 있습니다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사각형: 둥근 모서리 1"/>
          <p:cNvSpPr/>
          <p:nvPr/>
        </p:nvSpPr>
        <p:spPr>
          <a:xfrm>
            <a:off x="936064" y="4221088"/>
            <a:ext cx="1379683" cy="5764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입장취소</a:t>
            </a:r>
            <a:endParaRPr lang="ko-KR" altLang="en-US" dirty="0"/>
          </a:p>
        </p:txBody>
      </p:sp>
      <p:sp>
        <p:nvSpPr>
          <p:cNvPr id="8" name="사각형: 둥근 모서리 1"/>
          <p:cNvSpPr/>
          <p:nvPr/>
        </p:nvSpPr>
        <p:spPr>
          <a:xfrm>
            <a:off x="948690" y="5013176"/>
            <a:ext cx="1379683" cy="576464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dirty="0" smtClean="0"/>
              <a:t>로비로 가기</a:t>
            </a:r>
            <a:endParaRPr lang="ko-KR" altLang="en-US" sz="1600" dirty="0"/>
          </a:p>
        </p:txBody>
      </p:sp>
    </p:spTree>
    <p:extLst>
      <p:ext uri="{BB962C8B-B14F-4D97-AF65-F5344CB8AC3E}">
        <p14:creationId xmlns:p14="http://schemas.microsoft.com/office/powerpoint/2010/main" val="3647632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99" y="29392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340916" y="427839"/>
            <a:ext cx="5605943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 smtClean="0"/>
          </a:p>
          <a:p>
            <a:r>
              <a:rPr lang="ko-KR" altLang="en-US" dirty="0" smtClean="0"/>
              <a:t>방 </a:t>
            </a:r>
            <a:r>
              <a:rPr lang="ko-KR" altLang="en-US" dirty="0" err="1" smtClean="0"/>
              <a:t>매칭을</a:t>
            </a:r>
            <a:r>
              <a:rPr lang="ko-KR" altLang="en-US" dirty="0" smtClean="0"/>
              <a:t> 예약을 진행한 후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앱을</a:t>
            </a:r>
            <a:r>
              <a:rPr lang="ko-KR" altLang="en-US" dirty="0" smtClean="0"/>
              <a:t> 종료시킨 유저는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푸쉬메세지로</a:t>
            </a:r>
            <a:r>
              <a:rPr lang="ko-KR" altLang="en-US" dirty="0" smtClean="0"/>
              <a:t> 게임이 시작되었다는 알림을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받게됩니다</a:t>
            </a:r>
            <a:r>
              <a:rPr lang="en-US" altLang="ko-KR" dirty="0" smtClean="0"/>
              <a:t>. 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r>
              <a:rPr lang="ko-KR" altLang="en-US" dirty="0" smtClean="0"/>
              <a:t>게임이 시작된 이후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접속하지 않은 유저에게 </a:t>
            </a:r>
            <a:r>
              <a:rPr lang="ko-KR" altLang="en-US" dirty="0" err="1" smtClean="0"/>
              <a:t>푸쉬메세지를</a:t>
            </a:r>
            <a:r>
              <a:rPr lang="ko-KR" altLang="en-US" dirty="0" smtClean="0"/>
              <a:t> 보낸 이후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유저가 접속하지 않으면 </a:t>
            </a:r>
            <a:r>
              <a:rPr lang="en-US" altLang="ko-KR" dirty="0" smtClean="0"/>
              <a:t>10</a:t>
            </a:r>
            <a:r>
              <a:rPr lang="ko-KR" altLang="en-US" dirty="0" smtClean="0"/>
              <a:t>분마다 혹은 </a:t>
            </a:r>
            <a:r>
              <a:rPr lang="ko-KR" altLang="en-US" dirty="0"/>
              <a:t>시작 이후 총 게임시간의 </a:t>
            </a:r>
            <a:r>
              <a:rPr lang="en-US" altLang="ko-KR" dirty="0"/>
              <a:t>1/10</a:t>
            </a:r>
            <a:r>
              <a:rPr lang="ko-KR" altLang="en-US" dirty="0"/>
              <a:t>의 시간이 초과되었음에도 </a:t>
            </a:r>
            <a:endParaRPr lang="en-US" altLang="ko-KR" dirty="0"/>
          </a:p>
          <a:p>
            <a:r>
              <a:rPr lang="ko-KR" altLang="en-US" dirty="0"/>
              <a:t>입장하지 않는 플레이어에게는 재차 </a:t>
            </a:r>
            <a:r>
              <a:rPr lang="ko-KR" altLang="en-US" dirty="0" err="1"/>
              <a:t>푸쉬메세지를</a:t>
            </a:r>
            <a:r>
              <a:rPr lang="ko-KR" altLang="en-US" dirty="0"/>
              <a:t> </a:t>
            </a:r>
            <a:endParaRPr lang="en-US" altLang="ko-KR" dirty="0"/>
          </a:p>
          <a:p>
            <a:r>
              <a:rPr lang="en-US" altLang="ko-KR" dirty="0"/>
              <a:t>1/10</a:t>
            </a:r>
            <a:r>
              <a:rPr lang="ko-KR" altLang="en-US" dirty="0"/>
              <a:t>의 시간마다 보내도록 한다</a:t>
            </a:r>
            <a:r>
              <a:rPr lang="en-US" altLang="ko-KR" dirty="0"/>
              <a:t>. </a:t>
            </a:r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</p:txBody>
      </p:sp>
      <p:pic>
        <p:nvPicPr>
          <p:cNvPr id="11" name="그림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639" y="905968"/>
            <a:ext cx="2399788" cy="2142033"/>
          </a:xfrm>
          <a:prstGeom prst="rect">
            <a:avLst/>
          </a:prstGeom>
        </p:spPr>
      </p:pic>
      <p:sp>
        <p:nvSpPr>
          <p:cNvPr id="13" name="직사각형 12"/>
          <p:cNvSpPr/>
          <p:nvPr/>
        </p:nvSpPr>
        <p:spPr>
          <a:xfrm>
            <a:off x="948692" y="2630286"/>
            <a:ext cx="1602893" cy="2843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smtClean="0"/>
              <a:t>게임이 시작되었습니다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20522091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1" name="Picture 3" descr="C:\Users\goldenboy\Desktop\대출저장소.pn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1849" y="436605"/>
            <a:ext cx="4961238" cy="53505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5362832" y="436605"/>
            <a:ext cx="3737919" cy="54476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입장하자마자 </a:t>
            </a:r>
            <a:r>
              <a:rPr lang="en-US" altLang="ko-KR" sz="1200" dirty="0" smtClean="0"/>
              <a:t>“</a:t>
            </a:r>
            <a:r>
              <a:rPr lang="ko-KR" altLang="en-US" sz="1200" dirty="0" smtClean="0"/>
              <a:t>거래소</a:t>
            </a:r>
            <a:r>
              <a:rPr lang="en-US" altLang="ko-KR" sz="1200" dirty="0" smtClean="0"/>
              <a:t>”</a:t>
            </a:r>
            <a:r>
              <a:rPr lang="ko-KR" altLang="en-US" sz="1200" dirty="0" smtClean="0"/>
              <a:t>로 </a:t>
            </a:r>
            <a:r>
              <a:rPr lang="ko-KR" altLang="en-US" sz="1200" dirty="0" err="1" smtClean="0"/>
              <a:t>들어가게된다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거래소에서 입장금액 </a:t>
            </a:r>
            <a:r>
              <a:rPr lang="en-US" altLang="ko-KR" sz="1200" dirty="0" smtClean="0"/>
              <a:t>300</a:t>
            </a:r>
            <a:r>
              <a:rPr lang="ko-KR" altLang="en-US" sz="1200" dirty="0" smtClean="0"/>
              <a:t>만원을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별 </a:t>
            </a:r>
            <a:r>
              <a:rPr lang="en-US" altLang="ko-KR" sz="1200" dirty="0" smtClean="0"/>
              <a:t>3</a:t>
            </a:r>
            <a:r>
              <a:rPr lang="ko-KR" altLang="en-US" sz="1200" dirty="0" smtClean="0"/>
              <a:t>개로 교환해주면서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게임에 필요한 돈을 </a:t>
            </a:r>
            <a:r>
              <a:rPr lang="ko-KR" altLang="en-US" sz="1200" dirty="0" err="1" smtClean="0"/>
              <a:t>빌릴것</a:t>
            </a:r>
            <a:r>
              <a:rPr lang="ko-KR" altLang="en-US" sz="1200" dirty="0" smtClean="0"/>
              <a:t> 인지에 대한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선택지를 접하게 된다</a:t>
            </a:r>
            <a:r>
              <a:rPr lang="en-US" altLang="ko-KR" sz="1200" dirty="0" smtClean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 smtClean="0"/>
              <a:t>처음에 들어오는 플레이어는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en-US" altLang="ko-KR" sz="1200" dirty="0" smtClean="0"/>
              <a:t>“</a:t>
            </a:r>
            <a:r>
              <a:rPr lang="ko-KR" altLang="en-US" sz="1200" dirty="0" smtClean="0"/>
              <a:t>이게 뭐 하는 게임이야</a:t>
            </a:r>
            <a:r>
              <a:rPr lang="en-US" altLang="ko-KR" sz="1200" dirty="0" smtClean="0"/>
              <a:t>”?</a:t>
            </a:r>
          </a:p>
          <a:p>
            <a:endParaRPr lang="en-US" altLang="ko-KR" sz="1200" dirty="0"/>
          </a:p>
          <a:p>
            <a:r>
              <a:rPr lang="ko-KR" altLang="en-US" sz="1200" dirty="0" smtClean="0"/>
              <a:t>라는 생각이 들 수 있지만 </a:t>
            </a:r>
            <a:endParaRPr lang="en-US" altLang="ko-KR" sz="1200" dirty="0"/>
          </a:p>
          <a:p>
            <a:endParaRPr lang="en-US" altLang="ko-KR" sz="1200" dirty="0" smtClean="0"/>
          </a:p>
          <a:p>
            <a:r>
              <a:rPr lang="en-US" altLang="ko-KR" sz="1200" dirty="0" smtClean="0"/>
              <a:t>(</a:t>
            </a:r>
            <a:r>
              <a:rPr lang="ko-KR" altLang="en-US" sz="1200" dirty="0" err="1" smtClean="0"/>
              <a:t>튜토리얼이</a:t>
            </a:r>
            <a:r>
              <a:rPr lang="ko-KR" altLang="en-US" sz="1200" dirty="0" smtClean="0"/>
              <a:t> 들어간다면 게임설명을 넣을 예정</a:t>
            </a:r>
            <a:r>
              <a:rPr lang="en-US" altLang="ko-KR" sz="1200" dirty="0" smtClean="0"/>
              <a:t>)</a:t>
            </a:r>
          </a:p>
          <a:p>
            <a:endParaRPr lang="en-US" altLang="ko-KR" sz="1200" dirty="0"/>
          </a:p>
          <a:p>
            <a:r>
              <a:rPr lang="ko-KR" altLang="en-US" sz="1200" dirty="0" smtClean="0"/>
              <a:t>일단 돈을 </a:t>
            </a:r>
            <a:r>
              <a:rPr lang="ko-KR" altLang="en-US" sz="1200" dirty="0" err="1" smtClean="0"/>
              <a:t>빌릴수</a:t>
            </a:r>
            <a:r>
              <a:rPr lang="ko-KR" altLang="en-US" sz="1200" dirty="0" smtClean="0"/>
              <a:t> 있다는 거래소가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존재한다는 내용을 유저에게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각인 시키기 위함의 </a:t>
            </a:r>
            <a:r>
              <a:rPr lang="ko-KR" altLang="en-US" sz="1200" dirty="0" err="1" smtClean="0"/>
              <a:t>플로우다</a:t>
            </a:r>
            <a:r>
              <a:rPr lang="ko-KR" altLang="en-US" sz="1200" dirty="0" smtClean="0"/>
              <a:t> </a:t>
            </a:r>
            <a:r>
              <a:rPr lang="en-US" altLang="ko-KR" sz="1200" dirty="0" smtClean="0"/>
              <a:t>.</a:t>
            </a:r>
          </a:p>
          <a:p>
            <a:endParaRPr lang="en-US" altLang="ko-KR" sz="1200" dirty="0"/>
          </a:p>
          <a:p>
            <a:r>
              <a:rPr lang="ko-KR" altLang="en-US" sz="1200" dirty="0" smtClean="0"/>
              <a:t>돈 빌려주는 거래소 이미지는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퇴폐업소의 </a:t>
            </a:r>
            <a:r>
              <a:rPr lang="ko-KR" altLang="en-US" sz="1200" dirty="0" err="1" smtClean="0"/>
              <a:t>이쁜이미지가</a:t>
            </a:r>
            <a:r>
              <a:rPr lang="ko-KR" altLang="en-US" sz="1200" dirty="0" smtClean="0"/>
              <a:t> 필요</a:t>
            </a:r>
            <a:r>
              <a:rPr lang="en-US" altLang="ko-KR" sz="1200" dirty="0" smtClean="0"/>
              <a:t>. </a:t>
            </a:r>
            <a:r>
              <a:rPr lang="ko-KR" altLang="en-US" sz="1200" dirty="0" err="1" smtClean="0"/>
              <a:t>ㅋㅋ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대출하는 곳의 이미지는 좀 퇴폐적이어야 각인됨</a:t>
            </a:r>
            <a:endParaRPr lang="ko-KR" altLang="en-US" sz="1200" dirty="0"/>
          </a:p>
        </p:txBody>
      </p:sp>
      <p:sp>
        <p:nvSpPr>
          <p:cNvPr id="3" name="TextBox 2"/>
          <p:cNvSpPr txBox="1"/>
          <p:nvPr/>
        </p:nvSpPr>
        <p:spPr>
          <a:xfrm>
            <a:off x="1828801" y="3904735"/>
            <a:ext cx="5498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100</a:t>
            </a:r>
            <a:r>
              <a:rPr lang="ko-KR" altLang="en-US" dirty="0" smtClean="0"/>
              <a:t>만원</a:t>
            </a:r>
            <a:endParaRPr lang="en-US" altLang="ko-KR" dirty="0" smtClean="0"/>
          </a:p>
          <a:p>
            <a:r>
              <a:rPr lang="ko-KR" altLang="en-US" dirty="0" smtClean="0"/>
              <a:t>대</a:t>
            </a:r>
            <a:r>
              <a:rPr lang="ko-KR" altLang="en-US" dirty="0"/>
              <a:t>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5397" y="3974757"/>
            <a:ext cx="5498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200</a:t>
            </a:r>
            <a:r>
              <a:rPr lang="ko-KR" altLang="en-US" dirty="0" smtClean="0"/>
              <a:t>만원</a:t>
            </a:r>
            <a:endParaRPr lang="en-US" altLang="ko-KR" dirty="0" smtClean="0"/>
          </a:p>
          <a:p>
            <a:r>
              <a:rPr lang="ko-KR" altLang="en-US" dirty="0" smtClean="0"/>
              <a:t>대</a:t>
            </a:r>
            <a:r>
              <a:rPr lang="ko-KR" altLang="en-US" dirty="0"/>
              <a:t>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0210" y="3974757"/>
            <a:ext cx="54987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5</a:t>
            </a:r>
            <a:r>
              <a:rPr lang="en-US" altLang="ko-KR" dirty="0" smtClean="0"/>
              <a:t>00</a:t>
            </a:r>
            <a:r>
              <a:rPr lang="ko-KR" altLang="en-US" dirty="0" smtClean="0"/>
              <a:t>만원</a:t>
            </a:r>
            <a:endParaRPr lang="en-US" altLang="ko-KR" dirty="0" smtClean="0"/>
          </a:p>
          <a:p>
            <a:r>
              <a:rPr lang="ko-KR" altLang="en-US" dirty="0" smtClean="0"/>
              <a:t>대</a:t>
            </a:r>
            <a:r>
              <a:rPr lang="ko-KR" altLang="en-US" dirty="0"/>
              <a:t>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65022" y="3974757"/>
            <a:ext cx="54987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1000</a:t>
            </a:r>
            <a:r>
              <a:rPr lang="ko-KR" altLang="en-US" dirty="0" smtClean="0"/>
              <a:t>만원</a:t>
            </a:r>
            <a:endParaRPr lang="en-US" altLang="ko-KR" dirty="0" smtClean="0"/>
          </a:p>
          <a:p>
            <a:r>
              <a:rPr lang="ko-KR" altLang="en-US" dirty="0" smtClean="0"/>
              <a:t>대</a:t>
            </a:r>
            <a:r>
              <a:rPr lang="ko-KR" altLang="en-US" dirty="0"/>
              <a:t>출</a:t>
            </a:r>
          </a:p>
        </p:txBody>
      </p:sp>
      <p:sp>
        <p:nvSpPr>
          <p:cNvPr id="5" name="직사각형 4"/>
          <p:cNvSpPr/>
          <p:nvPr/>
        </p:nvSpPr>
        <p:spPr>
          <a:xfrm>
            <a:off x="1767017" y="5074508"/>
            <a:ext cx="710513" cy="2965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금리 </a:t>
            </a:r>
            <a:r>
              <a:rPr lang="en-US" altLang="ko-KR" sz="1100" dirty="0" smtClean="0"/>
              <a:t>10%</a:t>
            </a:r>
            <a:endParaRPr lang="ko-KR" altLang="en-US" sz="1100" dirty="0"/>
          </a:p>
        </p:txBody>
      </p:sp>
      <p:sp>
        <p:nvSpPr>
          <p:cNvPr id="11" name="직사각형 10"/>
          <p:cNvSpPr/>
          <p:nvPr/>
        </p:nvSpPr>
        <p:spPr>
          <a:xfrm>
            <a:off x="2579473" y="5070389"/>
            <a:ext cx="710513" cy="2965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금리 </a:t>
            </a:r>
            <a:r>
              <a:rPr lang="en-US" altLang="ko-KR" sz="1100" dirty="0" smtClean="0"/>
              <a:t>8%</a:t>
            </a:r>
            <a:endParaRPr lang="ko-KR" altLang="en-US" sz="1100" dirty="0"/>
          </a:p>
        </p:txBody>
      </p:sp>
      <p:sp>
        <p:nvSpPr>
          <p:cNvPr id="12" name="직사각형 11"/>
          <p:cNvSpPr/>
          <p:nvPr/>
        </p:nvSpPr>
        <p:spPr>
          <a:xfrm>
            <a:off x="3391928" y="5066270"/>
            <a:ext cx="710513" cy="2965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금리 </a:t>
            </a:r>
            <a:r>
              <a:rPr lang="en-US" altLang="ko-KR" sz="1100" dirty="0" smtClean="0"/>
              <a:t>5%</a:t>
            </a:r>
            <a:endParaRPr lang="ko-KR" altLang="en-US" sz="1100" dirty="0"/>
          </a:p>
        </p:txBody>
      </p:sp>
      <p:sp>
        <p:nvSpPr>
          <p:cNvPr id="13" name="직사각형 12"/>
          <p:cNvSpPr/>
          <p:nvPr/>
        </p:nvSpPr>
        <p:spPr>
          <a:xfrm>
            <a:off x="4284702" y="5062151"/>
            <a:ext cx="710513" cy="296562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/>
              <a:t>금리 </a:t>
            </a:r>
            <a:r>
              <a:rPr lang="en-US" altLang="ko-KR" sz="1100" dirty="0" smtClean="0"/>
              <a:t>3%</a:t>
            </a:r>
            <a:endParaRPr lang="ko-KR" altLang="en-US" sz="1100" dirty="0"/>
          </a:p>
        </p:txBody>
      </p:sp>
    </p:spTree>
    <p:extLst>
      <p:ext uri="{BB962C8B-B14F-4D97-AF65-F5344CB8AC3E}">
        <p14:creationId xmlns:p14="http://schemas.microsoft.com/office/powerpoint/2010/main" val="375483045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그룹 3"/>
          <p:cNvGrpSpPr/>
          <p:nvPr/>
        </p:nvGrpSpPr>
        <p:grpSpPr>
          <a:xfrm>
            <a:off x="376882" y="368365"/>
            <a:ext cx="3367216" cy="4221966"/>
            <a:chOff x="362465" y="436605"/>
            <a:chExt cx="6614984" cy="5350550"/>
          </a:xfrm>
        </p:grpSpPr>
        <p:pic>
          <p:nvPicPr>
            <p:cNvPr id="2051" name="Picture 3" descr="C:\Users\goldenboy\Desktop\대출저장소.png"/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2465" y="436605"/>
              <a:ext cx="6614984" cy="5350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/>
            <p:cNvSpPr txBox="1"/>
            <p:nvPr/>
          </p:nvSpPr>
          <p:spPr>
            <a:xfrm>
              <a:off x="2438399" y="3904735"/>
              <a:ext cx="733167" cy="13456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 dirty="0" smtClean="0"/>
                <a:t>100</a:t>
              </a:r>
              <a:r>
                <a:rPr lang="ko-KR" altLang="en-US" sz="1050" dirty="0" smtClean="0"/>
                <a:t>만원</a:t>
              </a:r>
              <a:endParaRPr lang="en-US" altLang="ko-KR" sz="1050" dirty="0" smtClean="0"/>
            </a:p>
            <a:p>
              <a:r>
                <a:rPr lang="ko-KR" altLang="en-US" sz="1050" dirty="0" smtClean="0"/>
                <a:t>대</a:t>
              </a:r>
              <a:r>
                <a:rPr lang="ko-KR" altLang="en-US" sz="1050" dirty="0"/>
                <a:t>출</a:t>
              </a:r>
            </a:p>
          </p:txBody>
        </p:sp>
        <p:sp>
          <p:nvSpPr>
            <p:cNvPr id="7" name="TextBox 6"/>
            <p:cNvSpPr txBox="1"/>
            <p:nvPr/>
          </p:nvSpPr>
          <p:spPr>
            <a:xfrm>
              <a:off x="3620528" y="3974758"/>
              <a:ext cx="733167" cy="134566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50" dirty="0" smtClean="0"/>
                <a:t>200</a:t>
              </a:r>
              <a:r>
                <a:rPr lang="ko-KR" altLang="en-US" sz="1050" dirty="0" smtClean="0"/>
                <a:t>만원</a:t>
              </a:r>
              <a:endParaRPr lang="en-US" altLang="ko-KR" sz="1050" dirty="0" smtClean="0"/>
            </a:p>
            <a:p>
              <a:r>
                <a:rPr lang="ko-KR" altLang="en-US" sz="1050" dirty="0" smtClean="0"/>
                <a:t>대</a:t>
              </a:r>
              <a:r>
                <a:rPr lang="ko-KR" altLang="en-US" sz="1050" dirty="0"/>
                <a:t>출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4720279" y="3974758"/>
              <a:ext cx="733167" cy="14041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dirty="0"/>
                <a:t>5</a:t>
              </a:r>
              <a:r>
                <a:rPr lang="en-US" altLang="ko-KR" sz="1100" dirty="0" smtClean="0"/>
                <a:t>00</a:t>
              </a:r>
              <a:r>
                <a:rPr lang="ko-KR" altLang="en-US" sz="1100" dirty="0" smtClean="0"/>
                <a:t>만원</a:t>
              </a:r>
              <a:endParaRPr lang="en-US" altLang="ko-KR" sz="1100" dirty="0" smtClean="0"/>
            </a:p>
            <a:p>
              <a:r>
                <a:rPr lang="ko-KR" altLang="en-US" sz="1100" dirty="0" smtClean="0"/>
                <a:t>대</a:t>
              </a:r>
              <a:r>
                <a:rPr lang="ko-KR" altLang="en-US" sz="1100" dirty="0"/>
                <a:t>출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5820031" y="3974758"/>
              <a:ext cx="733167" cy="14041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100" dirty="0" smtClean="0"/>
                <a:t>1000</a:t>
              </a:r>
              <a:r>
                <a:rPr lang="ko-KR" altLang="en-US" sz="1100" dirty="0" smtClean="0"/>
                <a:t>만원</a:t>
              </a:r>
              <a:endParaRPr lang="en-US" altLang="ko-KR" sz="1100" dirty="0" smtClean="0"/>
            </a:p>
            <a:p>
              <a:r>
                <a:rPr lang="ko-KR" altLang="en-US" sz="1100" dirty="0" smtClean="0"/>
                <a:t>대</a:t>
              </a:r>
              <a:r>
                <a:rPr lang="ko-KR" altLang="en-US" sz="1100" dirty="0"/>
                <a:t>출</a:t>
              </a:r>
            </a:p>
          </p:txBody>
        </p:sp>
        <p:sp>
          <p:nvSpPr>
            <p:cNvPr id="5" name="직사각형 4"/>
            <p:cNvSpPr/>
            <p:nvPr/>
          </p:nvSpPr>
          <p:spPr>
            <a:xfrm>
              <a:off x="2356022" y="5074508"/>
              <a:ext cx="947351" cy="29656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 smtClean="0"/>
                <a:t>금리 </a:t>
              </a:r>
              <a:r>
                <a:rPr lang="en-US" altLang="ko-KR" sz="1100" dirty="0" smtClean="0"/>
                <a:t>10%</a:t>
              </a:r>
              <a:endParaRPr lang="ko-KR" altLang="en-US" sz="1100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3439296" y="5070389"/>
              <a:ext cx="947351" cy="29656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 smtClean="0"/>
                <a:t>금리 </a:t>
              </a:r>
              <a:r>
                <a:rPr lang="en-US" altLang="ko-KR" sz="1100" dirty="0" smtClean="0"/>
                <a:t>8%</a:t>
              </a:r>
              <a:endParaRPr lang="ko-KR" altLang="en-US" sz="1100" dirty="0"/>
            </a:p>
          </p:txBody>
        </p:sp>
        <p:sp>
          <p:nvSpPr>
            <p:cNvPr id="12" name="직사각형 11"/>
            <p:cNvSpPr/>
            <p:nvPr/>
          </p:nvSpPr>
          <p:spPr>
            <a:xfrm>
              <a:off x="4522570" y="5066270"/>
              <a:ext cx="947351" cy="29656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 smtClean="0"/>
                <a:t>금리 </a:t>
              </a:r>
              <a:r>
                <a:rPr lang="en-US" altLang="ko-KR" sz="1100" dirty="0" smtClean="0"/>
                <a:t>5%</a:t>
              </a:r>
              <a:endParaRPr lang="ko-KR" altLang="en-US" sz="1100" dirty="0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5712935" y="5062151"/>
              <a:ext cx="947351" cy="296562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100" dirty="0" smtClean="0"/>
                <a:t>금리 </a:t>
              </a:r>
              <a:r>
                <a:rPr lang="en-US" altLang="ko-KR" sz="1100" dirty="0" smtClean="0"/>
                <a:t>3%</a:t>
              </a:r>
              <a:endParaRPr lang="ko-KR" altLang="en-US" sz="1100" dirty="0"/>
            </a:p>
          </p:txBody>
        </p:sp>
      </p:grpSp>
      <p:sp>
        <p:nvSpPr>
          <p:cNvPr id="6" name="TextBox 5"/>
          <p:cNvSpPr txBox="1"/>
          <p:nvPr/>
        </p:nvSpPr>
        <p:spPr>
          <a:xfrm>
            <a:off x="4077730" y="486032"/>
            <a:ext cx="495506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대출은 총 게임시간의 </a:t>
            </a:r>
            <a:r>
              <a:rPr lang="en-US" altLang="ko-KR" sz="1400" dirty="0" smtClean="0"/>
              <a:t>1</a:t>
            </a:r>
            <a:r>
              <a:rPr lang="ko-KR" altLang="en-US" sz="1400" dirty="0" smtClean="0"/>
              <a:t>시간당의 </a:t>
            </a:r>
            <a:r>
              <a:rPr lang="ko-KR" altLang="en-US" sz="1400" dirty="0" err="1" smtClean="0"/>
              <a:t>할증률이</a:t>
            </a:r>
            <a:r>
              <a:rPr lang="ko-KR" altLang="en-US" sz="1400" dirty="0" smtClean="0"/>
              <a:t> 적용되며 </a:t>
            </a:r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대출 가능 금액은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계정의 현재 보유금이 게임 총 시간 플레이시간의 할증을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감당할 수 있는 금액만큼만 대출이 가능하며 </a:t>
            </a:r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 smtClean="0"/>
              <a:t>무 조건적으로 최소 금액을 대출받고 게임은 진행된다</a:t>
            </a:r>
            <a:endParaRPr lang="en-US" altLang="ko-KR" sz="1400" dirty="0" smtClean="0"/>
          </a:p>
          <a:p>
            <a:r>
              <a:rPr lang="en-US" altLang="ko-KR" sz="1400" dirty="0" smtClean="0"/>
              <a:t>(</a:t>
            </a:r>
            <a:r>
              <a:rPr lang="ko-KR" altLang="en-US" sz="1400" dirty="0" smtClean="0"/>
              <a:t>게임운영에 필수적이므로 </a:t>
            </a:r>
            <a:r>
              <a:rPr lang="en-US" altLang="ko-KR" sz="1400" dirty="0" smtClean="0"/>
              <a:t>)</a:t>
            </a:r>
            <a:endParaRPr lang="en-US" altLang="ko-KR" sz="1400" dirty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대출금 상환은 게임이 끝나는 시점에서 자동적으로 계산 된다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pPr marL="285750" indent="-285750">
              <a:buFontTx/>
              <a:buChar char="-"/>
            </a:pPr>
            <a:r>
              <a:rPr lang="ko-KR" altLang="en-US" sz="1400" dirty="0" smtClean="0"/>
              <a:t>왜 금리가 필요한가</a:t>
            </a:r>
            <a:r>
              <a:rPr lang="en-US" altLang="ko-KR" sz="1400" dirty="0" smtClean="0"/>
              <a:t>? </a:t>
            </a:r>
            <a:endParaRPr lang="en-US" altLang="ko-KR" sz="1400" dirty="0"/>
          </a:p>
          <a:p>
            <a:r>
              <a:rPr lang="ko-KR" altLang="en-US" sz="1400" dirty="0" smtClean="0"/>
              <a:t>이 게임은 하루 </a:t>
            </a:r>
            <a:r>
              <a:rPr lang="en-US" altLang="ko-KR" sz="1400" dirty="0"/>
              <a:t>N</a:t>
            </a:r>
            <a:r>
              <a:rPr lang="ko-KR" altLang="en-US" sz="1400" dirty="0" smtClean="0"/>
              <a:t>번 최소 보유금액이 </a:t>
            </a:r>
            <a:r>
              <a:rPr lang="ko-KR" altLang="en-US" sz="1400" dirty="0" err="1" smtClean="0"/>
              <a:t>안될시</a:t>
            </a:r>
            <a:r>
              <a:rPr lang="ko-KR" altLang="en-US" sz="1400" dirty="0" smtClean="0"/>
              <a:t> 충전이 가능</a:t>
            </a:r>
            <a:endParaRPr lang="en-US" altLang="ko-KR" sz="1400" dirty="0" smtClean="0"/>
          </a:p>
          <a:p>
            <a:r>
              <a:rPr lang="ko-KR" altLang="en-US" sz="1400" dirty="0" err="1" smtClean="0"/>
              <a:t>게임머니의</a:t>
            </a:r>
            <a:r>
              <a:rPr lang="ko-KR" altLang="en-US" sz="1400" dirty="0" smtClean="0"/>
              <a:t> 회수방식을 적용시켜 </a:t>
            </a:r>
            <a:r>
              <a:rPr lang="ko-KR" altLang="en-US" sz="1400" dirty="0" err="1" smtClean="0"/>
              <a:t>게임머니의</a:t>
            </a:r>
            <a:r>
              <a:rPr lang="ko-KR" altLang="en-US" sz="1400" dirty="0" smtClean="0"/>
              <a:t> 인플레이션을 방지하고자 하는 목적에 적용시킬 예정</a:t>
            </a:r>
            <a:endParaRPr lang="en-US" altLang="ko-KR" sz="1400" dirty="0" smtClean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46849573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07627" y="302313"/>
            <a:ext cx="5712903" cy="64152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789" y="302313"/>
            <a:ext cx="2647269" cy="6361900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8369" y="3764961"/>
            <a:ext cx="478580" cy="506731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22" y="2887588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9805" y="3133270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2663803" y="3640000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4075" y="604027"/>
            <a:ext cx="666038" cy="860786"/>
          </a:xfrm>
          <a:prstGeom prst="rect">
            <a:avLst/>
          </a:prstGeom>
        </p:spPr>
      </p:pic>
      <p:sp>
        <p:nvSpPr>
          <p:cNvPr id="27" name="직사각형 26"/>
          <p:cNvSpPr/>
          <p:nvPr/>
        </p:nvSpPr>
        <p:spPr>
          <a:xfrm>
            <a:off x="4690307" y="1611235"/>
            <a:ext cx="1093430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미니 </a:t>
            </a:r>
            <a:r>
              <a:rPr lang="ko-KR" altLang="en-US" dirty="0" err="1" smtClean="0"/>
              <a:t>컨텐츠</a:t>
            </a:r>
            <a:endParaRPr lang="ko-KR" altLang="en-US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367" y="3279842"/>
            <a:ext cx="666038" cy="860786"/>
          </a:xfrm>
          <a:prstGeom prst="rect">
            <a:avLst/>
          </a:prstGeom>
        </p:spPr>
      </p:pic>
      <p:sp>
        <p:nvSpPr>
          <p:cNvPr id="29" name="직사각형 28"/>
          <p:cNvSpPr/>
          <p:nvPr/>
        </p:nvSpPr>
        <p:spPr>
          <a:xfrm>
            <a:off x="5102367" y="4194006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거래소</a:t>
            </a:r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638" y="5210850"/>
            <a:ext cx="666038" cy="860786"/>
          </a:xfrm>
          <a:prstGeom prst="rect">
            <a:avLst/>
          </a:prstGeom>
        </p:spPr>
      </p:pic>
      <p:sp>
        <p:nvSpPr>
          <p:cNvPr id="31" name="직사각형 30"/>
          <p:cNvSpPr/>
          <p:nvPr/>
        </p:nvSpPr>
        <p:spPr>
          <a:xfrm>
            <a:off x="452638" y="6125014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상점</a:t>
            </a:r>
          </a:p>
        </p:txBody>
      </p:sp>
      <p:sp>
        <p:nvSpPr>
          <p:cNvPr id="32" name="이등변 삼각형 31"/>
          <p:cNvSpPr/>
          <p:nvPr/>
        </p:nvSpPr>
        <p:spPr>
          <a:xfrm>
            <a:off x="785656" y="3386635"/>
            <a:ext cx="423113" cy="318782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857" y="941970"/>
            <a:ext cx="1549320" cy="480199"/>
          </a:xfrm>
          <a:prstGeom prst="rect">
            <a:avLst/>
          </a:prstGeom>
        </p:spPr>
      </p:pic>
      <p:sp>
        <p:nvSpPr>
          <p:cNvPr id="4" name="사각형: 둥근 모서리 3"/>
          <p:cNvSpPr/>
          <p:nvPr/>
        </p:nvSpPr>
        <p:spPr>
          <a:xfrm>
            <a:off x="2617935" y="1359759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41</a:t>
            </a:r>
            <a:endParaRPr lang="ko-KR" altLang="en-US" sz="1400" dirty="0"/>
          </a:p>
        </p:txBody>
      </p:sp>
      <p:sp>
        <p:nvSpPr>
          <p:cNvPr id="33" name="사각형: 둥근 모서리 32"/>
          <p:cNvSpPr/>
          <p:nvPr/>
        </p:nvSpPr>
        <p:spPr>
          <a:xfrm>
            <a:off x="3072858" y="1359760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27</a:t>
            </a:r>
            <a:endParaRPr lang="ko-KR" altLang="en-US" sz="1400" dirty="0"/>
          </a:p>
        </p:txBody>
      </p:sp>
      <p:sp>
        <p:nvSpPr>
          <p:cNvPr id="34" name="사각형: 둥근 모서리 33"/>
          <p:cNvSpPr/>
          <p:nvPr/>
        </p:nvSpPr>
        <p:spPr>
          <a:xfrm>
            <a:off x="3535391" y="1346837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5" name="직사각형 4"/>
          <p:cNvSpPr/>
          <p:nvPr/>
        </p:nvSpPr>
        <p:spPr>
          <a:xfrm>
            <a:off x="6035035" y="582935"/>
            <a:ext cx="3001461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/>
              <a:t>일정크기의 필드가 존재 </a:t>
            </a:r>
            <a:endParaRPr lang="en-US" altLang="ko-KR" dirty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카메라 시야 크기로  </a:t>
            </a:r>
            <a:r>
              <a:rPr lang="en-US" altLang="ko-KR" dirty="0" err="1" smtClean="0"/>
              <a:t>x,y</a:t>
            </a:r>
            <a:r>
              <a:rPr lang="en-US" altLang="ko-KR" dirty="0" smtClean="0"/>
              <a:t> </a:t>
            </a:r>
            <a:r>
              <a:rPr lang="ko-KR" altLang="en-US" dirty="0" smtClean="0"/>
              <a:t>방향으로 </a:t>
            </a:r>
            <a:r>
              <a:rPr lang="en-US" altLang="ko-KR" dirty="0" smtClean="0"/>
              <a:t>3 x 3 </a:t>
            </a:r>
            <a:r>
              <a:rPr lang="ko-KR" altLang="en-US" dirty="0" err="1" smtClean="0"/>
              <a:t>바이</a:t>
            </a:r>
            <a:r>
              <a:rPr lang="ko-KR" altLang="en-US" dirty="0" smtClean="0"/>
              <a:t> 크기 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필드내 오브젝트 </a:t>
            </a:r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플레이어</a:t>
            </a:r>
            <a:r>
              <a:rPr lang="en-US" altLang="ko-KR" dirty="0"/>
              <a:t>, </a:t>
            </a:r>
            <a:r>
              <a:rPr lang="ko-KR" altLang="en-US" dirty="0"/>
              <a:t>상점 </a:t>
            </a:r>
            <a:r>
              <a:rPr lang="en-US" altLang="ko-KR" dirty="0"/>
              <a:t>, </a:t>
            </a:r>
            <a:r>
              <a:rPr lang="ko-KR" altLang="en-US" dirty="0"/>
              <a:t>거래소 </a:t>
            </a:r>
            <a:r>
              <a:rPr lang="en-US" altLang="ko-KR" dirty="0" smtClean="0"/>
              <a:t>, </a:t>
            </a:r>
            <a:r>
              <a:rPr lang="ko-KR" altLang="en-US" dirty="0" smtClean="0"/>
              <a:t>기타</a:t>
            </a:r>
            <a:r>
              <a:rPr lang="en-US" altLang="ko-KR" dirty="0" smtClean="0"/>
              <a:t>(</a:t>
            </a:r>
            <a:r>
              <a:rPr lang="ko-KR" altLang="en-US" dirty="0" err="1" smtClean="0"/>
              <a:t>미니컨텐츠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en-US" altLang="ko-KR" dirty="0"/>
          </a:p>
        </p:txBody>
      </p:sp>
      <p:sp>
        <p:nvSpPr>
          <p:cNvPr id="3" name="별: 꼭짓점 5개 2"/>
          <p:cNvSpPr/>
          <p:nvPr/>
        </p:nvSpPr>
        <p:spPr>
          <a:xfrm>
            <a:off x="4563525" y="3558477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별: 꼭짓점 5개 21"/>
          <p:cNvSpPr/>
          <p:nvPr/>
        </p:nvSpPr>
        <p:spPr>
          <a:xfrm>
            <a:off x="4751315" y="3558477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별: 꼭짓점 5개 23"/>
          <p:cNvSpPr/>
          <p:nvPr/>
        </p:nvSpPr>
        <p:spPr>
          <a:xfrm>
            <a:off x="4939106" y="3558477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별: 꼭짓점 5개 24"/>
          <p:cNvSpPr/>
          <p:nvPr/>
        </p:nvSpPr>
        <p:spPr>
          <a:xfrm>
            <a:off x="2643586" y="2906763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별: 꼭짓점 5개 34"/>
          <p:cNvSpPr/>
          <p:nvPr/>
        </p:nvSpPr>
        <p:spPr>
          <a:xfrm>
            <a:off x="2831376" y="2906763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별: 꼭짓점 5개 36"/>
          <p:cNvSpPr/>
          <p:nvPr/>
        </p:nvSpPr>
        <p:spPr>
          <a:xfrm>
            <a:off x="785657" y="2697854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098" name="Picture 2" descr="C:\Users\goldenboy\Desktop\시간이미지.png"/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8115" y="979628"/>
            <a:ext cx="794742" cy="53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6" name="순서도: 연결자 35"/>
          <p:cNvSpPr/>
          <p:nvPr/>
        </p:nvSpPr>
        <p:spPr>
          <a:xfrm>
            <a:off x="3203848" y="5447180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38" name="순서도: 연결자 37"/>
          <p:cNvSpPr/>
          <p:nvPr/>
        </p:nvSpPr>
        <p:spPr>
          <a:xfrm>
            <a:off x="2486454" y="5447180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2555776" y="5517232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결투</a:t>
            </a:r>
            <a:endParaRPr lang="ko-KR" altLang="en-US" sz="1200" dirty="0"/>
          </a:p>
        </p:txBody>
      </p:sp>
      <p:sp>
        <p:nvSpPr>
          <p:cNvPr id="40" name="TextBox 39"/>
          <p:cNvSpPr txBox="1"/>
          <p:nvPr/>
        </p:nvSpPr>
        <p:spPr>
          <a:xfrm>
            <a:off x="3260507" y="5559781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쪽</a:t>
            </a:r>
            <a:r>
              <a:rPr lang="ko-KR" altLang="en-US" sz="1200" dirty="0"/>
              <a:t>지</a:t>
            </a:r>
          </a:p>
        </p:txBody>
      </p:sp>
    </p:spTree>
    <p:extLst>
      <p:ext uri="{BB962C8B-B14F-4D97-AF65-F5344CB8AC3E}">
        <p14:creationId xmlns:p14="http://schemas.microsoft.com/office/powerpoint/2010/main" val="30463324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그림 1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560" y="811323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655558" y="1318053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5" name="직사각형 4"/>
          <p:cNvSpPr/>
          <p:nvPr/>
        </p:nvSpPr>
        <p:spPr>
          <a:xfrm>
            <a:off x="1619672" y="582935"/>
            <a:ext cx="5688632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캐릭터 </a:t>
            </a:r>
            <a:r>
              <a:rPr lang="en-US" altLang="ko-KR" dirty="0" smtClean="0"/>
              <a:t>UI </a:t>
            </a:r>
          </a:p>
          <a:p>
            <a:r>
              <a:rPr lang="en-US" altLang="ko-KR" dirty="0" smtClean="0"/>
              <a:t>-  </a:t>
            </a:r>
            <a:r>
              <a:rPr lang="ko-KR" altLang="en-US" dirty="0" smtClean="0"/>
              <a:t>표시할 항목 </a:t>
            </a:r>
            <a:r>
              <a:rPr lang="en-US" altLang="ko-KR" dirty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닉네임 </a:t>
            </a:r>
            <a:r>
              <a:rPr lang="en-US" altLang="ko-KR" dirty="0" smtClean="0"/>
              <a:t>, </a:t>
            </a:r>
            <a:r>
              <a:rPr lang="ko-KR" altLang="en-US" dirty="0" smtClean="0"/>
              <a:t>보유 </a:t>
            </a:r>
            <a:r>
              <a:rPr lang="ko-KR" altLang="en-US" dirty="0" err="1" smtClean="0"/>
              <a:t>별수량</a:t>
            </a:r>
            <a:r>
              <a:rPr lang="ko-KR" altLang="en-US" dirty="0" smtClean="0"/>
              <a:t> </a:t>
            </a:r>
            <a:r>
              <a:rPr lang="en-US" altLang="ko-KR" dirty="0" smtClean="0"/>
              <a:t> </a:t>
            </a:r>
            <a:endParaRPr lang="en-US" altLang="ko-KR" dirty="0"/>
          </a:p>
        </p:txBody>
      </p:sp>
      <p:sp>
        <p:nvSpPr>
          <p:cNvPr id="25" name="별: 꼭짓점 5개 24"/>
          <p:cNvSpPr/>
          <p:nvPr/>
        </p:nvSpPr>
        <p:spPr>
          <a:xfrm>
            <a:off x="635341" y="584816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5" name="별: 꼭짓점 5개 34"/>
          <p:cNvSpPr/>
          <p:nvPr/>
        </p:nvSpPr>
        <p:spPr>
          <a:xfrm>
            <a:off x="823131" y="584816"/>
            <a:ext cx="152688" cy="163045"/>
          </a:xfrm>
          <a:prstGeom prst="star5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6" name="그림 3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49" y="2363139"/>
            <a:ext cx="1549320" cy="480199"/>
          </a:xfrm>
          <a:prstGeom prst="rect">
            <a:avLst/>
          </a:prstGeom>
        </p:spPr>
      </p:pic>
      <p:sp>
        <p:nvSpPr>
          <p:cNvPr id="38" name="사각형: 둥근 모서리 3"/>
          <p:cNvSpPr/>
          <p:nvPr/>
        </p:nvSpPr>
        <p:spPr>
          <a:xfrm>
            <a:off x="467427" y="2780928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41</a:t>
            </a:r>
            <a:endParaRPr lang="ko-KR" altLang="en-US" sz="1400" dirty="0"/>
          </a:p>
        </p:txBody>
      </p:sp>
      <p:sp>
        <p:nvSpPr>
          <p:cNvPr id="39" name="사각형: 둥근 모서리 32"/>
          <p:cNvSpPr/>
          <p:nvPr/>
        </p:nvSpPr>
        <p:spPr>
          <a:xfrm>
            <a:off x="922350" y="2780929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27</a:t>
            </a:r>
            <a:endParaRPr lang="ko-KR" altLang="en-US" sz="1400" dirty="0"/>
          </a:p>
        </p:txBody>
      </p:sp>
      <p:sp>
        <p:nvSpPr>
          <p:cNvPr id="40" name="사각형: 둥근 모서리 33"/>
          <p:cNvSpPr/>
          <p:nvPr/>
        </p:nvSpPr>
        <p:spPr>
          <a:xfrm>
            <a:off x="1384883" y="2768006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sp>
        <p:nvSpPr>
          <p:cNvPr id="41" name="직사각형 40"/>
          <p:cNvSpPr/>
          <p:nvPr/>
        </p:nvSpPr>
        <p:spPr>
          <a:xfrm>
            <a:off x="2123728" y="2432206"/>
            <a:ext cx="568863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게임 </a:t>
            </a:r>
            <a:r>
              <a:rPr lang="en-US" altLang="ko-KR" dirty="0" smtClean="0"/>
              <a:t>UI </a:t>
            </a:r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표시할 항목 </a:t>
            </a:r>
            <a:r>
              <a:rPr lang="en-US" altLang="ko-KR" dirty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가위바위보 카드 수량 및 아이콘</a:t>
            </a:r>
            <a:endParaRPr lang="en-US" altLang="ko-KR" dirty="0" smtClean="0"/>
          </a:p>
          <a:p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남은 시간을 표시하는  전광</a:t>
            </a:r>
            <a:r>
              <a:rPr lang="ko-KR" altLang="en-US" dirty="0"/>
              <a:t>판</a:t>
            </a:r>
            <a:endParaRPr lang="en-US" altLang="ko-KR" dirty="0" smtClean="0"/>
          </a:p>
          <a:p>
            <a:endParaRPr lang="en-US" altLang="ko-KR" dirty="0"/>
          </a:p>
        </p:txBody>
      </p:sp>
      <p:pic>
        <p:nvPicPr>
          <p:cNvPr id="42" name="Picture 2" descr="C:\Users\goldenboy\Desktop\시간이미지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3451" y="3355536"/>
            <a:ext cx="794742" cy="53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3" name="순서도: 연결자 42"/>
          <p:cNvSpPr/>
          <p:nvPr/>
        </p:nvSpPr>
        <p:spPr>
          <a:xfrm>
            <a:off x="1146314" y="4944978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44" name="순서도: 연결자 43"/>
          <p:cNvSpPr/>
          <p:nvPr/>
        </p:nvSpPr>
        <p:spPr>
          <a:xfrm>
            <a:off x="428920" y="4944978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498242" y="5015030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결투</a:t>
            </a:r>
            <a:endParaRPr lang="ko-KR" altLang="en-US" sz="1200" dirty="0"/>
          </a:p>
        </p:txBody>
      </p:sp>
      <p:sp>
        <p:nvSpPr>
          <p:cNvPr id="46" name="TextBox 45"/>
          <p:cNvSpPr txBox="1"/>
          <p:nvPr/>
        </p:nvSpPr>
        <p:spPr>
          <a:xfrm>
            <a:off x="1202973" y="5057579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쪽</a:t>
            </a:r>
            <a:r>
              <a:rPr lang="ko-KR" altLang="en-US" sz="1200" dirty="0"/>
              <a:t>지</a:t>
            </a:r>
          </a:p>
        </p:txBody>
      </p:sp>
      <p:sp>
        <p:nvSpPr>
          <p:cNvPr id="47" name="직사각형 46"/>
          <p:cNvSpPr/>
          <p:nvPr/>
        </p:nvSpPr>
        <p:spPr>
          <a:xfrm>
            <a:off x="2276128" y="4457415"/>
            <a:ext cx="6616352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dirty="0" smtClean="0"/>
              <a:t>인터페이</a:t>
            </a:r>
            <a:r>
              <a:rPr lang="ko-KR" altLang="en-US" dirty="0"/>
              <a:t>스</a:t>
            </a:r>
            <a:r>
              <a:rPr lang="ko-KR" altLang="en-US" dirty="0" smtClean="0"/>
              <a:t> </a:t>
            </a:r>
            <a:r>
              <a:rPr lang="en-US" altLang="ko-KR" dirty="0" smtClean="0"/>
              <a:t>UI </a:t>
            </a:r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표시할 항목 </a:t>
            </a:r>
            <a:r>
              <a:rPr lang="en-US" altLang="ko-KR" dirty="0"/>
              <a:t> </a:t>
            </a:r>
            <a:r>
              <a:rPr lang="en-US" altLang="ko-KR" dirty="0" smtClean="0"/>
              <a:t>: </a:t>
            </a:r>
            <a:r>
              <a:rPr lang="ko-KR" altLang="en-US" dirty="0" smtClean="0"/>
              <a:t>대전관련 버튼 </a:t>
            </a:r>
            <a:r>
              <a:rPr lang="en-US" altLang="ko-KR" dirty="0" smtClean="0"/>
              <a:t>, 1:1</a:t>
            </a:r>
            <a:r>
              <a:rPr lang="ko-KR" altLang="en-US" dirty="0" smtClean="0"/>
              <a:t>대화관련 버튼 </a:t>
            </a:r>
            <a:endParaRPr lang="en-US" altLang="ko-KR" dirty="0" smtClean="0"/>
          </a:p>
          <a:p>
            <a:r>
              <a:rPr lang="en-US" altLang="ko-KR" dirty="0" smtClean="0"/>
              <a:t>(</a:t>
            </a:r>
            <a:r>
              <a:rPr lang="ko-KR" altLang="en-US" dirty="0" smtClean="0"/>
              <a:t>쪽지 기능은 유저를 전부 </a:t>
            </a:r>
            <a:r>
              <a:rPr lang="ko-KR" altLang="en-US" dirty="0" err="1" smtClean="0"/>
              <a:t>나타낼수있는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드랍박스형식</a:t>
            </a:r>
            <a:r>
              <a:rPr lang="ko-KR" altLang="en-US" dirty="0" smtClean="0"/>
              <a:t> </a:t>
            </a:r>
            <a:r>
              <a:rPr lang="en-US" altLang="ko-KR" dirty="0" smtClean="0"/>
              <a:t>)</a:t>
            </a:r>
          </a:p>
          <a:p>
            <a:endParaRPr lang="en-US" altLang="ko-KR" dirty="0" smtClean="0"/>
          </a:p>
          <a:p>
            <a:r>
              <a:rPr lang="ko-KR" altLang="en-US" dirty="0" smtClean="0"/>
              <a:t>알림 </a:t>
            </a:r>
            <a:r>
              <a:rPr lang="en-US" altLang="ko-KR" dirty="0" smtClean="0"/>
              <a:t>UI </a:t>
            </a:r>
            <a:r>
              <a:rPr lang="ko-KR" altLang="en-US" dirty="0" smtClean="0"/>
              <a:t>겸 </a:t>
            </a:r>
            <a:r>
              <a:rPr lang="en-US" altLang="ko-KR" dirty="0" smtClean="0"/>
              <a:t>, </a:t>
            </a:r>
            <a:r>
              <a:rPr lang="ko-KR" altLang="en-US" dirty="0" smtClean="0"/>
              <a:t>뒷부분에서 자세히 설명</a:t>
            </a:r>
            <a:endParaRPr lang="en-US" altLang="ko-KR" dirty="0"/>
          </a:p>
          <a:p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072889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07627" y="302313"/>
            <a:ext cx="5712903" cy="64152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1789" y="302313"/>
            <a:ext cx="2647269" cy="6361900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3315749" y="3791825"/>
            <a:ext cx="534798" cy="2265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200" dirty="0"/>
              <a:t>필드</a:t>
            </a: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8369" y="3764961"/>
            <a:ext cx="478580" cy="506731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22" y="2887588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03646" y="3940640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2447644" y="4447370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4" name="이등변 삼각형 23"/>
          <p:cNvSpPr/>
          <p:nvPr/>
        </p:nvSpPr>
        <p:spPr>
          <a:xfrm>
            <a:off x="4652857" y="430737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26" name="그림 2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2170" y="654103"/>
            <a:ext cx="666038" cy="860786"/>
          </a:xfrm>
          <a:prstGeom prst="rect">
            <a:avLst/>
          </a:prstGeom>
        </p:spPr>
      </p:pic>
      <p:sp>
        <p:nvSpPr>
          <p:cNvPr id="27" name="직사각형 26"/>
          <p:cNvSpPr/>
          <p:nvPr/>
        </p:nvSpPr>
        <p:spPr>
          <a:xfrm>
            <a:off x="4588370" y="1617045"/>
            <a:ext cx="1153639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미니 </a:t>
            </a:r>
            <a:r>
              <a:rPr lang="ko-KR" altLang="en-US" dirty="0" err="1" smtClean="0"/>
              <a:t>컨텐츠</a:t>
            </a:r>
            <a:endParaRPr lang="ko-KR" altLang="en-US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367" y="3279842"/>
            <a:ext cx="666038" cy="860786"/>
          </a:xfrm>
          <a:prstGeom prst="rect">
            <a:avLst/>
          </a:prstGeom>
        </p:spPr>
      </p:pic>
      <p:sp>
        <p:nvSpPr>
          <p:cNvPr id="29" name="직사각형 28"/>
          <p:cNvSpPr/>
          <p:nvPr/>
        </p:nvSpPr>
        <p:spPr>
          <a:xfrm>
            <a:off x="5102367" y="4194006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거래소</a:t>
            </a:r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638" y="5210850"/>
            <a:ext cx="666038" cy="860786"/>
          </a:xfrm>
          <a:prstGeom prst="rect">
            <a:avLst/>
          </a:prstGeom>
        </p:spPr>
      </p:pic>
      <p:sp>
        <p:nvSpPr>
          <p:cNvPr id="31" name="직사각형 30"/>
          <p:cNvSpPr/>
          <p:nvPr/>
        </p:nvSpPr>
        <p:spPr>
          <a:xfrm>
            <a:off x="452638" y="6125014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상점</a:t>
            </a:r>
          </a:p>
        </p:txBody>
      </p:sp>
      <p:sp>
        <p:nvSpPr>
          <p:cNvPr id="32" name="이등변 삼각형 31"/>
          <p:cNvSpPr/>
          <p:nvPr/>
        </p:nvSpPr>
        <p:spPr>
          <a:xfrm>
            <a:off x="785656" y="3386635"/>
            <a:ext cx="423113" cy="318782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TextBox 34"/>
          <p:cNvSpPr txBox="1"/>
          <p:nvPr/>
        </p:nvSpPr>
        <p:spPr>
          <a:xfrm>
            <a:off x="6121866" y="360727"/>
            <a:ext cx="27935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일정 크기의 필드를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유저가 돌아다닐 수 있다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( </a:t>
            </a:r>
            <a:r>
              <a:rPr lang="ko-KR" altLang="en-US" dirty="0"/>
              <a:t>필드 </a:t>
            </a:r>
            <a:r>
              <a:rPr lang="ko-KR" altLang="en-US" dirty="0" err="1"/>
              <a:t>터치시</a:t>
            </a:r>
            <a:r>
              <a:rPr lang="ko-KR" altLang="en-US" dirty="0"/>
              <a:t> 유저 이동 </a:t>
            </a:r>
            <a:r>
              <a:rPr lang="en-US" altLang="ko-KR" dirty="0"/>
              <a:t>)</a:t>
            </a:r>
          </a:p>
          <a:p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cxnSp>
        <p:nvCxnSpPr>
          <p:cNvPr id="41" name="연결선: 꺾임 40"/>
          <p:cNvCxnSpPr/>
          <p:nvPr/>
        </p:nvCxnSpPr>
        <p:spPr>
          <a:xfrm>
            <a:off x="3315749" y="3279843"/>
            <a:ext cx="1151389" cy="738485"/>
          </a:xfrm>
          <a:prstGeom prst="bentConnector3">
            <a:avLst/>
          </a:prstGeom>
          <a:ln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46" name="그림 4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1764" y="2550216"/>
            <a:ext cx="793627" cy="959735"/>
          </a:xfrm>
          <a:prstGeom prst="rect">
            <a:avLst/>
          </a:prstGeom>
        </p:spPr>
      </p:pic>
      <p:cxnSp>
        <p:nvCxnSpPr>
          <p:cNvPr id="37" name="직선 화살표 연결선 36"/>
          <p:cNvCxnSpPr>
            <a:cxnSpLocks/>
          </p:cNvCxnSpPr>
          <p:nvPr/>
        </p:nvCxnSpPr>
        <p:spPr>
          <a:xfrm flipV="1">
            <a:off x="2654659" y="3004550"/>
            <a:ext cx="295712" cy="9360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6196" y="1783585"/>
            <a:ext cx="478580" cy="506731"/>
          </a:xfrm>
          <a:prstGeom prst="rect">
            <a:avLst/>
          </a:prstGeom>
        </p:spPr>
      </p:pic>
      <p:sp>
        <p:nvSpPr>
          <p:cNvPr id="25" name="이등변 삼각형 24"/>
          <p:cNvSpPr/>
          <p:nvPr/>
        </p:nvSpPr>
        <p:spPr>
          <a:xfrm>
            <a:off x="1951663" y="2293766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pic>
        <p:nvPicPr>
          <p:cNvPr id="33" name="그림 3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2857" y="941970"/>
            <a:ext cx="1549320" cy="480199"/>
          </a:xfrm>
          <a:prstGeom prst="rect">
            <a:avLst/>
          </a:prstGeom>
        </p:spPr>
      </p:pic>
      <p:sp>
        <p:nvSpPr>
          <p:cNvPr id="34" name="사각형: 둥근 모서리 3"/>
          <p:cNvSpPr/>
          <p:nvPr/>
        </p:nvSpPr>
        <p:spPr>
          <a:xfrm>
            <a:off x="2617935" y="1359759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41</a:t>
            </a:r>
            <a:endParaRPr lang="ko-KR" altLang="en-US" sz="1400" dirty="0"/>
          </a:p>
        </p:txBody>
      </p:sp>
      <p:sp>
        <p:nvSpPr>
          <p:cNvPr id="36" name="사각형: 둥근 모서리 32"/>
          <p:cNvSpPr/>
          <p:nvPr/>
        </p:nvSpPr>
        <p:spPr>
          <a:xfrm>
            <a:off x="3072858" y="1359760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27</a:t>
            </a:r>
            <a:endParaRPr lang="ko-KR" altLang="en-US" sz="1400" dirty="0"/>
          </a:p>
        </p:txBody>
      </p:sp>
      <p:sp>
        <p:nvSpPr>
          <p:cNvPr id="38" name="사각형: 둥근 모서리 33"/>
          <p:cNvSpPr/>
          <p:nvPr/>
        </p:nvSpPr>
        <p:spPr>
          <a:xfrm>
            <a:off x="3535391" y="1346837"/>
            <a:ext cx="432048" cy="31053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/>
              <a:t>5</a:t>
            </a:r>
            <a:endParaRPr lang="ko-KR" altLang="en-US" sz="1400" dirty="0"/>
          </a:p>
        </p:txBody>
      </p:sp>
      <p:pic>
        <p:nvPicPr>
          <p:cNvPr id="39" name="Picture 2" descr="C:\Users\goldenboy\Desktop\시간이미지.png"/>
          <p:cNvPicPr>
            <a:picLocks noChangeAspect="1" noChangeArrowheads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38115" y="979628"/>
            <a:ext cx="794742" cy="5353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330529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07627" y="302313"/>
            <a:ext cx="5712903" cy="64152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26" y="302313"/>
            <a:ext cx="2647269" cy="63619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23" y="1440259"/>
            <a:ext cx="478580" cy="506731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3315749" y="3791825"/>
            <a:ext cx="534798" cy="2265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필드</a:t>
            </a:r>
          </a:p>
        </p:txBody>
      </p:sp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202" y="1563668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08" y="3037195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1311006" y="3543925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5" name="이등변 삼각형 24"/>
          <p:cNvSpPr/>
          <p:nvPr/>
        </p:nvSpPr>
        <p:spPr>
          <a:xfrm>
            <a:off x="2214490" y="1950440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367" y="3279842"/>
            <a:ext cx="666038" cy="860786"/>
          </a:xfrm>
          <a:prstGeom prst="rect">
            <a:avLst/>
          </a:prstGeom>
        </p:spPr>
      </p:pic>
      <p:sp>
        <p:nvSpPr>
          <p:cNvPr id="29" name="직사각형 28"/>
          <p:cNvSpPr/>
          <p:nvPr/>
        </p:nvSpPr>
        <p:spPr>
          <a:xfrm>
            <a:off x="5102367" y="4194006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거래소</a:t>
            </a:r>
          </a:p>
        </p:txBody>
      </p:sp>
      <p:sp>
        <p:nvSpPr>
          <p:cNvPr id="32" name="이등변 삼각형 31"/>
          <p:cNvSpPr/>
          <p:nvPr/>
        </p:nvSpPr>
        <p:spPr>
          <a:xfrm>
            <a:off x="3603683" y="2112503"/>
            <a:ext cx="423113" cy="318782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6121866" y="377506"/>
            <a:ext cx="2793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046366" y="377505"/>
            <a:ext cx="2988578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임의 유저클릭 했다면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일정 거리 </a:t>
            </a:r>
            <a:r>
              <a:rPr lang="ko-KR" altLang="en-US" dirty="0" err="1" smtClean="0"/>
              <a:t>접근시</a:t>
            </a:r>
            <a:r>
              <a:rPr lang="ko-KR" altLang="en-US" dirty="0" smtClean="0"/>
              <a:t> </a:t>
            </a:r>
            <a:r>
              <a:rPr lang="ko-KR" altLang="en-US" dirty="0"/>
              <a:t>필요한 </a:t>
            </a:r>
            <a:r>
              <a:rPr lang="en-US" altLang="ko-KR" dirty="0"/>
              <a:t>UI </a:t>
            </a:r>
            <a:r>
              <a:rPr lang="ko-KR" altLang="en-US" dirty="0"/>
              <a:t>등장 </a:t>
            </a:r>
            <a:r>
              <a:rPr lang="en-US" altLang="ko-KR" dirty="0"/>
              <a:t>.</a:t>
            </a:r>
          </a:p>
          <a:p>
            <a:r>
              <a:rPr lang="en-US" altLang="ko-KR" dirty="0" smtClean="0"/>
              <a:t>( 1:1 </a:t>
            </a:r>
            <a:r>
              <a:rPr lang="ko-KR" altLang="en-US" dirty="0" smtClean="0"/>
              <a:t>대화 혹은 거래 </a:t>
            </a:r>
            <a:r>
              <a:rPr lang="en-US" altLang="ko-KR" dirty="0" smtClean="0"/>
              <a:t>,</a:t>
            </a:r>
            <a:r>
              <a:rPr lang="ko-KR" altLang="en-US" dirty="0" smtClean="0"/>
              <a:t>혹은 전투신청</a:t>
            </a:r>
            <a:r>
              <a:rPr lang="en-US" altLang="ko-KR" dirty="0" smtClean="0"/>
              <a:t>)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거래요청</a:t>
            </a:r>
            <a:endParaRPr lang="en-US" altLang="ko-KR" dirty="0"/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/>
              <a:t>가위바위보 카드를 거래하기 위한 </a:t>
            </a:r>
            <a:r>
              <a:rPr lang="en-US" altLang="ko-KR" dirty="0"/>
              <a:t>UI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r>
              <a:rPr lang="ko-KR" altLang="en-US" dirty="0" smtClean="0"/>
              <a:t>대전신청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en-US" altLang="ko-KR" dirty="0"/>
              <a:t>-</a:t>
            </a:r>
            <a:r>
              <a:rPr lang="ko-KR" altLang="en-US" dirty="0" smtClean="0"/>
              <a:t> </a:t>
            </a:r>
            <a:r>
              <a:rPr lang="ko-KR" altLang="en-US" dirty="0"/>
              <a:t>별</a:t>
            </a:r>
            <a:r>
              <a:rPr lang="en-US" altLang="ko-KR" dirty="0"/>
              <a:t>1</a:t>
            </a:r>
            <a:r>
              <a:rPr lang="ko-KR" altLang="en-US" dirty="0"/>
              <a:t>개가 걸린 </a:t>
            </a:r>
            <a:endParaRPr lang="en-US" altLang="ko-KR" dirty="0"/>
          </a:p>
          <a:p>
            <a:r>
              <a:rPr lang="ko-KR" altLang="en-US" dirty="0"/>
              <a:t>가위바위보 </a:t>
            </a:r>
            <a:endParaRPr lang="en-US" altLang="ko-KR" dirty="0" smtClean="0"/>
          </a:p>
          <a:p>
            <a:r>
              <a:rPr lang="ko-KR" altLang="en-US" dirty="0" smtClean="0"/>
              <a:t>게임이 </a:t>
            </a:r>
            <a:r>
              <a:rPr lang="ko-KR" altLang="en-US" dirty="0"/>
              <a:t>상대에게</a:t>
            </a:r>
            <a:endParaRPr lang="en-US" altLang="ko-KR" dirty="0"/>
          </a:p>
          <a:p>
            <a:r>
              <a:rPr lang="ko-KR" altLang="en-US" dirty="0"/>
              <a:t>대전신청이 됨</a:t>
            </a:r>
            <a:endParaRPr lang="en-US" altLang="ko-KR" dirty="0"/>
          </a:p>
        </p:txBody>
      </p:sp>
      <p:pic>
        <p:nvPicPr>
          <p:cNvPr id="41" name="그림 4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30110" y="3129187"/>
            <a:ext cx="629725" cy="761528"/>
          </a:xfrm>
          <a:prstGeom prst="rect">
            <a:avLst/>
          </a:prstGeom>
        </p:spPr>
      </p:pic>
      <p:sp>
        <p:nvSpPr>
          <p:cNvPr id="2" name="모서리가 둥근 직사각형 1"/>
          <p:cNvSpPr/>
          <p:nvPr/>
        </p:nvSpPr>
        <p:spPr>
          <a:xfrm>
            <a:off x="1600740" y="2666428"/>
            <a:ext cx="544935" cy="347585"/>
          </a:xfrm>
          <a:prstGeom prst="round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>
                <a:solidFill>
                  <a:srgbClr val="FF0000"/>
                </a:solidFill>
              </a:rPr>
              <a:t>결투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7372" y="3055140"/>
            <a:ext cx="478580" cy="506731"/>
          </a:xfrm>
          <a:prstGeom prst="rect">
            <a:avLst/>
          </a:prstGeom>
        </p:spPr>
      </p:pic>
      <p:sp>
        <p:nvSpPr>
          <p:cNvPr id="24" name="이등변 삼각형 23"/>
          <p:cNvSpPr/>
          <p:nvPr/>
        </p:nvSpPr>
        <p:spPr>
          <a:xfrm>
            <a:off x="1921860" y="3597553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모서리가 둥근 직사각형 21"/>
          <p:cNvSpPr/>
          <p:nvPr/>
        </p:nvSpPr>
        <p:spPr>
          <a:xfrm>
            <a:off x="909900" y="2674583"/>
            <a:ext cx="662753" cy="347585"/>
          </a:xfrm>
          <a:prstGeom prst="round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050" dirty="0" smtClean="0">
                <a:solidFill>
                  <a:srgbClr val="FF0000"/>
                </a:solidFill>
              </a:rPr>
              <a:t>1:1</a:t>
            </a:r>
            <a:endParaRPr lang="ko-KR" altLang="en-US" sz="1050" dirty="0">
              <a:solidFill>
                <a:srgbClr val="FF0000"/>
              </a:solidFill>
            </a:endParaRPr>
          </a:p>
        </p:txBody>
      </p:sp>
      <p:sp>
        <p:nvSpPr>
          <p:cNvPr id="26" name="모서리가 둥근 직사각형 25"/>
          <p:cNvSpPr/>
          <p:nvPr/>
        </p:nvSpPr>
        <p:spPr>
          <a:xfrm>
            <a:off x="2159023" y="2674583"/>
            <a:ext cx="544935" cy="347585"/>
          </a:xfrm>
          <a:prstGeom prst="roundRect">
            <a:avLst/>
          </a:prstGeom>
          <a:solidFill>
            <a:srgbClr val="FFFF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100" dirty="0" smtClean="0">
                <a:solidFill>
                  <a:srgbClr val="FF0000"/>
                </a:solidFill>
              </a:rPr>
              <a:t>거래</a:t>
            </a:r>
            <a:endParaRPr lang="ko-KR" altLang="en-US" sz="11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068479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그림 3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4048" y="908720"/>
            <a:ext cx="4072142" cy="5729035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35496" y="98451"/>
            <a:ext cx="89154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smtClean="0"/>
              <a:t>대화요청</a:t>
            </a:r>
            <a:r>
              <a:rPr lang="ko-KR" altLang="en-US" sz="1600" dirty="0"/>
              <a:t>을</a:t>
            </a:r>
            <a:r>
              <a:rPr lang="ko-KR" altLang="en-US" sz="1600" dirty="0" smtClean="0"/>
              <a:t> </a:t>
            </a:r>
            <a:r>
              <a:rPr lang="ko-KR" altLang="en-US" sz="2400" dirty="0" err="1" smtClean="0"/>
              <a:t>받은쪽</a:t>
            </a:r>
            <a:r>
              <a:rPr lang="ko-KR" altLang="en-US" sz="1600" dirty="0" err="1" smtClean="0"/>
              <a:t>에서는</a:t>
            </a:r>
            <a:r>
              <a:rPr lang="ko-KR" altLang="en-US" sz="1600" dirty="0" smtClean="0"/>
              <a:t> 오른쪽아래 알림이 뜬다 </a:t>
            </a:r>
            <a:r>
              <a:rPr lang="en-US" altLang="ko-KR" sz="1600" dirty="0" smtClean="0"/>
              <a:t>(</a:t>
            </a:r>
            <a:r>
              <a:rPr lang="en-US" altLang="ko-KR" sz="1600" dirty="0" err="1" smtClean="0"/>
              <a:t>OnLine</a:t>
            </a:r>
            <a:r>
              <a:rPr lang="en-US" altLang="ko-KR" sz="1600" dirty="0" smtClean="0"/>
              <a:t>)</a:t>
            </a:r>
            <a:endParaRPr lang="en-US" altLang="ko-KR" sz="1600" dirty="0"/>
          </a:p>
          <a:p>
            <a:endParaRPr lang="en-US" altLang="ko-KR" sz="1600" dirty="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04" y="908720"/>
            <a:ext cx="4072142" cy="5763039"/>
          </a:xfrm>
          <a:prstGeom prst="rect">
            <a:avLst/>
          </a:prstGeom>
        </p:spPr>
      </p:pic>
      <p:pic>
        <p:nvPicPr>
          <p:cNvPr id="43" name="그림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958" y="3049710"/>
            <a:ext cx="478580" cy="506731"/>
          </a:xfrm>
          <a:prstGeom prst="rect">
            <a:avLst/>
          </a:prstGeom>
        </p:spPr>
      </p:pic>
      <p:sp>
        <p:nvSpPr>
          <p:cNvPr id="44" name="이등변 삼각형 43"/>
          <p:cNvSpPr/>
          <p:nvPr/>
        </p:nvSpPr>
        <p:spPr>
          <a:xfrm>
            <a:off x="1923446" y="3592123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8" name="순서도: 연결자 7"/>
          <p:cNvSpPr/>
          <p:nvPr/>
        </p:nvSpPr>
        <p:spPr>
          <a:xfrm>
            <a:off x="3203848" y="5447180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pic>
        <p:nvPicPr>
          <p:cNvPr id="56" name="그림 5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55776" y="2286411"/>
            <a:ext cx="478580" cy="506731"/>
          </a:xfrm>
          <a:prstGeom prst="rect">
            <a:avLst/>
          </a:prstGeom>
        </p:spPr>
      </p:pic>
      <p:sp>
        <p:nvSpPr>
          <p:cNvPr id="57" name="이등변 삼각형 56"/>
          <p:cNvSpPr/>
          <p:nvPr/>
        </p:nvSpPr>
        <p:spPr>
          <a:xfrm>
            <a:off x="2599774" y="2793141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2" name="직선 화살표 연결선 11"/>
          <p:cNvCxnSpPr>
            <a:stCxn id="56" idx="1"/>
          </p:cNvCxnSpPr>
          <p:nvPr/>
        </p:nvCxnSpPr>
        <p:spPr>
          <a:xfrm flipH="1">
            <a:off x="2143575" y="2539777"/>
            <a:ext cx="412201" cy="31315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23446" y="2471895"/>
            <a:ext cx="4883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smtClean="0"/>
              <a:t>요청</a:t>
            </a:r>
            <a:endParaRPr lang="ko-KR" altLang="en-US" sz="1100" dirty="0"/>
          </a:p>
        </p:txBody>
      </p:sp>
      <p:sp>
        <p:nvSpPr>
          <p:cNvPr id="58" name="폭발 1 57"/>
          <p:cNvSpPr/>
          <p:nvPr/>
        </p:nvSpPr>
        <p:spPr>
          <a:xfrm>
            <a:off x="3419872" y="5229200"/>
            <a:ext cx="433727" cy="288032"/>
          </a:xfrm>
          <a:prstGeom prst="irregularSeal1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순서도: 연결자 27"/>
          <p:cNvSpPr/>
          <p:nvPr/>
        </p:nvSpPr>
        <p:spPr>
          <a:xfrm>
            <a:off x="2486454" y="5447180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555776" y="5517232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결투</a:t>
            </a:r>
            <a:endParaRPr lang="ko-KR" alt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3260507" y="5559781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쪽</a:t>
            </a:r>
            <a:r>
              <a:rPr lang="ko-KR" altLang="en-US" sz="1200" dirty="0"/>
              <a:t>지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95375" y="5698281"/>
            <a:ext cx="629725" cy="7615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8863" y="5501843"/>
            <a:ext cx="7920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/>
              <a:t>쪽지 보기</a:t>
            </a:r>
            <a:endParaRPr lang="ko-KR" altLang="en-US" sz="1600" dirty="0"/>
          </a:p>
        </p:txBody>
      </p:sp>
      <p:sp>
        <p:nvSpPr>
          <p:cNvPr id="9" name="오른쪽 화살표 8"/>
          <p:cNvSpPr/>
          <p:nvPr/>
        </p:nvSpPr>
        <p:spPr>
          <a:xfrm>
            <a:off x="4283967" y="2952532"/>
            <a:ext cx="626983" cy="1052532"/>
          </a:xfrm>
          <a:prstGeom prst="rightArrow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50" name="그림 4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1457" y="2968802"/>
            <a:ext cx="478580" cy="506731"/>
          </a:xfrm>
          <a:prstGeom prst="rect">
            <a:avLst/>
          </a:prstGeom>
        </p:spPr>
      </p:pic>
      <p:sp>
        <p:nvSpPr>
          <p:cNvPr id="51" name="이등변 삼각형 50"/>
          <p:cNvSpPr/>
          <p:nvPr/>
        </p:nvSpPr>
        <p:spPr>
          <a:xfrm>
            <a:off x="6895945" y="351121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13" name="모서리가 둥근 직사각형 12"/>
          <p:cNvSpPr/>
          <p:nvPr/>
        </p:nvSpPr>
        <p:spPr>
          <a:xfrm>
            <a:off x="7668344" y="5559781"/>
            <a:ext cx="1080120" cy="389601"/>
          </a:xfrm>
          <a:prstGeom prst="roundRect">
            <a:avLst/>
          </a:prstGeom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 err="1" smtClean="0"/>
              <a:t>드랍박스</a:t>
            </a:r>
            <a:endParaRPr lang="ko-KR" altLang="en-US" sz="1400" dirty="0"/>
          </a:p>
        </p:txBody>
      </p:sp>
      <p:sp>
        <p:nvSpPr>
          <p:cNvPr id="14" name="모서리가 둥근 직사각형 13"/>
          <p:cNvSpPr/>
          <p:nvPr/>
        </p:nvSpPr>
        <p:spPr>
          <a:xfrm>
            <a:off x="7668344" y="5229200"/>
            <a:ext cx="1080120" cy="3305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유저</a:t>
            </a:r>
            <a:r>
              <a:rPr lang="en-US" altLang="ko-KR" dirty="0" smtClean="0"/>
              <a:t>4</a:t>
            </a:r>
            <a:endParaRPr lang="ko-KR" altLang="en-US" dirty="0"/>
          </a:p>
        </p:txBody>
      </p:sp>
      <p:sp>
        <p:nvSpPr>
          <p:cNvPr id="59" name="모서리가 둥근 직사각형 58"/>
          <p:cNvSpPr/>
          <p:nvPr/>
        </p:nvSpPr>
        <p:spPr>
          <a:xfrm>
            <a:off x="7668344" y="4875720"/>
            <a:ext cx="1080120" cy="3305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유저</a:t>
            </a:r>
            <a:r>
              <a:rPr lang="en-US" altLang="ko-KR" dirty="0" smtClean="0"/>
              <a:t>3</a:t>
            </a:r>
            <a:endParaRPr lang="ko-KR" altLang="en-US" dirty="0"/>
          </a:p>
        </p:txBody>
      </p:sp>
      <p:sp>
        <p:nvSpPr>
          <p:cNvPr id="60" name="모서리가 둥근 직사각형 59"/>
          <p:cNvSpPr/>
          <p:nvPr/>
        </p:nvSpPr>
        <p:spPr>
          <a:xfrm>
            <a:off x="7668344" y="4522240"/>
            <a:ext cx="1080120" cy="3305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유저</a:t>
            </a:r>
            <a:r>
              <a:rPr lang="en-US" altLang="ko-KR" dirty="0" smtClean="0"/>
              <a:t>2</a:t>
            </a:r>
            <a:endParaRPr lang="ko-KR" altLang="en-US" dirty="0"/>
          </a:p>
        </p:txBody>
      </p:sp>
      <p:sp>
        <p:nvSpPr>
          <p:cNvPr id="61" name="모서리가 둥근 직사각형 60"/>
          <p:cNvSpPr/>
          <p:nvPr/>
        </p:nvSpPr>
        <p:spPr>
          <a:xfrm>
            <a:off x="7668344" y="4168760"/>
            <a:ext cx="1080120" cy="33058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유저</a:t>
            </a:r>
            <a:r>
              <a:rPr lang="en-US" altLang="ko-KR" dirty="0" smtClean="0"/>
              <a:t>1</a:t>
            </a:r>
            <a:endParaRPr lang="ko-KR" altLang="en-US" dirty="0"/>
          </a:p>
        </p:txBody>
      </p:sp>
      <p:sp>
        <p:nvSpPr>
          <p:cNvPr id="62" name="순서도: 연결자 61"/>
          <p:cNvSpPr/>
          <p:nvPr/>
        </p:nvSpPr>
        <p:spPr>
          <a:xfrm>
            <a:off x="6948264" y="5435356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63" name="TextBox 62"/>
          <p:cNvSpPr txBox="1"/>
          <p:nvPr/>
        </p:nvSpPr>
        <p:spPr>
          <a:xfrm>
            <a:off x="7026817" y="5565210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결투</a:t>
            </a:r>
            <a:endParaRPr lang="ko-KR" altLang="en-US" sz="1200" dirty="0"/>
          </a:p>
        </p:txBody>
      </p:sp>
      <p:sp>
        <p:nvSpPr>
          <p:cNvPr id="17" name="TextBox 16"/>
          <p:cNvSpPr txBox="1"/>
          <p:nvPr/>
        </p:nvSpPr>
        <p:spPr>
          <a:xfrm>
            <a:off x="5652120" y="1484784"/>
            <a:ext cx="295232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쪽지 보기 클릭하면 </a:t>
            </a:r>
            <a:endParaRPr lang="en-US" altLang="ko-KR" dirty="0" smtClean="0"/>
          </a:p>
          <a:p>
            <a:r>
              <a:rPr lang="ko-KR" altLang="en-US" dirty="0" err="1" smtClean="0"/>
              <a:t>드랍박스가</a:t>
            </a:r>
            <a:r>
              <a:rPr lang="ko-KR" altLang="en-US" dirty="0" smtClean="0"/>
              <a:t> 열리면서</a:t>
            </a:r>
            <a:endParaRPr lang="en-US" altLang="ko-KR" dirty="0" smtClean="0"/>
          </a:p>
          <a:p>
            <a:r>
              <a:rPr lang="ko-KR" altLang="en-US" dirty="0" err="1" smtClean="0"/>
              <a:t>쪽지보낸이</a:t>
            </a:r>
            <a:r>
              <a:rPr lang="ko-KR" altLang="en-US" dirty="0" smtClean="0"/>
              <a:t> 리스트가 </a:t>
            </a:r>
            <a:endParaRPr lang="en-US" altLang="ko-KR" dirty="0" smtClean="0"/>
          </a:p>
          <a:p>
            <a:r>
              <a:rPr lang="ko-KR" altLang="en-US" dirty="0" smtClean="0"/>
              <a:t>나온</a:t>
            </a:r>
            <a:r>
              <a:rPr lang="ko-KR" altLang="en-US" dirty="0"/>
              <a:t>다</a:t>
            </a:r>
          </a:p>
        </p:txBody>
      </p:sp>
    </p:spTree>
    <p:extLst>
      <p:ext uri="{BB962C8B-B14F-4D97-AF65-F5344CB8AC3E}">
        <p14:creationId xmlns:p14="http://schemas.microsoft.com/office/powerpoint/2010/main" val="28965908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TextBox 41"/>
          <p:cNvSpPr txBox="1"/>
          <p:nvPr/>
        </p:nvSpPr>
        <p:spPr>
          <a:xfrm>
            <a:off x="6121866" y="377506"/>
            <a:ext cx="2793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0" y="98451"/>
            <a:ext cx="8915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1</a:t>
            </a:r>
            <a:r>
              <a:rPr lang="en-US" altLang="ko-KR" dirty="0" smtClean="0"/>
              <a:t>:1 </a:t>
            </a:r>
            <a:r>
              <a:rPr lang="ko-KR" altLang="en-US" dirty="0" err="1" smtClean="0"/>
              <a:t>대화창은</a:t>
            </a:r>
            <a:r>
              <a:rPr lang="ko-KR" altLang="en-US" dirty="0" smtClean="0"/>
              <a:t> 아래와 같이 열리고 닫힌다</a:t>
            </a:r>
            <a:endParaRPr lang="en-US" altLang="ko-KR" dirty="0"/>
          </a:p>
          <a:p>
            <a:endParaRPr lang="en-US" altLang="ko-KR" dirty="0"/>
          </a:p>
        </p:txBody>
      </p:sp>
      <p:pic>
        <p:nvPicPr>
          <p:cNvPr id="59" name="그림 5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43258" y="660317"/>
            <a:ext cx="4072142" cy="6043525"/>
          </a:xfrm>
          <a:prstGeom prst="rect">
            <a:avLst/>
          </a:prstGeom>
        </p:spPr>
      </p:pic>
      <p:pic>
        <p:nvPicPr>
          <p:cNvPr id="60" name="그림 5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80516" y="2258160"/>
            <a:ext cx="478580" cy="506731"/>
          </a:xfrm>
          <a:prstGeom prst="rect">
            <a:avLst/>
          </a:prstGeom>
        </p:spPr>
      </p:pic>
      <p:sp>
        <p:nvSpPr>
          <p:cNvPr id="61" name="이등변 삼각형 60"/>
          <p:cNvSpPr/>
          <p:nvPr/>
        </p:nvSpPr>
        <p:spPr>
          <a:xfrm>
            <a:off x="5645004" y="2800573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63" name="그림 6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64694" y="4025913"/>
            <a:ext cx="3629270" cy="2089918"/>
          </a:xfrm>
          <a:prstGeom prst="rect">
            <a:avLst/>
          </a:prstGeom>
        </p:spPr>
      </p:pic>
      <p:sp>
        <p:nvSpPr>
          <p:cNvPr id="64" name="모서리가 둥근 직사각형 63"/>
          <p:cNvSpPr/>
          <p:nvPr/>
        </p:nvSpPr>
        <p:spPr>
          <a:xfrm>
            <a:off x="6755160" y="1341823"/>
            <a:ext cx="1872208" cy="255885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5" name="직사각형 64"/>
          <p:cNvSpPr/>
          <p:nvPr/>
        </p:nvSpPr>
        <p:spPr>
          <a:xfrm>
            <a:off x="7619256" y="3522893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6" name="직사각형 65"/>
          <p:cNvSpPr/>
          <p:nvPr/>
        </p:nvSpPr>
        <p:spPr>
          <a:xfrm>
            <a:off x="7597310" y="3252606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7" name="직사각형 66"/>
          <p:cNvSpPr/>
          <p:nvPr/>
        </p:nvSpPr>
        <p:spPr>
          <a:xfrm>
            <a:off x="7619256" y="2579407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8" name="직사각형 67"/>
          <p:cNvSpPr/>
          <p:nvPr/>
        </p:nvSpPr>
        <p:spPr>
          <a:xfrm>
            <a:off x="7641202" y="1906208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9" name="직사각형 68"/>
          <p:cNvSpPr/>
          <p:nvPr/>
        </p:nvSpPr>
        <p:spPr>
          <a:xfrm>
            <a:off x="6755160" y="2235178"/>
            <a:ext cx="1008112" cy="23376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0" name="직사각형 69"/>
          <p:cNvSpPr/>
          <p:nvPr/>
        </p:nvSpPr>
        <p:spPr>
          <a:xfrm>
            <a:off x="6755160" y="2892566"/>
            <a:ext cx="1008112" cy="23376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1" name="직사각형 70"/>
          <p:cNvSpPr/>
          <p:nvPr/>
        </p:nvSpPr>
        <p:spPr>
          <a:xfrm>
            <a:off x="6736022" y="1572523"/>
            <a:ext cx="1008112" cy="23376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ㅋㅋ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72" name="오른쪽 화살표 71"/>
          <p:cNvSpPr/>
          <p:nvPr/>
        </p:nvSpPr>
        <p:spPr>
          <a:xfrm>
            <a:off x="6559301" y="3317794"/>
            <a:ext cx="680777" cy="438868"/>
          </a:xfrm>
          <a:prstGeom prst="rightArrow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600" dirty="0" smtClean="0">
                <a:solidFill>
                  <a:schemeClr val="tx1"/>
                </a:solidFill>
              </a:rPr>
              <a:t>닫기</a:t>
            </a:r>
            <a:endParaRPr lang="ko-KR" altLang="en-US" sz="600" dirty="0">
              <a:solidFill>
                <a:schemeClr val="tx1"/>
              </a:solidFill>
            </a:endParaRPr>
          </a:p>
        </p:txBody>
      </p:sp>
      <p:pic>
        <p:nvPicPr>
          <p:cNvPr id="73" name="그림 7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512" y="645974"/>
            <a:ext cx="4072142" cy="6043525"/>
          </a:xfrm>
          <a:prstGeom prst="rect">
            <a:avLst/>
          </a:prstGeom>
        </p:spPr>
      </p:pic>
      <p:pic>
        <p:nvPicPr>
          <p:cNvPr id="74" name="그림 7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5576" y="2945106"/>
            <a:ext cx="478580" cy="506731"/>
          </a:xfrm>
          <a:prstGeom prst="rect">
            <a:avLst/>
          </a:prstGeom>
        </p:spPr>
      </p:pic>
      <p:sp>
        <p:nvSpPr>
          <p:cNvPr id="75" name="이등변 삼각형 74"/>
          <p:cNvSpPr/>
          <p:nvPr/>
        </p:nvSpPr>
        <p:spPr>
          <a:xfrm>
            <a:off x="820064" y="3487519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76" name="TextBox 75"/>
          <p:cNvSpPr txBox="1"/>
          <p:nvPr/>
        </p:nvSpPr>
        <p:spPr>
          <a:xfrm>
            <a:off x="539552" y="2523639"/>
            <a:ext cx="93610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100" dirty="0" smtClean="0"/>
              <a:t>3D</a:t>
            </a:r>
            <a:r>
              <a:rPr lang="ko-KR" altLang="en-US" sz="1100" dirty="0" smtClean="0"/>
              <a:t>카메라 이동</a:t>
            </a:r>
            <a:endParaRPr lang="ko-KR" altLang="en-US" sz="1100" dirty="0"/>
          </a:p>
        </p:txBody>
      </p:sp>
      <p:sp>
        <p:nvSpPr>
          <p:cNvPr id="80" name="모서리가 둥근 직사각형 79"/>
          <p:cNvSpPr/>
          <p:nvPr/>
        </p:nvSpPr>
        <p:spPr>
          <a:xfrm>
            <a:off x="2123728" y="1350207"/>
            <a:ext cx="1872208" cy="4455057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1" name="직사각형 80"/>
          <p:cNvSpPr/>
          <p:nvPr/>
        </p:nvSpPr>
        <p:spPr>
          <a:xfrm>
            <a:off x="2987824" y="3531277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2" name="직사각형 81"/>
          <p:cNvSpPr/>
          <p:nvPr/>
        </p:nvSpPr>
        <p:spPr>
          <a:xfrm>
            <a:off x="2965878" y="3260990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3" name="직사각형 82"/>
          <p:cNvSpPr/>
          <p:nvPr/>
        </p:nvSpPr>
        <p:spPr>
          <a:xfrm>
            <a:off x="2987824" y="2587791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4" name="직사각형 83"/>
          <p:cNvSpPr/>
          <p:nvPr/>
        </p:nvSpPr>
        <p:spPr>
          <a:xfrm>
            <a:off x="3009770" y="1914592"/>
            <a:ext cx="1008112" cy="233769"/>
          </a:xfrm>
          <a:prstGeom prst="rect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직사각형 84"/>
          <p:cNvSpPr/>
          <p:nvPr/>
        </p:nvSpPr>
        <p:spPr>
          <a:xfrm>
            <a:off x="2123728" y="2243562"/>
            <a:ext cx="1008112" cy="233769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6" name="직사각형 85"/>
          <p:cNvSpPr/>
          <p:nvPr/>
        </p:nvSpPr>
        <p:spPr>
          <a:xfrm>
            <a:off x="2123728" y="2900950"/>
            <a:ext cx="1008112" cy="23376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7" name="직사각형 86"/>
          <p:cNvSpPr/>
          <p:nvPr/>
        </p:nvSpPr>
        <p:spPr>
          <a:xfrm>
            <a:off x="2104590" y="1580907"/>
            <a:ext cx="1008112" cy="233769"/>
          </a:xfrm>
          <a:prstGeom prst="rect">
            <a:avLst/>
          </a:prstGeom>
          <a:solidFill>
            <a:srgbClr val="FFFF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>
                <a:solidFill>
                  <a:schemeClr val="tx1"/>
                </a:solidFill>
              </a:rPr>
              <a:t>ㅋㅋ</a:t>
            </a:r>
            <a:endParaRPr lang="ko-KR" altLang="en-US" dirty="0">
              <a:solidFill>
                <a:schemeClr val="tx1"/>
              </a:solidFill>
            </a:endParaRPr>
          </a:p>
        </p:txBody>
      </p:sp>
      <p:sp>
        <p:nvSpPr>
          <p:cNvPr id="88" name="오른쪽 화살표 87"/>
          <p:cNvSpPr/>
          <p:nvPr/>
        </p:nvSpPr>
        <p:spPr>
          <a:xfrm rot="10800000">
            <a:off x="1695753" y="4053249"/>
            <a:ext cx="817673" cy="438867"/>
          </a:xfrm>
          <a:prstGeom prst="rightArrow">
            <a:avLst/>
          </a:prstGeom>
          <a:solidFill>
            <a:srgbClr val="FFC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600" dirty="0">
              <a:solidFill>
                <a:schemeClr val="tx1"/>
              </a:solidFill>
            </a:endParaRPr>
          </a:p>
        </p:txBody>
      </p:sp>
      <p:sp>
        <p:nvSpPr>
          <p:cNvPr id="89" name="양쪽 모서리가 둥근 사각형 88"/>
          <p:cNvSpPr/>
          <p:nvPr/>
        </p:nvSpPr>
        <p:spPr>
          <a:xfrm>
            <a:off x="2339752" y="5487137"/>
            <a:ext cx="1440160" cy="305556"/>
          </a:xfrm>
          <a:prstGeom prst="round2Same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입력 란</a:t>
            </a:r>
            <a:endParaRPr lang="ko-KR" altLang="en-US" dirty="0"/>
          </a:p>
        </p:txBody>
      </p:sp>
      <p:sp>
        <p:nvSpPr>
          <p:cNvPr id="90" name="모서리가 둥근 직사각형 89"/>
          <p:cNvSpPr/>
          <p:nvPr/>
        </p:nvSpPr>
        <p:spPr>
          <a:xfrm>
            <a:off x="1835696" y="4941168"/>
            <a:ext cx="504056" cy="558540"/>
          </a:xfrm>
          <a:prstGeom prst="roundRect">
            <a:avLst/>
          </a:prstGeom>
        </p:spPr>
        <p:style>
          <a:lnRef idx="3">
            <a:schemeClr val="lt1"/>
          </a:lnRef>
          <a:fillRef idx="1">
            <a:schemeClr val="accent6"/>
          </a:fillRef>
          <a:effectRef idx="1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닫기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2251288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8451"/>
            <a:ext cx="89154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/>
              <a:t>결투 </a:t>
            </a:r>
            <a:r>
              <a:rPr lang="ko-KR" altLang="en-US" sz="1600" dirty="0" err="1" smtClean="0"/>
              <a:t>요청시</a:t>
            </a:r>
            <a:endParaRPr lang="en-US" altLang="ko-KR" sz="1600" dirty="0"/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67744" y="527281"/>
            <a:ext cx="4072142" cy="6043525"/>
          </a:xfrm>
          <a:prstGeom prst="rect">
            <a:avLst/>
          </a:prstGeom>
        </p:spPr>
      </p:pic>
      <p:sp>
        <p:nvSpPr>
          <p:cNvPr id="5" name="모서리가 둥근 직사각형 4"/>
          <p:cNvSpPr/>
          <p:nvPr/>
        </p:nvSpPr>
        <p:spPr>
          <a:xfrm>
            <a:off x="2483768" y="2843818"/>
            <a:ext cx="3672408" cy="13122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XX </a:t>
            </a:r>
            <a:r>
              <a:rPr lang="ko-KR" altLang="en-US" dirty="0" smtClean="0"/>
              <a:t>아무개에게 대전요청을 하시겠습니까 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Yes , No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4202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8451"/>
            <a:ext cx="8915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 smtClean="0"/>
              <a:t>대전 요청</a:t>
            </a:r>
            <a:r>
              <a:rPr lang="ko-KR" altLang="en-US" sz="1600" dirty="0" smtClean="0"/>
              <a:t>을 </a:t>
            </a:r>
            <a:r>
              <a:rPr lang="ko-KR" altLang="en-US" sz="2800" dirty="0" err="1" smtClean="0"/>
              <a:t>받은</a:t>
            </a:r>
            <a:r>
              <a:rPr lang="ko-KR" altLang="en-US" sz="1600" dirty="0" err="1" smtClean="0"/>
              <a:t>쪽에서는</a:t>
            </a:r>
            <a:r>
              <a:rPr lang="ko-KR" altLang="en-US" sz="1600" dirty="0" smtClean="0"/>
              <a:t> 오른쪽 하단에  </a:t>
            </a:r>
            <a:r>
              <a:rPr lang="en-US" altLang="ko-KR" sz="1600" dirty="0" smtClean="0"/>
              <a:t>! </a:t>
            </a:r>
            <a:r>
              <a:rPr lang="ko-KR" altLang="en-US" sz="1600" dirty="0" smtClean="0"/>
              <a:t>알림이 뜬다 </a:t>
            </a:r>
            <a:endParaRPr lang="en-US" altLang="ko-KR" sz="1600" dirty="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5" y="836712"/>
            <a:ext cx="4072142" cy="5719299"/>
          </a:xfrm>
          <a:prstGeom prst="rect">
            <a:avLst/>
          </a:prstGeom>
        </p:spPr>
      </p:pic>
      <p:pic>
        <p:nvPicPr>
          <p:cNvPr id="43" name="그림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659" y="2933962"/>
            <a:ext cx="478580" cy="506731"/>
          </a:xfrm>
          <a:prstGeom prst="rect">
            <a:avLst/>
          </a:prstGeom>
        </p:spPr>
      </p:pic>
      <p:sp>
        <p:nvSpPr>
          <p:cNvPr id="44" name="이등변 삼각형 43"/>
          <p:cNvSpPr/>
          <p:nvPr/>
        </p:nvSpPr>
        <p:spPr>
          <a:xfrm>
            <a:off x="1902147" y="347637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8" name="순서도: 연결자 7"/>
          <p:cNvSpPr/>
          <p:nvPr/>
        </p:nvSpPr>
        <p:spPr>
          <a:xfrm>
            <a:off x="3182549" y="5331432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pic>
        <p:nvPicPr>
          <p:cNvPr id="56" name="그림 5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477" y="2170663"/>
            <a:ext cx="478580" cy="506731"/>
          </a:xfrm>
          <a:prstGeom prst="rect">
            <a:avLst/>
          </a:prstGeom>
        </p:spPr>
      </p:pic>
      <p:sp>
        <p:nvSpPr>
          <p:cNvPr id="57" name="이등변 삼각형 56"/>
          <p:cNvSpPr/>
          <p:nvPr/>
        </p:nvSpPr>
        <p:spPr>
          <a:xfrm>
            <a:off x="2578475" y="2677393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2" name="직선 화살표 연결선 11"/>
          <p:cNvCxnSpPr>
            <a:stCxn id="56" idx="1"/>
          </p:cNvCxnSpPr>
          <p:nvPr/>
        </p:nvCxnSpPr>
        <p:spPr>
          <a:xfrm flipH="1">
            <a:off x="2122276" y="2424029"/>
            <a:ext cx="412201" cy="31315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02147" y="2356147"/>
            <a:ext cx="4883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smtClean="0"/>
              <a:t>요청</a:t>
            </a:r>
            <a:endParaRPr lang="ko-KR" altLang="en-US" sz="1100" dirty="0"/>
          </a:p>
        </p:txBody>
      </p:sp>
      <p:sp>
        <p:nvSpPr>
          <p:cNvPr id="58" name="폭발 1 57"/>
          <p:cNvSpPr/>
          <p:nvPr/>
        </p:nvSpPr>
        <p:spPr>
          <a:xfrm>
            <a:off x="3398573" y="5113452"/>
            <a:ext cx="433727" cy="288032"/>
          </a:xfrm>
          <a:prstGeom prst="irregularSeal1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순서도: 연결자 27"/>
          <p:cNvSpPr/>
          <p:nvPr/>
        </p:nvSpPr>
        <p:spPr>
          <a:xfrm>
            <a:off x="2465155" y="5331432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534477" y="5401484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결투</a:t>
            </a:r>
            <a:endParaRPr lang="ko-KR" alt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3239208" y="5444033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쪽</a:t>
            </a:r>
            <a:r>
              <a:rPr lang="ko-KR" altLang="en-US" sz="1200" dirty="0"/>
              <a:t>지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692" y="5720240"/>
            <a:ext cx="629725" cy="7615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87386" y="5947114"/>
            <a:ext cx="627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solidFill>
                  <a:schemeClr val="bg2">
                    <a:lumMod val="90000"/>
                  </a:schemeClr>
                </a:solidFill>
              </a:rPr>
              <a:t>결투 클릭</a:t>
            </a:r>
            <a:endParaRPr lang="ko-KR" altLang="en-US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80728"/>
            <a:ext cx="4072142" cy="5583044"/>
          </a:xfrm>
          <a:prstGeom prst="rect">
            <a:avLst/>
          </a:prstGeom>
        </p:spPr>
      </p:pic>
      <p:sp>
        <p:nvSpPr>
          <p:cNvPr id="5" name="모서리가 둥근 직사각형 4"/>
          <p:cNvSpPr/>
          <p:nvPr/>
        </p:nvSpPr>
        <p:spPr>
          <a:xfrm>
            <a:off x="4788024" y="2836784"/>
            <a:ext cx="3672408" cy="13122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XX </a:t>
            </a:r>
            <a:r>
              <a:rPr lang="ko-KR" altLang="en-US" dirty="0" smtClean="0"/>
              <a:t>아무개에게 </a:t>
            </a:r>
            <a:r>
              <a:rPr lang="ko-KR" altLang="en-US" dirty="0" err="1" smtClean="0"/>
              <a:t>요청이왓습니다</a:t>
            </a:r>
            <a:r>
              <a:rPr lang="en-US" altLang="ko-KR" dirty="0" smtClean="0"/>
              <a:t>.</a:t>
            </a:r>
            <a:r>
              <a:rPr lang="ko-KR" altLang="en-US" dirty="0" smtClean="0"/>
              <a:t> 대결하러 가시겠습니까</a:t>
            </a:r>
            <a:r>
              <a:rPr lang="en-US" altLang="ko-KR" dirty="0" smtClean="0"/>
              <a:t>? </a:t>
            </a:r>
          </a:p>
          <a:p>
            <a:pPr algn="ctr"/>
            <a:r>
              <a:rPr lang="en-US" altLang="ko-KR" dirty="0" smtClean="0"/>
              <a:t>Yes , No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7951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0" y="98451"/>
            <a:ext cx="8915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대전상대가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수락시</a:t>
            </a:r>
            <a:r>
              <a:rPr lang="ko-KR" altLang="en-US" sz="3200" dirty="0" smtClean="0"/>
              <a:t> </a:t>
            </a:r>
            <a:r>
              <a:rPr lang="ko-KR" altLang="en-US" sz="2400" dirty="0" smtClean="0"/>
              <a:t>신청한 </a:t>
            </a:r>
            <a:r>
              <a:rPr lang="ko-KR" altLang="en-US" dirty="0" smtClean="0"/>
              <a:t>쪽에서는</a:t>
            </a:r>
            <a:r>
              <a:rPr lang="ko-KR" altLang="en-US" sz="1200" dirty="0" smtClean="0"/>
              <a:t> 다시 알림이 뜨면서 입장을 양쪽이 모두 </a:t>
            </a:r>
            <a:r>
              <a:rPr lang="ko-KR" altLang="en-US" sz="2000" dirty="0" smtClean="0"/>
              <a:t>수락할 시 </a:t>
            </a:r>
            <a:r>
              <a:rPr lang="ko-KR" altLang="en-US" sz="1200" dirty="0" smtClean="0"/>
              <a:t>대전이 성립됨</a:t>
            </a:r>
            <a:endParaRPr lang="en-US" altLang="ko-KR" sz="1600" dirty="0"/>
          </a:p>
        </p:txBody>
      </p:sp>
      <p:pic>
        <p:nvPicPr>
          <p:cNvPr id="40" name="그림 39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205" y="836712"/>
            <a:ext cx="4072142" cy="5719299"/>
          </a:xfrm>
          <a:prstGeom prst="rect">
            <a:avLst/>
          </a:prstGeom>
        </p:spPr>
      </p:pic>
      <p:pic>
        <p:nvPicPr>
          <p:cNvPr id="43" name="그림 4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7659" y="2933962"/>
            <a:ext cx="478580" cy="506731"/>
          </a:xfrm>
          <a:prstGeom prst="rect">
            <a:avLst/>
          </a:prstGeom>
        </p:spPr>
      </p:pic>
      <p:sp>
        <p:nvSpPr>
          <p:cNvPr id="44" name="이등변 삼각형 43"/>
          <p:cNvSpPr/>
          <p:nvPr/>
        </p:nvSpPr>
        <p:spPr>
          <a:xfrm>
            <a:off x="1902147" y="347637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8" name="순서도: 연결자 7"/>
          <p:cNvSpPr/>
          <p:nvPr/>
        </p:nvSpPr>
        <p:spPr>
          <a:xfrm>
            <a:off x="3182549" y="5331432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pic>
        <p:nvPicPr>
          <p:cNvPr id="56" name="그림 5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4477" y="2170663"/>
            <a:ext cx="478580" cy="506731"/>
          </a:xfrm>
          <a:prstGeom prst="rect">
            <a:avLst/>
          </a:prstGeom>
        </p:spPr>
      </p:pic>
      <p:sp>
        <p:nvSpPr>
          <p:cNvPr id="57" name="이등변 삼각형 56"/>
          <p:cNvSpPr/>
          <p:nvPr/>
        </p:nvSpPr>
        <p:spPr>
          <a:xfrm>
            <a:off x="2578475" y="2677393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cxnSp>
        <p:nvCxnSpPr>
          <p:cNvPr id="12" name="직선 화살표 연결선 11"/>
          <p:cNvCxnSpPr>
            <a:stCxn id="56" idx="1"/>
          </p:cNvCxnSpPr>
          <p:nvPr/>
        </p:nvCxnSpPr>
        <p:spPr>
          <a:xfrm flipH="1">
            <a:off x="2122276" y="2424029"/>
            <a:ext cx="412201" cy="313159"/>
          </a:xfrm>
          <a:prstGeom prst="straightConnector1">
            <a:avLst/>
          </a:prstGeom>
          <a:ln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1902147" y="2356147"/>
            <a:ext cx="48831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100" dirty="0" smtClean="0"/>
              <a:t>요청</a:t>
            </a:r>
            <a:endParaRPr lang="ko-KR" altLang="en-US" sz="1100" dirty="0"/>
          </a:p>
        </p:txBody>
      </p:sp>
      <p:sp>
        <p:nvSpPr>
          <p:cNvPr id="58" name="폭발 1 57"/>
          <p:cNvSpPr/>
          <p:nvPr/>
        </p:nvSpPr>
        <p:spPr>
          <a:xfrm>
            <a:off x="3398573" y="5113452"/>
            <a:ext cx="433727" cy="288032"/>
          </a:xfrm>
          <a:prstGeom prst="irregularSeal1">
            <a:avLst/>
          </a:prstGeom>
          <a:ln/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순서도: 연결자 27"/>
          <p:cNvSpPr/>
          <p:nvPr/>
        </p:nvSpPr>
        <p:spPr>
          <a:xfrm>
            <a:off x="2465155" y="5331432"/>
            <a:ext cx="649751" cy="502202"/>
          </a:xfrm>
          <a:prstGeom prst="flowChartConnector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sz="4000" b="1" dirty="0" smtClean="0">
                <a:solidFill>
                  <a:srgbClr val="FF0000"/>
                </a:solidFill>
              </a:rPr>
              <a:t>!</a:t>
            </a:r>
            <a:endParaRPr lang="ko-KR" altLang="en-US" sz="4000" b="1" dirty="0">
              <a:solidFill>
                <a:srgbClr val="FF0000"/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534477" y="5401484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결투</a:t>
            </a:r>
            <a:endParaRPr lang="ko-KR" altLang="en-US" sz="1200" dirty="0"/>
          </a:p>
        </p:txBody>
      </p:sp>
      <p:sp>
        <p:nvSpPr>
          <p:cNvPr id="30" name="TextBox 29"/>
          <p:cNvSpPr txBox="1"/>
          <p:nvPr/>
        </p:nvSpPr>
        <p:spPr>
          <a:xfrm>
            <a:off x="3239208" y="5444033"/>
            <a:ext cx="53643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 smtClean="0"/>
              <a:t>쪽</a:t>
            </a:r>
            <a:r>
              <a:rPr lang="ko-KR" altLang="en-US" sz="1200" dirty="0"/>
              <a:t>지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2692" y="5720240"/>
            <a:ext cx="629725" cy="76152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187386" y="5947114"/>
            <a:ext cx="62749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 smtClean="0">
                <a:solidFill>
                  <a:schemeClr val="bg2">
                    <a:lumMod val="90000"/>
                  </a:schemeClr>
                </a:solidFill>
              </a:rPr>
              <a:t>결투 클릭</a:t>
            </a:r>
            <a:endParaRPr lang="ko-KR" altLang="en-US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pic>
        <p:nvPicPr>
          <p:cNvPr id="29" name="그림 28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80728"/>
            <a:ext cx="4072142" cy="5583044"/>
          </a:xfrm>
          <a:prstGeom prst="rect">
            <a:avLst/>
          </a:prstGeom>
        </p:spPr>
      </p:pic>
      <p:sp>
        <p:nvSpPr>
          <p:cNvPr id="5" name="모서리가 둥근 직사각형 4"/>
          <p:cNvSpPr/>
          <p:nvPr/>
        </p:nvSpPr>
        <p:spPr>
          <a:xfrm>
            <a:off x="4788024" y="2836784"/>
            <a:ext cx="3672408" cy="1312296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XX </a:t>
            </a:r>
            <a:r>
              <a:rPr lang="ko-KR" altLang="en-US" dirty="0" smtClean="0"/>
              <a:t>아무개와 </a:t>
            </a:r>
            <a:r>
              <a:rPr lang="ko-KR" altLang="en-US" dirty="0" err="1" smtClean="0"/>
              <a:t>대전방으로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입장합니다</a:t>
            </a:r>
            <a:endParaRPr lang="en-US" altLang="ko-KR" dirty="0" smtClean="0"/>
          </a:p>
          <a:p>
            <a:pPr algn="ctr"/>
            <a:r>
              <a:rPr lang="en-US" altLang="ko-KR" dirty="0" smtClean="0"/>
              <a:t>Yes , No 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611978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07627" y="302313"/>
            <a:ext cx="5712903" cy="64152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27" y="302313"/>
            <a:ext cx="2647269" cy="63619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779" y="1413571"/>
            <a:ext cx="478580" cy="506731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202" y="1563668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64" y="3010507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681762" y="3517237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4" name="이등변 삼각형 23"/>
          <p:cNvSpPr/>
          <p:nvPr/>
        </p:nvSpPr>
        <p:spPr>
          <a:xfrm>
            <a:off x="1292616" y="357086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이등변 삼각형 24"/>
          <p:cNvSpPr/>
          <p:nvPr/>
        </p:nvSpPr>
        <p:spPr>
          <a:xfrm>
            <a:off x="1585246" y="1923752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367" y="3279842"/>
            <a:ext cx="666038" cy="860786"/>
          </a:xfrm>
          <a:prstGeom prst="rect">
            <a:avLst/>
          </a:prstGeom>
        </p:spPr>
      </p:pic>
      <p:sp>
        <p:nvSpPr>
          <p:cNvPr id="29" name="직사각형 28"/>
          <p:cNvSpPr/>
          <p:nvPr/>
        </p:nvSpPr>
        <p:spPr>
          <a:xfrm>
            <a:off x="5102367" y="4194006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거래소</a:t>
            </a:r>
          </a:p>
        </p:txBody>
      </p:sp>
      <p:sp>
        <p:nvSpPr>
          <p:cNvPr id="32" name="이등변 삼각형 31"/>
          <p:cNvSpPr/>
          <p:nvPr/>
        </p:nvSpPr>
        <p:spPr>
          <a:xfrm>
            <a:off x="3603683" y="2112503"/>
            <a:ext cx="423113" cy="318782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6121866" y="377506"/>
            <a:ext cx="2793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046366" y="377506"/>
            <a:ext cx="2988578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대전요청시 상대방이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OnLine</a:t>
            </a:r>
            <a:r>
              <a:rPr lang="ko-KR" altLang="en-US" dirty="0"/>
              <a:t>일시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대전이 진행되며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OffLine</a:t>
            </a:r>
            <a:r>
              <a:rPr lang="ko-KR" altLang="en-US" dirty="0"/>
              <a:t> </a:t>
            </a:r>
            <a:r>
              <a:rPr lang="ko-KR" altLang="en-US" dirty="0" err="1"/>
              <a:t>일경우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PushMessage</a:t>
            </a:r>
            <a:r>
              <a:rPr lang="ko-KR" altLang="en-US" dirty="0"/>
              <a:t>로 </a:t>
            </a:r>
            <a:r>
              <a:rPr lang="ko-KR" altLang="en-US" dirty="0" err="1"/>
              <a:t>폰알림을</a:t>
            </a:r>
            <a:r>
              <a:rPr lang="ko-KR" altLang="en-US" dirty="0"/>
              <a:t> </a:t>
            </a:r>
            <a:r>
              <a:rPr lang="ko-KR" altLang="en-US" dirty="0" err="1"/>
              <a:t>받게된다</a:t>
            </a:r>
            <a:r>
              <a:rPr lang="en-US" altLang="ko-KR" dirty="0"/>
              <a:t>.</a:t>
            </a:r>
          </a:p>
        </p:txBody>
      </p:sp>
      <p:pic>
        <p:nvPicPr>
          <p:cNvPr id="41" name="그림 4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277" y="2601417"/>
            <a:ext cx="629725" cy="76152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28" y="3028452"/>
            <a:ext cx="478580" cy="506731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6945" y="302313"/>
            <a:ext cx="2647269" cy="63619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8617" y="886419"/>
            <a:ext cx="2399788" cy="2142033"/>
          </a:xfrm>
          <a:prstGeom prst="rect">
            <a:avLst/>
          </a:prstGeom>
        </p:spPr>
      </p:pic>
      <p:sp>
        <p:nvSpPr>
          <p:cNvPr id="6" name="직사각형 5"/>
          <p:cNvSpPr/>
          <p:nvPr/>
        </p:nvSpPr>
        <p:spPr>
          <a:xfrm>
            <a:off x="3815240" y="2582661"/>
            <a:ext cx="1602893" cy="28439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400" dirty="0"/>
              <a:t>대전요청이 왔습니다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3551740" y="341786"/>
            <a:ext cx="2033540" cy="68205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Game </a:t>
            </a:r>
            <a:r>
              <a:rPr lang="ko-KR" altLang="en-US" dirty="0"/>
              <a:t>미접속시</a:t>
            </a: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627" y="1059555"/>
            <a:ext cx="2303390" cy="4606780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600426" y="300877"/>
            <a:ext cx="1733984" cy="66330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Game </a:t>
            </a:r>
            <a:r>
              <a:rPr lang="ko-KR" altLang="en-US" dirty="0" err="1"/>
              <a:t>접속중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936966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27" y="302313"/>
            <a:ext cx="2647269" cy="63619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779" y="1413571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64" y="3010507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681762" y="3517237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4" name="이등변 삼각형 23"/>
          <p:cNvSpPr/>
          <p:nvPr/>
        </p:nvSpPr>
        <p:spPr>
          <a:xfrm>
            <a:off x="1292616" y="357086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이등변 삼각형 24"/>
          <p:cNvSpPr/>
          <p:nvPr/>
        </p:nvSpPr>
        <p:spPr>
          <a:xfrm>
            <a:off x="1585246" y="1923752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6121866" y="377506"/>
            <a:ext cx="2793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3185935" y="387688"/>
            <a:ext cx="5852558" cy="63094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가위 바위 보의  총 숫자 카드 개수 </a:t>
            </a:r>
            <a:r>
              <a:rPr lang="en-US" altLang="ko-KR" dirty="0"/>
              <a:t>UI</a:t>
            </a:r>
            <a:r>
              <a:rPr lang="ko-KR" altLang="en-US" dirty="0"/>
              <a:t>의 표시는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게임을 어떻게 진행해야 유리할지 유저에게 생각할 기반이 되는 정보다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Ex:  </a:t>
            </a:r>
            <a:r>
              <a:rPr lang="ko-KR" altLang="en-US" dirty="0"/>
              <a:t>총 카드숫자가 가위가 </a:t>
            </a:r>
            <a:r>
              <a:rPr lang="en-US" altLang="ko-KR" dirty="0"/>
              <a:t>12</a:t>
            </a:r>
            <a:r>
              <a:rPr lang="ko-KR" altLang="en-US" dirty="0"/>
              <a:t>장 </a:t>
            </a:r>
            <a:r>
              <a:rPr lang="en-US" altLang="ko-KR" dirty="0"/>
              <a:t>, </a:t>
            </a:r>
            <a:r>
              <a:rPr lang="ko-KR" altLang="en-US" dirty="0"/>
              <a:t>바위가 </a:t>
            </a:r>
            <a:r>
              <a:rPr lang="en-US" altLang="ko-KR" dirty="0"/>
              <a:t>1</a:t>
            </a:r>
            <a:r>
              <a:rPr lang="ko-KR" altLang="en-US" dirty="0"/>
              <a:t>장 </a:t>
            </a:r>
            <a:r>
              <a:rPr lang="en-US" altLang="ko-KR" dirty="0"/>
              <a:t>, </a:t>
            </a:r>
            <a:r>
              <a:rPr lang="ko-KR" altLang="en-US" dirty="0"/>
              <a:t>보가 </a:t>
            </a:r>
            <a:r>
              <a:rPr lang="en-US" altLang="ko-KR" dirty="0"/>
              <a:t>3</a:t>
            </a:r>
            <a:r>
              <a:rPr lang="ko-KR" altLang="en-US" dirty="0"/>
              <a:t>장 남았다면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내가 임의의 상대랑 전투에서 승리하려면 무엇을 내는 것이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확률적으로 유리한지 생각할 수 있다</a:t>
            </a:r>
            <a:r>
              <a:rPr lang="en-US" altLang="ko-KR" dirty="0"/>
              <a:t>. 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sz="2000" dirty="0"/>
              <a:t>게임에서 승리하게 되면 상대의 </a:t>
            </a:r>
            <a:r>
              <a:rPr lang="ko-KR" altLang="en-US" sz="2000" dirty="0">
                <a:solidFill>
                  <a:srgbClr val="FF0000"/>
                </a:solidFill>
              </a:rPr>
              <a:t>별을 </a:t>
            </a:r>
            <a:r>
              <a:rPr lang="en-US" altLang="ko-KR" sz="2000" dirty="0">
                <a:solidFill>
                  <a:srgbClr val="FF0000"/>
                </a:solidFill>
              </a:rPr>
              <a:t>1</a:t>
            </a:r>
            <a:r>
              <a:rPr lang="ko-KR" altLang="en-US" sz="2000" dirty="0">
                <a:solidFill>
                  <a:srgbClr val="FF0000"/>
                </a:solidFill>
              </a:rPr>
              <a:t>개 가져오게 된다</a:t>
            </a:r>
            <a:r>
              <a:rPr lang="en-US" altLang="ko-KR" sz="2000" dirty="0">
                <a:solidFill>
                  <a:srgbClr val="FF0000"/>
                </a:solidFill>
              </a:rPr>
              <a:t>. </a:t>
            </a:r>
          </a:p>
          <a:p>
            <a:endParaRPr lang="en-US" altLang="ko-KR" sz="2000" dirty="0"/>
          </a:p>
          <a:p>
            <a:r>
              <a:rPr lang="ko-KR" altLang="en-US" sz="2000" dirty="0"/>
              <a:t>사용된 카드는 버려지게 되며 </a:t>
            </a:r>
            <a:r>
              <a:rPr lang="en-US" altLang="ko-KR" sz="2000" dirty="0"/>
              <a:t>, </a:t>
            </a:r>
            <a:r>
              <a:rPr lang="ko-KR" altLang="en-US" sz="2000" dirty="0"/>
              <a:t>무승부는 카드만 소모된다</a:t>
            </a:r>
            <a:r>
              <a:rPr lang="en-US" altLang="ko-KR" sz="2000" dirty="0"/>
              <a:t>. </a:t>
            </a:r>
          </a:p>
          <a:p>
            <a:endParaRPr lang="en-US" altLang="ko-KR" sz="2000" dirty="0"/>
          </a:p>
          <a:p>
            <a:r>
              <a:rPr lang="ko-KR" altLang="en-US" sz="1600" dirty="0">
                <a:solidFill>
                  <a:srgbClr val="0070C0"/>
                </a:solidFill>
              </a:rPr>
              <a:t>★ 별을 모두 빼앗긴 유저는 </a:t>
            </a:r>
            <a:r>
              <a:rPr lang="ko-KR" altLang="en-US" sz="1600" dirty="0" smtClean="0">
                <a:solidFill>
                  <a:srgbClr val="0070C0"/>
                </a:solidFill>
              </a:rPr>
              <a:t>게임 </a:t>
            </a:r>
            <a:r>
              <a:rPr lang="ko-KR" altLang="en-US" sz="1600" dirty="0">
                <a:solidFill>
                  <a:srgbClr val="0070C0"/>
                </a:solidFill>
              </a:rPr>
              <a:t>아웃 </a:t>
            </a:r>
            <a:r>
              <a:rPr lang="ko-KR" altLang="en-US" sz="1600" dirty="0" smtClean="0">
                <a:solidFill>
                  <a:srgbClr val="0070C0"/>
                </a:solidFill>
              </a:rPr>
              <a:t>처리 되지 않는다</a:t>
            </a:r>
            <a:endParaRPr lang="en-US" altLang="ko-KR" sz="1600" dirty="0" smtClean="0">
              <a:solidFill>
                <a:srgbClr val="0070C0"/>
              </a:solidFill>
            </a:endParaRPr>
          </a:p>
          <a:p>
            <a:r>
              <a:rPr lang="ko-KR" altLang="en-US" sz="1600" dirty="0" smtClean="0">
                <a:solidFill>
                  <a:srgbClr val="0070C0"/>
                </a:solidFill>
              </a:rPr>
              <a:t>내부에서 다른 유저와 커뮤니케이션이 계속 가능하다 </a:t>
            </a:r>
            <a:endParaRPr lang="en-US" altLang="ko-KR" sz="1600" dirty="0"/>
          </a:p>
        </p:txBody>
      </p:sp>
      <p:pic>
        <p:nvPicPr>
          <p:cNvPr id="41" name="그림 4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277" y="2601417"/>
            <a:ext cx="629725" cy="76152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28" y="3028452"/>
            <a:ext cx="478580" cy="506731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627" y="1059555"/>
            <a:ext cx="2303390" cy="4606780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600426" y="300877"/>
            <a:ext cx="1733984" cy="66330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Game </a:t>
            </a:r>
            <a:r>
              <a:rPr lang="ko-KR" altLang="en-US" dirty="0" err="1"/>
              <a:t>접속중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02023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627" y="302313"/>
            <a:ext cx="2647269" cy="63619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779" y="1413571"/>
            <a:ext cx="478580" cy="506731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202" y="1563668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764" y="3010507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681762" y="3517237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24" name="이등변 삼각형 23"/>
          <p:cNvSpPr/>
          <p:nvPr/>
        </p:nvSpPr>
        <p:spPr>
          <a:xfrm>
            <a:off x="1292616" y="357086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이등변 삼각형 24"/>
          <p:cNvSpPr/>
          <p:nvPr/>
        </p:nvSpPr>
        <p:spPr>
          <a:xfrm>
            <a:off x="1585246" y="1923752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367" y="3279842"/>
            <a:ext cx="666038" cy="860786"/>
          </a:xfrm>
          <a:prstGeom prst="rect">
            <a:avLst/>
          </a:prstGeom>
        </p:spPr>
      </p:pic>
      <p:sp>
        <p:nvSpPr>
          <p:cNvPr id="29" name="직사각형 28"/>
          <p:cNvSpPr/>
          <p:nvPr/>
        </p:nvSpPr>
        <p:spPr>
          <a:xfrm>
            <a:off x="5102367" y="4194006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거래소</a:t>
            </a:r>
          </a:p>
        </p:txBody>
      </p:sp>
      <p:sp>
        <p:nvSpPr>
          <p:cNvPr id="32" name="이등변 삼각형 31"/>
          <p:cNvSpPr/>
          <p:nvPr/>
        </p:nvSpPr>
        <p:spPr>
          <a:xfrm>
            <a:off x="3603683" y="2112503"/>
            <a:ext cx="423113" cy="318782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42" name="TextBox 41"/>
          <p:cNvSpPr txBox="1"/>
          <p:nvPr/>
        </p:nvSpPr>
        <p:spPr>
          <a:xfrm>
            <a:off x="6121866" y="377506"/>
            <a:ext cx="279353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6046366" y="377506"/>
            <a:ext cx="2988578" cy="64633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 smtClean="0"/>
              <a:t>SNS </a:t>
            </a:r>
            <a:r>
              <a:rPr lang="ko-KR" altLang="en-US" dirty="0" smtClean="0"/>
              <a:t>게임의 </a:t>
            </a:r>
            <a:r>
              <a:rPr lang="ko-KR" altLang="en-US" dirty="0" err="1" smtClean="0"/>
              <a:t>전투이다보니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가위 바위 보 의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결과화면만 </a:t>
            </a:r>
            <a:r>
              <a:rPr lang="ko-KR" altLang="en-US" dirty="0" err="1" smtClean="0"/>
              <a:t>보여주게되면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게임으로써 더 이상 즐길 필요성을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못느끼게된다</a:t>
            </a:r>
            <a:r>
              <a:rPr lang="en-US" altLang="ko-KR" dirty="0" smtClean="0"/>
              <a:t>. 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 smtClean="0"/>
              <a:t>승리했을시와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패배했을시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애니메이션과 </a:t>
            </a:r>
            <a:r>
              <a:rPr lang="en-US" altLang="ko-KR" dirty="0" smtClean="0"/>
              <a:t>Tween</a:t>
            </a:r>
            <a:r>
              <a:rPr lang="ko-KR" altLang="en-US" dirty="0" smtClean="0"/>
              <a:t>효과를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활용하여 정말로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승부에서 패배 혹은 승리했다는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느낌을 주는 부분이 반드시 필요하다</a:t>
            </a:r>
            <a:endParaRPr lang="en-US" altLang="ko-KR" dirty="0" smtClean="0"/>
          </a:p>
        </p:txBody>
      </p:sp>
      <p:pic>
        <p:nvPicPr>
          <p:cNvPr id="41" name="그림 40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9277" y="2601417"/>
            <a:ext cx="629725" cy="761528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8128" y="3028452"/>
            <a:ext cx="478580" cy="506731"/>
          </a:xfrm>
          <a:prstGeom prst="rect">
            <a:avLst/>
          </a:prstGeom>
        </p:spPr>
      </p:pic>
      <p:pic>
        <p:nvPicPr>
          <p:cNvPr id="26" name="그림 2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46945" y="302313"/>
            <a:ext cx="2647269" cy="6361900"/>
          </a:xfrm>
          <a:prstGeom prst="rect">
            <a:avLst/>
          </a:prstGeom>
        </p:spPr>
      </p:pic>
      <p:sp>
        <p:nvSpPr>
          <p:cNvPr id="7" name="직사각형 6"/>
          <p:cNvSpPr/>
          <p:nvPr/>
        </p:nvSpPr>
        <p:spPr>
          <a:xfrm>
            <a:off x="3551740" y="341786"/>
            <a:ext cx="2033540" cy="682050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결과</a:t>
            </a:r>
            <a:endParaRPr lang="ko-KR" altLang="en-US" dirty="0"/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8627" y="1059555"/>
            <a:ext cx="2303390" cy="4606780"/>
          </a:xfrm>
          <a:prstGeom prst="rect">
            <a:avLst/>
          </a:prstGeom>
        </p:spPr>
      </p:pic>
      <p:sp>
        <p:nvSpPr>
          <p:cNvPr id="43" name="직사각형 42"/>
          <p:cNvSpPr/>
          <p:nvPr/>
        </p:nvSpPr>
        <p:spPr>
          <a:xfrm>
            <a:off x="600426" y="300877"/>
            <a:ext cx="1733984" cy="663308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전투 </a:t>
            </a:r>
            <a:r>
              <a:rPr lang="ko-KR" altLang="en-US" dirty="0" err="1" smtClean="0"/>
              <a:t>시작전</a:t>
            </a:r>
            <a:endParaRPr lang="ko-KR" altLang="en-US" dirty="0"/>
          </a:p>
        </p:txBody>
      </p:sp>
      <p:pic>
        <p:nvPicPr>
          <p:cNvPr id="6146" name="Picture 2" descr="C:\Users\goldenboy\Desktop\전투화면.jpg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46585" y="1296302"/>
            <a:ext cx="2237153" cy="42682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681520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51" y="186984"/>
            <a:ext cx="2647269" cy="6361900"/>
          </a:xfrm>
          <a:prstGeom prst="rect">
            <a:avLst/>
          </a:prstGeom>
        </p:spPr>
      </p:pic>
      <p:pic>
        <p:nvPicPr>
          <p:cNvPr id="8195" name="Picture 3" descr="C:\Users\goldenboy\Desktop\거래화면2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3741" y="1325930"/>
            <a:ext cx="1623139" cy="238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그림 20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8300" y="2803669"/>
            <a:ext cx="478580" cy="506731"/>
          </a:xfrm>
          <a:prstGeom prst="rect">
            <a:avLst/>
          </a:prstGeom>
        </p:spPr>
      </p:pic>
      <p:sp>
        <p:nvSpPr>
          <p:cNvPr id="26" name="이등변 삼각형 25"/>
          <p:cNvSpPr/>
          <p:nvPr/>
        </p:nvSpPr>
        <p:spPr>
          <a:xfrm>
            <a:off x="1592788" y="3346082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pic>
        <p:nvPicPr>
          <p:cNvPr id="27" name="그림 2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9663" y="1856466"/>
            <a:ext cx="478580" cy="506731"/>
          </a:xfrm>
          <a:prstGeom prst="rect">
            <a:avLst/>
          </a:prstGeom>
        </p:spPr>
      </p:pic>
      <p:sp>
        <p:nvSpPr>
          <p:cNvPr id="28" name="이등변 삼각형 27"/>
          <p:cNvSpPr/>
          <p:nvPr/>
        </p:nvSpPr>
        <p:spPr>
          <a:xfrm>
            <a:off x="1725130" y="2366647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6" name="TextBox 5"/>
          <p:cNvSpPr txBox="1"/>
          <p:nvPr/>
        </p:nvSpPr>
        <p:spPr>
          <a:xfrm>
            <a:off x="3182816" y="296986"/>
            <a:ext cx="5867400" cy="51090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ko-KR" altLang="en-US" sz="3200" dirty="0" smtClean="0"/>
              <a:t>게임 카드 및 별 거래 </a:t>
            </a:r>
            <a:r>
              <a:rPr lang="en-US" altLang="ko-KR" sz="3200" dirty="0" smtClean="0"/>
              <a:t>1 </a:t>
            </a:r>
            <a:r>
              <a:rPr lang="ko-KR" altLang="en-US" sz="3200" dirty="0" smtClean="0"/>
              <a:t>안</a:t>
            </a:r>
            <a:endParaRPr lang="en-US" altLang="ko-KR" sz="3200" dirty="0" smtClean="0"/>
          </a:p>
          <a:p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endParaRPr lang="en-US" altLang="ko-KR" sz="1400" dirty="0" smtClean="0"/>
          </a:p>
          <a:p>
            <a:r>
              <a:rPr lang="ko-KR" altLang="en-US" sz="1400" dirty="0" smtClean="0"/>
              <a:t>전략적 승리를 위한 필수요소 거래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r>
              <a:rPr lang="en-US" altLang="ko-KR" sz="1400" dirty="0" smtClean="0"/>
              <a:t>1:1 </a:t>
            </a:r>
            <a:r>
              <a:rPr lang="ko-KR" altLang="en-US" sz="1400" dirty="0" smtClean="0"/>
              <a:t>거래가 가능하게 할 것이라면 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err="1" smtClean="0"/>
              <a:t>리니지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1</a:t>
            </a:r>
            <a:r>
              <a:rPr lang="ko-KR" altLang="en-US" sz="1400" dirty="0" smtClean="0"/>
              <a:t>의 거래시스템을 채택하는 것도 나쁘지 않을듯하다 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별과 카드는 개인간 거래가 가능한 것이 게임에 대한 </a:t>
            </a:r>
            <a:r>
              <a:rPr lang="ko-KR" altLang="en-US" sz="1400" dirty="0" err="1" smtClean="0"/>
              <a:t>자유도를</a:t>
            </a:r>
            <a:r>
              <a:rPr lang="ko-KR" altLang="en-US" sz="1400" dirty="0" smtClean="0"/>
              <a:t> 높여줄 것이다</a:t>
            </a:r>
            <a:r>
              <a:rPr lang="en-US" altLang="ko-KR" sz="1400" dirty="0" smtClean="0"/>
              <a:t>. </a:t>
            </a:r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17983190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51" y="18698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82816" y="296985"/>
            <a:ext cx="5867400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ko-KR" altLang="en-US" sz="3200" dirty="0" smtClean="0"/>
              <a:t>게임 카드 및 별 거래 </a:t>
            </a:r>
            <a:r>
              <a:rPr lang="en-US" altLang="ko-KR" sz="3200" dirty="0" smtClean="0"/>
              <a:t>2 </a:t>
            </a:r>
            <a:r>
              <a:rPr lang="ko-KR" altLang="en-US" sz="3200" dirty="0" smtClean="0"/>
              <a:t>안</a:t>
            </a:r>
            <a:endParaRPr lang="en-US" altLang="ko-KR" sz="3200" dirty="0" smtClean="0"/>
          </a:p>
          <a:p>
            <a:r>
              <a:rPr lang="en-US" altLang="ko-KR" sz="1400" dirty="0" smtClean="0"/>
              <a:t/>
            </a:r>
            <a:br>
              <a:rPr lang="en-US" altLang="ko-KR" sz="1400" dirty="0" smtClean="0"/>
            </a:br>
            <a:endParaRPr lang="en-US" altLang="ko-KR" sz="1400" dirty="0" smtClean="0"/>
          </a:p>
          <a:p>
            <a:r>
              <a:rPr lang="ko-KR" altLang="en-US" sz="1400" dirty="0" smtClean="0"/>
              <a:t>전략적 승리를 위한 필수요소 거래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경매 시스템을 </a:t>
            </a:r>
            <a:r>
              <a:rPr lang="ko-KR" altLang="en-US" sz="1400" dirty="0" err="1" smtClean="0"/>
              <a:t>이용한거래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누가 </a:t>
            </a:r>
            <a:r>
              <a:rPr lang="ko-KR" altLang="en-US" sz="1400" dirty="0" err="1" smtClean="0"/>
              <a:t>판매한것이지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알수</a:t>
            </a:r>
            <a:r>
              <a:rPr lang="ko-KR" altLang="en-US" sz="1400" dirty="0" smtClean="0"/>
              <a:t> 없으나 내가 </a:t>
            </a:r>
            <a:r>
              <a:rPr lang="ko-KR" altLang="en-US" sz="1400" dirty="0" err="1" smtClean="0"/>
              <a:t>사고싶은</a:t>
            </a:r>
            <a:r>
              <a:rPr lang="ko-KR" altLang="en-US" sz="1400" dirty="0" smtClean="0"/>
              <a:t> 카드 및 별의 가격과 수량이 올라와있으며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err="1" smtClean="0"/>
              <a:t>리스트중에서</a:t>
            </a:r>
            <a:r>
              <a:rPr lang="ko-KR" altLang="en-US" sz="1400" dirty="0" smtClean="0"/>
              <a:t> 임의 선택해서 거래가 가능하게 하는 시스템 </a:t>
            </a:r>
            <a:endParaRPr lang="en-US" altLang="ko-KR" sz="1400" dirty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pic>
        <p:nvPicPr>
          <p:cNvPr id="9218" name="Picture 2" descr="C:\Users\goldenboy\Desktop\거래화면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84" y="1303389"/>
            <a:ext cx="2262647" cy="3080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433719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51" y="18698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82816" y="296986"/>
            <a:ext cx="5867400" cy="69249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ko-KR" altLang="en-US" sz="3200" dirty="0" smtClean="0"/>
              <a:t>게임 카드 및 별 거래 </a:t>
            </a:r>
            <a:r>
              <a:rPr lang="ko-KR" altLang="en-US" sz="3200" dirty="0" err="1" smtClean="0"/>
              <a:t>노림수</a:t>
            </a:r>
            <a:r>
              <a:rPr lang="en-US" altLang="ko-KR" sz="3200" dirty="0" smtClean="0"/>
              <a:t>?!</a:t>
            </a:r>
          </a:p>
          <a:p>
            <a:pPr marL="457200" indent="-457200">
              <a:buFontTx/>
              <a:buChar char="-"/>
            </a:pPr>
            <a:endParaRPr lang="en-US" altLang="ko-KR" sz="3200" dirty="0" smtClean="0"/>
          </a:p>
          <a:p>
            <a:r>
              <a:rPr lang="ko-KR" altLang="en-US" sz="2000" dirty="0" smtClean="0"/>
              <a:t>게임의 재화는 </a:t>
            </a:r>
            <a:r>
              <a:rPr lang="en-US" altLang="ko-KR" sz="2000" dirty="0" smtClean="0"/>
              <a:t>1</a:t>
            </a:r>
            <a:r>
              <a:rPr lang="ko-KR" altLang="en-US" sz="2000" dirty="0" smtClean="0"/>
              <a:t>종류</a:t>
            </a:r>
            <a:endParaRPr lang="en-US" altLang="ko-KR" sz="2000" dirty="0" smtClean="0"/>
          </a:p>
          <a:p>
            <a:r>
              <a:rPr lang="ko-KR" altLang="en-US" sz="2000" dirty="0" err="1" smtClean="0"/>
              <a:t>게임머니</a:t>
            </a:r>
            <a:r>
              <a:rPr lang="ko-KR" altLang="en-US" sz="2000" dirty="0" smtClean="0"/>
              <a:t> </a:t>
            </a:r>
            <a:r>
              <a:rPr lang="en-US" altLang="ko-KR" sz="2000" dirty="0" smtClean="0"/>
              <a:t>1</a:t>
            </a:r>
            <a:r>
              <a:rPr lang="ko-KR" altLang="en-US" sz="2000" dirty="0" smtClean="0"/>
              <a:t>가지</a:t>
            </a:r>
            <a:endParaRPr lang="en-US" altLang="ko-KR" sz="20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게임 내 </a:t>
            </a:r>
            <a:r>
              <a:rPr lang="ko-KR" altLang="en-US" sz="1400" dirty="0" err="1"/>
              <a:t>게임머니로</a:t>
            </a:r>
            <a:r>
              <a:rPr lang="ko-KR" altLang="en-US" sz="1400" dirty="0"/>
              <a:t> 구매할 수 </a:t>
            </a:r>
            <a:r>
              <a:rPr lang="ko-KR" altLang="en-US" sz="1400" dirty="0" smtClean="0"/>
              <a:t>아이템이 현금가치가 있고 또한 게임 내부적으로</a:t>
            </a:r>
            <a:endParaRPr lang="en-US" altLang="ko-KR" sz="1400" dirty="0" smtClean="0"/>
          </a:p>
          <a:p>
            <a:r>
              <a:rPr lang="ko-KR" altLang="en-US" sz="1400" dirty="0"/>
              <a:t>게임 내 아이템이 이동이 가능하다는 것이 의미하는 </a:t>
            </a:r>
            <a:r>
              <a:rPr lang="ko-KR" altLang="en-US" sz="1400" dirty="0" smtClean="0"/>
              <a:t>것은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err="1" smtClean="0"/>
              <a:t>게임머니를</a:t>
            </a:r>
            <a:r>
              <a:rPr lang="ko-KR" altLang="en-US" sz="1400" dirty="0" smtClean="0"/>
              <a:t> 우회적으로 현금화 </a:t>
            </a:r>
            <a:r>
              <a:rPr lang="ko-KR" altLang="en-US" sz="1400" dirty="0" err="1" smtClean="0"/>
              <a:t>시킬수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있다는것을</a:t>
            </a:r>
            <a:r>
              <a:rPr lang="ko-KR" altLang="en-US" sz="1400" dirty="0" smtClean="0"/>
              <a:t> 의미하며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이러한 시스템은 지극히 개인적인 생각으로 </a:t>
            </a:r>
            <a:endParaRPr lang="en-US" altLang="ko-KR" sz="1400" dirty="0" smtClean="0"/>
          </a:p>
          <a:p>
            <a:endParaRPr lang="en-US" altLang="ko-KR" sz="1400" dirty="0" smtClean="0"/>
          </a:p>
          <a:p>
            <a:r>
              <a:rPr lang="ko-KR" altLang="en-US" sz="1400" dirty="0" err="1" smtClean="0"/>
              <a:t>리니지</a:t>
            </a:r>
            <a:r>
              <a:rPr lang="ko-KR" altLang="en-US" sz="1400" dirty="0" smtClean="0"/>
              <a:t> </a:t>
            </a:r>
            <a:r>
              <a:rPr lang="en-US" altLang="ko-KR" sz="1400" dirty="0" smtClean="0"/>
              <a:t>1</a:t>
            </a:r>
            <a:r>
              <a:rPr lang="ko-KR" altLang="en-US" sz="1400" dirty="0" smtClean="0"/>
              <a:t>이 현재까지 수많은 유저를 </a:t>
            </a:r>
            <a:r>
              <a:rPr lang="ko-KR" altLang="en-US" sz="1400" dirty="0" err="1" smtClean="0"/>
              <a:t>확보하게한</a:t>
            </a:r>
            <a:r>
              <a:rPr lang="ko-KR" altLang="en-US" sz="1400" dirty="0" smtClean="0"/>
              <a:t> 원동력으로 생각한다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어디까지 법적으로 가능한지 </a:t>
            </a:r>
            <a:r>
              <a:rPr lang="ko-KR" altLang="en-US" sz="1400" dirty="0" err="1" smtClean="0"/>
              <a:t>따져봐야하는</a:t>
            </a:r>
            <a:r>
              <a:rPr lang="ko-KR" altLang="en-US" sz="1400" dirty="0" smtClean="0"/>
              <a:t> 부분이다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팀원들의 의견을 들어보고 결정한다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smtClean="0"/>
              <a:t>- </a:t>
            </a:r>
            <a:r>
              <a:rPr lang="ko-KR" altLang="en-US" sz="1400" dirty="0" err="1" smtClean="0"/>
              <a:t>게임머니</a:t>
            </a:r>
            <a:r>
              <a:rPr lang="ko-KR" altLang="en-US" sz="1400" dirty="0" smtClean="0"/>
              <a:t> 인플레이션을 반드시 </a:t>
            </a:r>
            <a:r>
              <a:rPr lang="ko-KR" altLang="en-US" sz="1400" dirty="0" err="1" smtClean="0"/>
              <a:t>방지해야하는</a:t>
            </a:r>
            <a:r>
              <a:rPr lang="ko-KR" altLang="en-US" sz="1400" dirty="0" smtClean="0"/>
              <a:t> 이유 중  하나이다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pic>
        <p:nvPicPr>
          <p:cNvPr id="9218" name="Picture 2" descr="C:\Users\goldenboy\Desktop\거래화면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84" y="1303389"/>
            <a:ext cx="2262647" cy="30808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58905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899" y="293924"/>
            <a:ext cx="2647269" cy="6361900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582987" y="2337420"/>
            <a:ext cx="2111091" cy="1045074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현재 게임중인 </a:t>
            </a:r>
            <a:endParaRPr lang="en-US" altLang="ko-KR" dirty="0" smtClean="0"/>
          </a:p>
          <a:p>
            <a:pPr algn="ctr"/>
            <a:r>
              <a:rPr lang="ko-KR" altLang="en-US" dirty="0" smtClean="0"/>
              <a:t>방으로 입장합니다</a:t>
            </a:r>
            <a:r>
              <a:rPr lang="en-US" altLang="ko-KR" dirty="0" smtClean="0"/>
              <a:t>.</a:t>
            </a:r>
            <a:endParaRPr lang="ko-KR" altLang="en-US" dirty="0"/>
          </a:p>
        </p:txBody>
      </p:sp>
      <p:sp>
        <p:nvSpPr>
          <p:cNvPr id="2" name="TextBox 1"/>
          <p:cNvSpPr txBox="1"/>
          <p:nvPr/>
        </p:nvSpPr>
        <p:spPr>
          <a:xfrm>
            <a:off x="3275856" y="471438"/>
            <a:ext cx="5616624" cy="60631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ko-KR" altLang="en-US" sz="2800" dirty="0" smtClean="0"/>
              <a:t>게임의 </a:t>
            </a:r>
            <a:r>
              <a:rPr lang="ko-KR" altLang="en-US" sz="2800" dirty="0" err="1" smtClean="0"/>
              <a:t>재입장</a:t>
            </a:r>
            <a:endParaRPr lang="en-US" altLang="ko-KR" sz="2800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r>
              <a:rPr lang="en-US" altLang="ko-KR" sz="1200" dirty="0"/>
              <a:t>Take (</a:t>
            </a:r>
            <a:r>
              <a:rPr lang="ko-KR" altLang="en-US" sz="1200" dirty="0"/>
              <a:t>가제 </a:t>
            </a:r>
            <a:r>
              <a:rPr lang="en-US" altLang="ko-KR" sz="1200" dirty="0"/>
              <a:t>) </a:t>
            </a:r>
            <a:r>
              <a:rPr lang="ko-KR" altLang="en-US" sz="1200" dirty="0"/>
              <a:t>게임은 상시 접속 게임이 아니다</a:t>
            </a:r>
            <a:r>
              <a:rPr lang="en-US" altLang="ko-KR" sz="1200" dirty="0"/>
              <a:t>. </a:t>
            </a:r>
          </a:p>
          <a:p>
            <a:endParaRPr lang="en-US" altLang="ko-KR" sz="1200" dirty="0"/>
          </a:p>
          <a:p>
            <a:r>
              <a:rPr lang="ko-KR" altLang="en-US" sz="1200" dirty="0"/>
              <a:t>임의 게임 시간 동안 게임의 탈출 및 재 입장이 가능하다 </a:t>
            </a:r>
            <a:endParaRPr lang="en-US" altLang="ko-KR" sz="1200" dirty="0"/>
          </a:p>
          <a:p>
            <a:r>
              <a:rPr lang="en-US" altLang="ko-KR" sz="1200" dirty="0"/>
              <a:t>(</a:t>
            </a:r>
            <a:r>
              <a:rPr lang="ko-KR" altLang="en-US" sz="1200" dirty="0"/>
              <a:t>별을 다 소모하지 않았다는 가정하에 </a:t>
            </a:r>
            <a:r>
              <a:rPr lang="en-US" altLang="ko-KR" sz="1200" dirty="0" smtClean="0"/>
              <a:t>)</a:t>
            </a:r>
          </a:p>
          <a:p>
            <a:endParaRPr lang="en-US" altLang="ko-KR" sz="1200" dirty="0"/>
          </a:p>
          <a:p>
            <a:endParaRPr lang="en-US" altLang="ko-KR" sz="1200" dirty="0" smtClean="0"/>
          </a:p>
          <a:p>
            <a:r>
              <a:rPr lang="ko-KR" altLang="en-US" sz="1200" dirty="0" smtClean="0"/>
              <a:t>게임이 끝나지 않은 상태에서 </a:t>
            </a:r>
            <a:r>
              <a:rPr lang="ko-KR" altLang="en-US" sz="1200" dirty="0" err="1" smtClean="0"/>
              <a:t>앱종료</a:t>
            </a:r>
            <a:r>
              <a:rPr lang="ko-KR" altLang="en-US" sz="1200" dirty="0" smtClean="0"/>
              <a:t> 후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다시 재 </a:t>
            </a:r>
            <a:r>
              <a:rPr lang="ko-KR" altLang="en-US" sz="1200" dirty="0" err="1" smtClean="0"/>
              <a:t>접속시</a:t>
            </a:r>
            <a:r>
              <a:rPr lang="ko-KR" altLang="en-US" sz="1200" dirty="0" smtClean="0"/>
              <a:t> 현재 게임이 진행되어있던 방으로 즉시 진입하는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프로세스를 </a:t>
            </a:r>
            <a:r>
              <a:rPr lang="ko-KR" altLang="en-US" sz="1200" dirty="0" err="1" smtClean="0"/>
              <a:t>타게되며</a:t>
            </a:r>
            <a:r>
              <a:rPr lang="ko-KR" altLang="en-US" sz="1200" dirty="0" smtClean="0"/>
              <a:t> </a:t>
            </a:r>
            <a:endParaRPr lang="en-US" altLang="ko-KR" sz="1200" dirty="0" smtClean="0"/>
          </a:p>
          <a:p>
            <a:endParaRPr lang="en-US" altLang="ko-KR" sz="1200" dirty="0"/>
          </a:p>
          <a:p>
            <a:endParaRPr lang="en-US" altLang="ko-KR" sz="1200" dirty="0" smtClean="0"/>
          </a:p>
          <a:p>
            <a:r>
              <a:rPr lang="ko-KR" altLang="en-US" sz="1200" dirty="0" smtClean="0"/>
              <a:t>유저가 </a:t>
            </a:r>
            <a:r>
              <a:rPr lang="ko-KR" altLang="en-US" sz="1200" dirty="0" err="1" smtClean="0"/>
              <a:t>플레이하는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게임방에서</a:t>
            </a:r>
            <a:r>
              <a:rPr lang="ko-KR" altLang="en-US" sz="1200" dirty="0" smtClean="0"/>
              <a:t> 강제 탈출하고 싶다면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별을 모두 다른 사람에게 </a:t>
            </a:r>
            <a:r>
              <a:rPr lang="ko-KR" altLang="en-US" sz="1200" dirty="0" err="1" smtClean="0"/>
              <a:t>갈취당하는</a:t>
            </a:r>
            <a:r>
              <a:rPr lang="ko-KR" altLang="en-US" sz="1200" dirty="0" smtClean="0"/>
              <a:t> </a:t>
            </a:r>
            <a:r>
              <a:rPr lang="ko-KR" altLang="en-US" sz="1200" dirty="0" err="1" smtClean="0"/>
              <a:t>방법이외에는</a:t>
            </a:r>
            <a:r>
              <a:rPr lang="ko-KR" altLang="en-US" sz="1200" dirty="0" smtClean="0"/>
              <a:t> 없다</a:t>
            </a:r>
            <a:r>
              <a:rPr lang="en-US" altLang="ko-KR" sz="1200" dirty="0" smtClean="0"/>
              <a:t>. </a:t>
            </a:r>
          </a:p>
          <a:p>
            <a:endParaRPr lang="en-US" altLang="ko-KR" sz="1200" dirty="0"/>
          </a:p>
          <a:p>
            <a:r>
              <a:rPr lang="en-US" altLang="ko-KR" sz="1200" dirty="0" smtClean="0"/>
              <a:t>( </a:t>
            </a:r>
            <a:r>
              <a:rPr lang="ko-KR" altLang="en-US" sz="1200" dirty="0" smtClean="0"/>
              <a:t>별은 판매도 가능하다</a:t>
            </a:r>
            <a:r>
              <a:rPr lang="en-US" altLang="ko-KR" sz="1200" dirty="0" smtClean="0"/>
              <a:t>.  </a:t>
            </a:r>
          </a:p>
          <a:p>
            <a:endParaRPr lang="en-US" altLang="ko-KR" sz="1200" dirty="0"/>
          </a:p>
          <a:p>
            <a:r>
              <a:rPr lang="ko-KR" altLang="en-US" sz="1200" dirty="0" smtClean="0"/>
              <a:t>별 </a:t>
            </a:r>
            <a:r>
              <a:rPr lang="ko-KR" altLang="en-US" sz="1200" dirty="0" err="1" smtClean="0"/>
              <a:t>판매시</a:t>
            </a:r>
            <a:r>
              <a:rPr lang="ko-KR" altLang="en-US" sz="1200" dirty="0" smtClean="0"/>
              <a:t> 조건 별을 </a:t>
            </a:r>
            <a:r>
              <a:rPr lang="en-US" altLang="ko-KR" sz="1200" dirty="0" smtClean="0"/>
              <a:t>1</a:t>
            </a:r>
            <a:r>
              <a:rPr lang="ko-KR" altLang="en-US" sz="1200" dirty="0" err="1" smtClean="0"/>
              <a:t>개이상</a:t>
            </a:r>
            <a:r>
              <a:rPr lang="ko-KR" altLang="en-US" sz="1200" dirty="0" smtClean="0"/>
              <a:t> 가지고 있어야 가능하며 </a:t>
            </a:r>
            <a:endParaRPr lang="en-US" altLang="ko-KR" sz="1200" dirty="0" smtClean="0"/>
          </a:p>
          <a:p>
            <a:endParaRPr lang="en-US" altLang="ko-KR" sz="1200" dirty="0"/>
          </a:p>
          <a:p>
            <a:r>
              <a:rPr lang="ko-KR" altLang="en-US" sz="1200" dirty="0" smtClean="0"/>
              <a:t>마지막 남은 </a:t>
            </a:r>
            <a:r>
              <a:rPr lang="en-US" altLang="ko-KR" sz="1200" dirty="0" smtClean="0"/>
              <a:t>1</a:t>
            </a:r>
            <a:r>
              <a:rPr lang="ko-KR" altLang="en-US" sz="1200" dirty="0" smtClean="0"/>
              <a:t>개마저 별을 판매할 수 는 없다 </a:t>
            </a:r>
            <a:r>
              <a:rPr lang="en-US" altLang="ko-KR" sz="1200" dirty="0" smtClean="0"/>
              <a:t>)</a:t>
            </a:r>
          </a:p>
          <a:p>
            <a:endParaRPr lang="en-US" altLang="ko-KR" sz="1200" dirty="0"/>
          </a:p>
          <a:p>
            <a:pPr marL="171450" indent="-171450">
              <a:buFont typeface="Arial" charset="0"/>
              <a:buChar char="•"/>
            </a:pPr>
            <a:r>
              <a:rPr lang="ko-KR" altLang="en-US" sz="1200" dirty="0" smtClean="0"/>
              <a:t>이 부분 고민이 필요하다 별이 없어도 계속 </a:t>
            </a:r>
            <a:r>
              <a:rPr lang="ko-KR" altLang="en-US" sz="1200" dirty="0" err="1" smtClean="0"/>
              <a:t>게임방에</a:t>
            </a:r>
            <a:r>
              <a:rPr lang="ko-KR" altLang="en-US" sz="1200" dirty="0" smtClean="0"/>
              <a:t> 남아있게 할 것인가</a:t>
            </a:r>
            <a:r>
              <a:rPr lang="en-US" altLang="ko-KR" sz="1200" dirty="0" smtClean="0"/>
              <a:t>? </a:t>
            </a:r>
          </a:p>
          <a:p>
            <a:endParaRPr lang="en-US" altLang="ko-KR" sz="1200" dirty="0" smtClean="0"/>
          </a:p>
          <a:p>
            <a:endParaRPr lang="en-US" altLang="ko-KR" sz="1200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051055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251" y="186984"/>
            <a:ext cx="2647269" cy="63619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182816" y="296986"/>
            <a:ext cx="5867400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Tx/>
              <a:buChar char="-"/>
            </a:pPr>
            <a:r>
              <a:rPr lang="ko-KR" altLang="en-US" sz="3200" dirty="0" err="1" smtClean="0"/>
              <a:t>게임속</a:t>
            </a:r>
            <a:r>
              <a:rPr lang="ko-KR" altLang="en-US" sz="3200" dirty="0" smtClean="0"/>
              <a:t> </a:t>
            </a:r>
            <a:r>
              <a:rPr lang="ko-KR" altLang="en-US" sz="3200" dirty="0" err="1" smtClean="0"/>
              <a:t>컨텐츠</a:t>
            </a:r>
            <a:r>
              <a:rPr lang="ko-KR" altLang="en-US" sz="3200" dirty="0" smtClean="0"/>
              <a:t> 미니게임</a:t>
            </a:r>
            <a:endParaRPr lang="en-US" altLang="ko-KR" sz="3200" dirty="0" smtClean="0"/>
          </a:p>
          <a:p>
            <a:endParaRPr lang="en-US" altLang="ko-KR" sz="3200" dirty="0" smtClean="0"/>
          </a:p>
          <a:p>
            <a:r>
              <a:rPr lang="ko-KR" altLang="en-US" sz="2000" dirty="0" smtClean="0"/>
              <a:t>가위바위보 </a:t>
            </a:r>
            <a:r>
              <a:rPr lang="ko-KR" altLang="en-US" sz="2000" dirty="0" err="1" smtClean="0"/>
              <a:t>컨셉에</a:t>
            </a:r>
            <a:r>
              <a:rPr lang="ko-KR" altLang="en-US" sz="2000" dirty="0" smtClean="0"/>
              <a:t> 맞</a:t>
            </a:r>
            <a:r>
              <a:rPr lang="ko-KR" altLang="en-US" sz="2000" dirty="0"/>
              <a:t>는</a:t>
            </a:r>
            <a:r>
              <a:rPr lang="ko-KR" altLang="en-US" sz="2000" dirty="0" smtClean="0"/>
              <a:t> 미니게임 삽입예정</a:t>
            </a:r>
            <a:endParaRPr lang="en-US" altLang="ko-KR" sz="2000" dirty="0" smtClean="0"/>
          </a:p>
          <a:p>
            <a:endParaRPr lang="en-US" altLang="ko-KR" sz="2000" dirty="0"/>
          </a:p>
          <a:p>
            <a:r>
              <a:rPr lang="en-US" altLang="ko-KR" sz="1400" dirty="0" smtClean="0"/>
              <a:t>P2P </a:t>
            </a:r>
            <a:r>
              <a:rPr lang="ko-KR" altLang="en-US" sz="1400" dirty="0" smtClean="0"/>
              <a:t>요소만 들어있기에는 게임 특성상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비 접속 유저들이 항시 </a:t>
            </a:r>
            <a:r>
              <a:rPr lang="ko-KR" altLang="en-US" sz="1400" dirty="0" err="1" smtClean="0"/>
              <a:t>있을수</a:t>
            </a:r>
            <a:r>
              <a:rPr lang="ko-KR" altLang="en-US" sz="1400" dirty="0" smtClean="0"/>
              <a:t> 있으며 이러한 현상은 </a:t>
            </a:r>
            <a:r>
              <a:rPr lang="ko-KR" altLang="en-US" sz="1400" dirty="0" err="1" smtClean="0"/>
              <a:t>현접속</a:t>
            </a:r>
            <a:r>
              <a:rPr lang="ko-KR" altLang="en-US" sz="1400" dirty="0" smtClean="0"/>
              <a:t> 유저의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접속상태를 유지시킬만한 </a:t>
            </a:r>
            <a:r>
              <a:rPr lang="en-US" altLang="ko-KR" sz="1400" dirty="0"/>
              <a:t> </a:t>
            </a:r>
            <a:r>
              <a:rPr lang="ko-KR" altLang="en-US" sz="1400" dirty="0" err="1" smtClean="0"/>
              <a:t>쏠플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컨텐츠가</a:t>
            </a:r>
            <a:r>
              <a:rPr lang="ko-KR" altLang="en-US" sz="1400" dirty="0" smtClean="0"/>
              <a:t> 필요하다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 smtClean="0"/>
              <a:t>추가적인 </a:t>
            </a:r>
            <a:r>
              <a:rPr lang="ko-KR" altLang="en-US" sz="1400" dirty="0" err="1" smtClean="0"/>
              <a:t>게임머니의</a:t>
            </a:r>
            <a:r>
              <a:rPr lang="ko-KR" altLang="en-US" sz="1400" dirty="0" smtClean="0"/>
              <a:t> 효과를 </a:t>
            </a:r>
            <a:r>
              <a:rPr lang="ko-KR" altLang="en-US" sz="1400" dirty="0" err="1" smtClean="0"/>
              <a:t>볼수있는</a:t>
            </a:r>
            <a:r>
              <a:rPr lang="ko-KR" altLang="en-US" sz="1400" dirty="0" smtClean="0"/>
              <a:t> 간단한 </a:t>
            </a:r>
            <a:r>
              <a:rPr lang="ko-KR" altLang="en-US" sz="1400" dirty="0" err="1" smtClean="0"/>
              <a:t>미니컨텐츠를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삽입할 생각이다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en-US" altLang="ko-KR" sz="1400" dirty="0" smtClean="0"/>
              <a:t>&lt; </a:t>
            </a:r>
            <a:r>
              <a:rPr lang="ko-KR" altLang="en-US" sz="1400" dirty="0" smtClean="0"/>
              <a:t>추억의 가위바위보 </a:t>
            </a:r>
            <a:r>
              <a:rPr lang="en-US" altLang="ko-KR" sz="1400" dirty="0" smtClean="0"/>
              <a:t>App &gt;</a:t>
            </a:r>
          </a:p>
          <a:p>
            <a:r>
              <a:rPr lang="ko-KR" altLang="en-US" sz="1400" dirty="0" smtClean="0"/>
              <a:t>현재 스토어에 올라가 있는 </a:t>
            </a:r>
            <a:r>
              <a:rPr lang="ko-KR" altLang="en-US" sz="1400" dirty="0" err="1" smtClean="0"/>
              <a:t>앱이며</a:t>
            </a:r>
            <a:r>
              <a:rPr lang="ko-KR" altLang="en-US" sz="1400" dirty="0" smtClean="0"/>
              <a:t> </a:t>
            </a:r>
            <a:r>
              <a:rPr lang="ko-KR" altLang="en-US" sz="1400" dirty="0" err="1" smtClean="0"/>
              <a:t>추억팔이</a:t>
            </a:r>
            <a:r>
              <a:rPr lang="ko-KR" altLang="en-US" sz="1400" dirty="0"/>
              <a:t> </a:t>
            </a:r>
            <a:r>
              <a:rPr lang="ko-KR" altLang="en-US" sz="1400" dirty="0" err="1" smtClean="0"/>
              <a:t>컨텐츠로</a:t>
            </a:r>
            <a:r>
              <a:rPr lang="ko-KR" altLang="en-US" sz="1400" dirty="0" smtClean="0"/>
              <a:t> </a:t>
            </a:r>
            <a:endParaRPr lang="en-US" altLang="ko-KR" sz="1400" dirty="0" smtClean="0"/>
          </a:p>
          <a:p>
            <a:r>
              <a:rPr lang="en-US" altLang="ko-KR" sz="1400" dirty="0" smtClean="0"/>
              <a:t>10</a:t>
            </a:r>
            <a:r>
              <a:rPr lang="ko-KR" altLang="en-US" sz="1400" dirty="0" err="1" smtClean="0"/>
              <a:t>만건</a:t>
            </a:r>
            <a:r>
              <a:rPr lang="ko-KR" altLang="en-US" sz="1400" dirty="0" smtClean="0"/>
              <a:t> 이상의 다운로드 성과를 올렸다</a:t>
            </a:r>
            <a:r>
              <a:rPr lang="en-US" altLang="ko-KR" sz="1400" dirty="0" smtClean="0"/>
              <a:t>. </a:t>
            </a:r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/>
          </a:p>
          <a:p>
            <a:endParaRPr lang="ko-KR" altLang="en-US" sz="1400" dirty="0"/>
          </a:p>
        </p:txBody>
      </p:sp>
      <p:pic>
        <p:nvPicPr>
          <p:cNvPr id="1026" name="Picture 2" descr="C:\Users\goldenboy\Desktop\짱깬뽀.jp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3204" y="764704"/>
            <a:ext cx="2319362" cy="41168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1758855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직사각형 20"/>
          <p:cNvSpPr/>
          <p:nvPr/>
        </p:nvSpPr>
        <p:spPr>
          <a:xfrm>
            <a:off x="207627" y="302313"/>
            <a:ext cx="5712903" cy="64152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1826" y="302313"/>
            <a:ext cx="2647269" cy="636190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9023" y="1440259"/>
            <a:ext cx="478580" cy="506731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3315749" y="3791825"/>
            <a:ext cx="534798" cy="226503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필드</a:t>
            </a:r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88369" y="3764961"/>
            <a:ext cx="478580" cy="506731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3202" y="1563668"/>
            <a:ext cx="478580" cy="506731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67008" y="3037195"/>
            <a:ext cx="478580" cy="506731"/>
          </a:xfrm>
          <a:prstGeom prst="rect">
            <a:avLst/>
          </a:prstGeom>
        </p:spPr>
      </p:pic>
      <p:sp>
        <p:nvSpPr>
          <p:cNvPr id="23" name="이등변 삼각형 22"/>
          <p:cNvSpPr/>
          <p:nvPr/>
        </p:nvSpPr>
        <p:spPr>
          <a:xfrm>
            <a:off x="1311006" y="3543925"/>
            <a:ext cx="423113" cy="318782"/>
          </a:xfrm>
          <a:prstGeom prst="triangle">
            <a:avLst/>
          </a:prstGeom>
          <a:solidFill>
            <a:srgbClr val="FF0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4" name="이등변 삼각형 23"/>
          <p:cNvSpPr/>
          <p:nvPr/>
        </p:nvSpPr>
        <p:spPr>
          <a:xfrm>
            <a:off x="4652857" y="4307375"/>
            <a:ext cx="423113" cy="318782"/>
          </a:xfrm>
          <a:prstGeom prst="triangle">
            <a:avLst/>
          </a:prstGeom>
          <a:solidFill>
            <a:srgbClr val="FFC00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5" name="이등변 삼각형 24"/>
          <p:cNvSpPr/>
          <p:nvPr/>
        </p:nvSpPr>
        <p:spPr>
          <a:xfrm>
            <a:off x="2214490" y="1950440"/>
            <a:ext cx="423113" cy="318782"/>
          </a:xfrm>
          <a:prstGeom prst="triangle">
            <a:avLst/>
          </a:prstGeom>
          <a:solidFill>
            <a:srgbClr val="00B050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02367" y="3279842"/>
            <a:ext cx="666038" cy="860786"/>
          </a:xfrm>
          <a:prstGeom prst="rect">
            <a:avLst/>
          </a:prstGeom>
        </p:spPr>
      </p:pic>
      <p:sp>
        <p:nvSpPr>
          <p:cNvPr id="29" name="직사각형 28"/>
          <p:cNvSpPr/>
          <p:nvPr/>
        </p:nvSpPr>
        <p:spPr>
          <a:xfrm>
            <a:off x="5102367" y="4194006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거래소</a:t>
            </a:r>
          </a:p>
        </p:txBody>
      </p:sp>
      <p:pic>
        <p:nvPicPr>
          <p:cNvPr id="30" name="그림 29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638" y="5210850"/>
            <a:ext cx="666038" cy="860786"/>
          </a:xfrm>
          <a:prstGeom prst="rect">
            <a:avLst/>
          </a:prstGeom>
        </p:spPr>
      </p:pic>
      <p:sp>
        <p:nvSpPr>
          <p:cNvPr id="31" name="직사각형 30"/>
          <p:cNvSpPr/>
          <p:nvPr/>
        </p:nvSpPr>
        <p:spPr>
          <a:xfrm>
            <a:off x="452638" y="6125014"/>
            <a:ext cx="666038" cy="24812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/>
              <a:t>상점</a:t>
            </a:r>
          </a:p>
        </p:txBody>
      </p:sp>
      <p:sp>
        <p:nvSpPr>
          <p:cNvPr id="32" name="이등변 삼각형 31"/>
          <p:cNvSpPr/>
          <p:nvPr/>
        </p:nvSpPr>
        <p:spPr>
          <a:xfrm>
            <a:off x="3603683" y="2112503"/>
            <a:ext cx="423113" cy="318782"/>
          </a:xfrm>
          <a:prstGeom prst="triangle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말풍선: 모서리가 둥근 사각형 21"/>
          <p:cNvSpPr/>
          <p:nvPr/>
        </p:nvSpPr>
        <p:spPr>
          <a:xfrm>
            <a:off x="1619672" y="2466139"/>
            <a:ext cx="918595" cy="335560"/>
          </a:xfrm>
          <a:prstGeom prst="wedgeRoundRectCallout">
            <a:avLst>
              <a:gd name="adj1" fmla="val -41138"/>
              <a:gd name="adj2" fmla="val 97143"/>
              <a:gd name="adj3" fmla="val 16667"/>
            </a:avLst>
          </a:prstGeom>
          <a:solidFill>
            <a:srgbClr val="FFFF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3" name="말풍선: 모서리가 둥근 사각형 32"/>
          <p:cNvSpPr/>
          <p:nvPr/>
        </p:nvSpPr>
        <p:spPr>
          <a:xfrm>
            <a:off x="4006785" y="1194473"/>
            <a:ext cx="918595" cy="335560"/>
          </a:xfrm>
          <a:prstGeom prst="wedgeRoundRectCallout">
            <a:avLst>
              <a:gd name="adj1" fmla="val -41138"/>
              <a:gd name="adj2" fmla="val 97143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말풍선: 모서리가 둥근 사각형 33"/>
          <p:cNvSpPr/>
          <p:nvPr/>
        </p:nvSpPr>
        <p:spPr>
          <a:xfrm>
            <a:off x="4652857" y="3170303"/>
            <a:ext cx="918595" cy="335560"/>
          </a:xfrm>
          <a:prstGeom prst="wedgeRoundRectCallout">
            <a:avLst>
              <a:gd name="adj1" fmla="val -41138"/>
              <a:gd name="adj2" fmla="val 97143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말풍선: 모서리가 둥근 사각형 35"/>
          <p:cNvSpPr/>
          <p:nvPr/>
        </p:nvSpPr>
        <p:spPr>
          <a:xfrm>
            <a:off x="373129" y="4614169"/>
            <a:ext cx="918595" cy="335560"/>
          </a:xfrm>
          <a:prstGeom prst="wedgeRoundRectCallout">
            <a:avLst>
              <a:gd name="adj1" fmla="val -41138"/>
              <a:gd name="adj2" fmla="val 97143"/>
              <a:gd name="adj3" fmla="val 16667"/>
            </a:avLst>
          </a:prstGeom>
          <a:solidFill>
            <a:srgbClr val="FFFF00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7" name="말풍선: 모서리가 둥근 사각형 36"/>
          <p:cNvSpPr/>
          <p:nvPr/>
        </p:nvSpPr>
        <p:spPr>
          <a:xfrm>
            <a:off x="1368454" y="1127362"/>
            <a:ext cx="899720" cy="402671"/>
          </a:xfrm>
          <a:prstGeom prst="wedgeRoundRectCallout">
            <a:avLst>
              <a:gd name="adj1" fmla="val 49796"/>
              <a:gd name="adj2" fmla="val 85417"/>
              <a:gd name="adj3" fmla="val 16667"/>
            </a:avLst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8" name="말풍선: 모서리가 둥근 사각형 37"/>
          <p:cNvSpPr/>
          <p:nvPr/>
        </p:nvSpPr>
        <p:spPr>
          <a:xfrm>
            <a:off x="1789976" y="3362291"/>
            <a:ext cx="899720" cy="402671"/>
          </a:xfrm>
          <a:prstGeom prst="wedgeRoundRectCallout">
            <a:avLst>
              <a:gd name="adj1" fmla="val 49796"/>
              <a:gd name="adj2" fmla="val 85417"/>
              <a:gd name="adj3" fmla="val 16667"/>
            </a:avLst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9" name="말풍선: 모서리가 둥근 사각형 38"/>
          <p:cNvSpPr/>
          <p:nvPr/>
        </p:nvSpPr>
        <p:spPr>
          <a:xfrm>
            <a:off x="1818314" y="4130238"/>
            <a:ext cx="899720" cy="402671"/>
          </a:xfrm>
          <a:prstGeom prst="wedgeRoundRectCallout">
            <a:avLst>
              <a:gd name="adj1" fmla="val 49796"/>
              <a:gd name="adj2" fmla="val 85417"/>
              <a:gd name="adj3" fmla="val 16667"/>
            </a:avLst>
          </a:prstGeom>
          <a:solidFill>
            <a:schemeClr val="accent4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6121866" y="377506"/>
            <a:ext cx="2793534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게임은 세로로 </a:t>
            </a:r>
            <a:r>
              <a:rPr lang="ko-KR" altLang="en-US" dirty="0" err="1"/>
              <a:t>진행해야한다</a:t>
            </a:r>
            <a:r>
              <a:rPr lang="ko-KR" altLang="en-US" dirty="0"/>
              <a:t> 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채팅이 주요한 게임의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요소이기때문에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게임 화면과 기존 폰에 설정되어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있는 키보드가 출현되게끔 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진행한다 </a:t>
            </a:r>
            <a:r>
              <a:rPr lang="en-US" altLang="ko-KR" dirty="0" smtClean="0"/>
              <a:t>.</a:t>
            </a:r>
          </a:p>
          <a:p>
            <a:endParaRPr lang="en-US" altLang="ko-KR" dirty="0"/>
          </a:p>
          <a:p>
            <a:r>
              <a:rPr lang="ko-KR" altLang="en-US" dirty="0" smtClean="0"/>
              <a:t>전체 채팅은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캐릭터위에</a:t>
            </a:r>
            <a:r>
              <a:rPr lang="ko-KR" altLang="en-US" dirty="0" smtClean="0"/>
              <a:t>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err="1" smtClean="0"/>
              <a:t>말풍선이</a:t>
            </a:r>
            <a:r>
              <a:rPr lang="ko-KR" altLang="en-US" dirty="0" smtClean="0"/>
              <a:t> 생성된다</a:t>
            </a:r>
            <a:endParaRPr lang="en-US" altLang="ko-KR" dirty="0"/>
          </a:p>
          <a:p>
            <a:pPr marL="285750" indent="-285750">
              <a:buFontTx/>
              <a:buChar char="-"/>
            </a:pPr>
            <a:endParaRPr lang="ko-KR" altLang="en-US" dirty="0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4720" y="3341980"/>
            <a:ext cx="2373314" cy="27342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54311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6597" y="318788"/>
            <a:ext cx="2647269" cy="63619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3407973" y="947810"/>
            <a:ext cx="506195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참고 </a:t>
            </a:r>
            <a:r>
              <a:rPr lang="en-US" altLang="ko-KR" dirty="0" smtClean="0"/>
              <a:t>UI </a:t>
            </a:r>
          </a:p>
          <a:p>
            <a:endParaRPr lang="en-US" altLang="ko-KR" dirty="0"/>
          </a:p>
          <a:p>
            <a:pPr marL="285750" indent="-285750">
              <a:buFontTx/>
              <a:buChar char="-"/>
            </a:pPr>
            <a:r>
              <a:rPr lang="ko-KR" altLang="en-US" dirty="0" smtClean="0"/>
              <a:t>포켓마피아 채팅 </a:t>
            </a:r>
            <a:r>
              <a:rPr lang="en-US" altLang="ko-KR" dirty="0" smtClean="0"/>
              <a:t>UI</a:t>
            </a:r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pPr marL="285750" indent="-285750">
              <a:buFontTx/>
              <a:buChar char="-"/>
            </a:pPr>
            <a:endParaRPr lang="en-US" altLang="ko-KR" dirty="0" smtClean="0"/>
          </a:p>
          <a:p>
            <a:pPr marL="285750" indent="-285750">
              <a:buFontTx/>
              <a:buChar char="-"/>
            </a:pP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smtClean="0"/>
              <a:t>게임화면에 어떻게 표시해야 할지 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디자인적으로 풀어야 하는 부분이 있다</a:t>
            </a:r>
            <a:r>
              <a:rPr lang="en-US" altLang="ko-KR" dirty="0" smtClean="0"/>
              <a:t>. </a:t>
            </a:r>
          </a:p>
          <a:p>
            <a:endParaRPr lang="en-US" altLang="ko-KR" dirty="0"/>
          </a:p>
          <a:p>
            <a:endParaRPr lang="en-US" altLang="ko-KR" dirty="0" smtClean="0"/>
          </a:p>
          <a:p>
            <a:endParaRPr lang="ko-KR" altLang="en-US" dirty="0"/>
          </a:p>
        </p:txBody>
      </p:sp>
      <p:pic>
        <p:nvPicPr>
          <p:cNvPr id="1026" name="Picture 2" descr="C:\Users\goldenboy\Desktop\포켓마피아.png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6048" y="947810"/>
            <a:ext cx="2428103" cy="51038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직사각형 1"/>
          <p:cNvSpPr/>
          <p:nvPr/>
        </p:nvSpPr>
        <p:spPr>
          <a:xfrm>
            <a:off x="2304606" y="5541027"/>
            <a:ext cx="331751" cy="50405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쪽지</a:t>
            </a:r>
            <a:endParaRPr lang="ko-KR" altLang="en-US" dirty="0"/>
          </a:p>
        </p:txBody>
      </p:sp>
      <p:sp>
        <p:nvSpPr>
          <p:cNvPr id="6" name="직사각형 5"/>
          <p:cNvSpPr/>
          <p:nvPr/>
        </p:nvSpPr>
        <p:spPr>
          <a:xfrm>
            <a:off x="1972855" y="5517835"/>
            <a:ext cx="331751" cy="504056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대전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436746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그림 1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7420" y="192897"/>
            <a:ext cx="2647269" cy="6361900"/>
          </a:xfrm>
          <a:prstGeom prst="rect">
            <a:avLst/>
          </a:prstGeom>
        </p:spPr>
      </p:pic>
      <p:pic>
        <p:nvPicPr>
          <p:cNvPr id="7170" name="Picture 2" descr="C:\Users\goldenboy\Desktop\게임 결과화면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0699" y="759533"/>
            <a:ext cx="2402840" cy="290588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/>
          <p:cNvSpPr txBox="1"/>
          <p:nvPr/>
        </p:nvSpPr>
        <p:spPr>
          <a:xfrm>
            <a:off x="3153508" y="177268"/>
            <a:ext cx="552743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3600" dirty="0" smtClean="0"/>
              <a:t>게임 결과 화면</a:t>
            </a:r>
            <a:endParaRPr lang="en-US" altLang="ko-KR" sz="3600" dirty="0" smtClean="0"/>
          </a:p>
          <a:p>
            <a:endParaRPr lang="en-US" altLang="ko-KR" sz="1400" dirty="0" smtClean="0"/>
          </a:p>
          <a:p>
            <a:endParaRPr lang="en-US" altLang="ko-KR" sz="1400" dirty="0" smtClean="0"/>
          </a:p>
          <a:p>
            <a:r>
              <a:rPr lang="en-US" altLang="ko-KR" sz="1400" dirty="0" smtClean="0"/>
              <a:t>- </a:t>
            </a:r>
            <a:r>
              <a:rPr lang="ko-KR" altLang="en-US" sz="1400" dirty="0" smtClean="0"/>
              <a:t>패배 유저 </a:t>
            </a:r>
            <a:endParaRPr lang="en-US" altLang="ko-KR" sz="1400" dirty="0"/>
          </a:p>
          <a:p>
            <a:r>
              <a:rPr lang="ko-KR" altLang="en-US" sz="1400" dirty="0" smtClean="0"/>
              <a:t>게임이 </a:t>
            </a:r>
            <a:r>
              <a:rPr lang="ko-KR" altLang="en-US" sz="1400" dirty="0" err="1" smtClean="0"/>
              <a:t>끝나게되면</a:t>
            </a:r>
            <a:r>
              <a:rPr lang="ko-KR" altLang="en-US" sz="1400" dirty="0" smtClean="0"/>
              <a:t> 처음 </a:t>
            </a:r>
            <a:r>
              <a:rPr lang="ko-KR" altLang="en-US" sz="1400" dirty="0" err="1" smtClean="0"/>
              <a:t>부여받은</a:t>
            </a:r>
            <a:r>
              <a:rPr lang="ko-KR" altLang="en-US" sz="1400" dirty="0" smtClean="0"/>
              <a:t> 별이 </a:t>
            </a:r>
            <a:r>
              <a:rPr lang="en-US" altLang="ko-KR" sz="1400" dirty="0" smtClean="0"/>
              <a:t>3</a:t>
            </a:r>
            <a:r>
              <a:rPr lang="ko-KR" altLang="en-US" sz="1400" dirty="0" smtClean="0"/>
              <a:t>개 이하 유저는 패배처리</a:t>
            </a:r>
            <a:r>
              <a:rPr lang="en-US" altLang="ko-KR" sz="1400" dirty="0" smtClean="0"/>
              <a:t>. </a:t>
            </a:r>
          </a:p>
          <a:p>
            <a:r>
              <a:rPr lang="ko-KR" altLang="en-US" sz="1400" dirty="0"/>
              <a:t>카드를 마지막까지 보유한 </a:t>
            </a:r>
            <a:r>
              <a:rPr lang="ko-KR" altLang="en-US" sz="1400" dirty="0" smtClean="0"/>
              <a:t>유저는 별의 개수와 상관없이 패배처리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 smtClean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패배 유저의 별은 승리자 보상으로 이관된다</a:t>
            </a:r>
            <a:r>
              <a:rPr lang="en-US" altLang="ko-KR" sz="1400" dirty="0" smtClean="0"/>
              <a:t>. </a:t>
            </a:r>
          </a:p>
          <a:p>
            <a:endParaRPr lang="en-US" altLang="ko-KR" sz="1400" dirty="0"/>
          </a:p>
          <a:p>
            <a:endParaRPr lang="en-US" altLang="ko-KR" sz="1400" dirty="0" smtClean="0"/>
          </a:p>
          <a:p>
            <a:r>
              <a:rPr lang="en-US" altLang="ko-KR" sz="1400" dirty="0" smtClean="0"/>
              <a:t>- </a:t>
            </a:r>
            <a:r>
              <a:rPr lang="ko-KR" altLang="en-US" sz="1400" dirty="0" smtClean="0"/>
              <a:t>승리유저 </a:t>
            </a:r>
            <a:endParaRPr lang="en-US" altLang="ko-KR" sz="1400" dirty="0"/>
          </a:p>
          <a:p>
            <a:r>
              <a:rPr lang="ko-KR" altLang="en-US" sz="1400" dirty="0" smtClean="0"/>
              <a:t>처음 </a:t>
            </a:r>
            <a:r>
              <a:rPr lang="ko-KR" altLang="en-US" sz="1400" dirty="0" err="1" smtClean="0"/>
              <a:t>시작시</a:t>
            </a:r>
            <a:r>
              <a:rPr lang="ko-KR" altLang="en-US" sz="1400" dirty="0" smtClean="0"/>
              <a:t> 지급받은 별 </a:t>
            </a:r>
            <a:r>
              <a:rPr lang="en-US" altLang="ko-KR" sz="1400" dirty="0" smtClean="0"/>
              <a:t>3</a:t>
            </a:r>
            <a:r>
              <a:rPr lang="ko-KR" altLang="en-US" sz="1400" dirty="0" smtClean="0"/>
              <a:t>개를 반납하고 남은 별 개수 </a:t>
            </a:r>
            <a:r>
              <a:rPr lang="en-US" altLang="ko-KR" sz="1400" dirty="0" smtClean="0"/>
              <a:t>1</a:t>
            </a:r>
            <a:r>
              <a:rPr lang="ko-KR" altLang="en-US" sz="1400" dirty="0" smtClean="0"/>
              <a:t>개당 </a:t>
            </a:r>
            <a:r>
              <a:rPr lang="ko-KR" altLang="en-US" sz="1400" dirty="0" err="1" smtClean="0"/>
              <a:t>게임머니로</a:t>
            </a:r>
            <a:r>
              <a:rPr lang="ko-KR" altLang="en-US" sz="1400" dirty="0" smtClean="0"/>
              <a:t> 보상이 지급된다</a:t>
            </a:r>
            <a:r>
              <a:rPr lang="en-US" altLang="ko-KR" sz="1400" dirty="0" smtClean="0"/>
              <a:t>.</a:t>
            </a:r>
          </a:p>
          <a:p>
            <a:endParaRPr lang="en-US" altLang="ko-KR" sz="1400" dirty="0" smtClean="0"/>
          </a:p>
          <a:p>
            <a:r>
              <a:rPr lang="en-US" altLang="ko-KR" sz="1400" dirty="0" smtClean="0"/>
              <a:t>- </a:t>
            </a:r>
            <a:r>
              <a:rPr lang="ko-KR" altLang="en-US" sz="1400" dirty="0" smtClean="0"/>
              <a:t>추가보상 </a:t>
            </a:r>
            <a:r>
              <a:rPr lang="en-US" altLang="ko-KR" sz="1400" dirty="0" smtClean="0"/>
              <a:t>( </a:t>
            </a:r>
            <a:r>
              <a:rPr lang="ko-KR" altLang="en-US" sz="1400" dirty="0" smtClean="0"/>
              <a:t>없어도 상관없음 </a:t>
            </a:r>
            <a:r>
              <a:rPr lang="en-US" altLang="ko-KR" sz="1400" dirty="0" smtClean="0"/>
              <a:t>)</a:t>
            </a:r>
            <a:endParaRPr lang="en-US" altLang="ko-KR" sz="1400" dirty="0"/>
          </a:p>
          <a:p>
            <a:r>
              <a:rPr lang="ko-KR" altLang="en-US" sz="1400" dirty="0" smtClean="0"/>
              <a:t>또한 추가로 패배한 유저의 회수된 별 만큼의 보상금액을</a:t>
            </a:r>
            <a:endParaRPr lang="en-US" altLang="ko-KR" sz="1400" dirty="0" smtClean="0"/>
          </a:p>
          <a:p>
            <a:r>
              <a:rPr lang="ko-KR" altLang="en-US" sz="1400" dirty="0" smtClean="0"/>
              <a:t>승리자들은 </a:t>
            </a:r>
            <a:r>
              <a:rPr lang="en-US" altLang="ko-KR" sz="1400" dirty="0" smtClean="0"/>
              <a:t>1/n </a:t>
            </a:r>
            <a:r>
              <a:rPr lang="ko-KR" altLang="en-US" sz="1400" dirty="0" smtClean="0"/>
              <a:t>로 보상받게 된다</a:t>
            </a:r>
            <a:endParaRPr lang="en-US" altLang="ko-KR" sz="1400" dirty="0"/>
          </a:p>
          <a:p>
            <a:endParaRPr lang="en-US" altLang="ko-KR" sz="1400" dirty="0" smtClean="0"/>
          </a:p>
          <a:p>
            <a:endParaRPr lang="en-US" altLang="ko-KR" sz="1400" dirty="0" smtClean="0"/>
          </a:p>
          <a:p>
            <a:r>
              <a:rPr lang="en-US" altLang="ko-KR" sz="1400" dirty="0" smtClean="0"/>
              <a:t>- </a:t>
            </a:r>
            <a:r>
              <a:rPr lang="ko-KR" altLang="en-US" sz="1400" dirty="0" smtClean="0"/>
              <a:t>초반 게임 운용 대출금 상환 </a:t>
            </a:r>
            <a:endParaRPr lang="en-US" altLang="ko-KR" sz="1400" dirty="0"/>
          </a:p>
          <a:p>
            <a:r>
              <a:rPr lang="ko-KR" altLang="en-US" sz="1400" dirty="0" smtClean="0"/>
              <a:t>대출금 </a:t>
            </a:r>
            <a:r>
              <a:rPr lang="ko-KR" altLang="en-US" sz="1400" dirty="0"/>
              <a:t>상환이 </a:t>
            </a:r>
            <a:r>
              <a:rPr lang="ko-KR" altLang="en-US" sz="1400" dirty="0" smtClean="0"/>
              <a:t>이루어지게 되며 최종 획득 </a:t>
            </a:r>
            <a:r>
              <a:rPr lang="ko-KR" altLang="en-US" sz="1400" dirty="0" err="1" smtClean="0"/>
              <a:t>게임머니</a:t>
            </a:r>
            <a:r>
              <a:rPr lang="ko-KR" altLang="en-US" sz="1400" dirty="0" smtClean="0"/>
              <a:t> 정산이 이루어진다</a:t>
            </a:r>
            <a:endParaRPr lang="en-US" altLang="ko-KR" sz="1400" dirty="0" smtClean="0"/>
          </a:p>
          <a:p>
            <a:endParaRPr lang="en-US" altLang="ko-KR" sz="1400" dirty="0" smtClean="0"/>
          </a:p>
          <a:p>
            <a:endParaRPr lang="en-US" altLang="ko-KR" sz="1400" dirty="0" smtClean="0"/>
          </a:p>
          <a:p>
            <a:r>
              <a:rPr lang="ko-KR" altLang="en-US" sz="1400" dirty="0" smtClean="0"/>
              <a:t>전체 결과화면</a:t>
            </a:r>
            <a:endParaRPr lang="en-US" altLang="ko-KR" sz="1400" dirty="0" smtClean="0"/>
          </a:p>
          <a:p>
            <a:r>
              <a:rPr lang="ko-KR" altLang="en-US" sz="1400" dirty="0" smtClean="0"/>
              <a:t>승리자와 패배자를 표시해주는 </a:t>
            </a:r>
            <a:r>
              <a:rPr lang="en-US" altLang="ko-KR" sz="1400" dirty="0" smtClean="0"/>
              <a:t>UI</a:t>
            </a:r>
            <a:r>
              <a:rPr lang="ko-KR" altLang="en-US" sz="1400" dirty="0" smtClean="0"/>
              <a:t>구성 및 금액정산 </a:t>
            </a:r>
            <a:r>
              <a:rPr lang="en-US" altLang="ko-KR" sz="1400" dirty="0" smtClean="0"/>
              <a:t>UI </a:t>
            </a:r>
            <a:r>
              <a:rPr lang="ko-KR" altLang="en-US" sz="1400" dirty="0" smtClean="0"/>
              <a:t> </a:t>
            </a:r>
            <a:endParaRPr lang="ko-KR" altLang="en-US" sz="3600" dirty="0"/>
          </a:p>
        </p:txBody>
      </p:sp>
    </p:spTree>
    <p:extLst>
      <p:ext uri="{BB962C8B-B14F-4D97-AF65-F5344CB8AC3E}">
        <p14:creationId xmlns:p14="http://schemas.microsoft.com/office/powerpoint/2010/main" val="7981064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427838" y="394284"/>
            <a:ext cx="7946472" cy="41857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 smtClean="0"/>
              <a:t>비즈니스 모델 </a:t>
            </a:r>
            <a:endParaRPr lang="en-US" altLang="ko-KR" sz="1400" dirty="0" smtClean="0"/>
          </a:p>
          <a:p>
            <a:endParaRPr lang="en-US" altLang="ko-KR" sz="1400" dirty="0"/>
          </a:p>
          <a:p>
            <a:r>
              <a:rPr lang="ko-KR" altLang="en-US" sz="1400" dirty="0" smtClean="0"/>
              <a:t>게임의 </a:t>
            </a:r>
            <a:r>
              <a:rPr lang="ko-KR" altLang="en-US" sz="1400" dirty="0"/>
              <a:t>재미를 </a:t>
            </a:r>
            <a:r>
              <a:rPr lang="ko-KR" altLang="en-US" sz="1400" dirty="0" err="1"/>
              <a:t>증명받은</a:t>
            </a:r>
            <a:r>
              <a:rPr lang="ko-KR" altLang="en-US" sz="1400" dirty="0"/>
              <a:t> 이후 생각 할 과제</a:t>
            </a:r>
            <a:r>
              <a:rPr lang="en-US" altLang="ko-KR" sz="1400" dirty="0"/>
              <a:t>.  </a:t>
            </a:r>
            <a:r>
              <a:rPr lang="ko-KR" altLang="en-US" sz="1400" dirty="0" err="1"/>
              <a:t>본게임</a:t>
            </a:r>
            <a:r>
              <a:rPr lang="ko-KR" altLang="en-US" sz="1400" dirty="0"/>
              <a:t> 자체가 재미없으면 </a:t>
            </a:r>
            <a:r>
              <a:rPr lang="ko-KR" altLang="en-US" sz="1400" dirty="0" err="1"/>
              <a:t>아무의미없다</a:t>
            </a:r>
            <a:r>
              <a:rPr lang="ko-KR" altLang="en-US" sz="1400" dirty="0"/>
              <a:t> 생각됨 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Ex ) </a:t>
            </a:r>
            <a:r>
              <a:rPr lang="ko-KR" altLang="en-US" sz="1400" dirty="0" err="1"/>
              <a:t>게임내</a:t>
            </a:r>
            <a:r>
              <a:rPr lang="ko-KR" altLang="en-US" sz="1400" dirty="0"/>
              <a:t> 유저가 </a:t>
            </a:r>
            <a:r>
              <a:rPr lang="ko-KR" altLang="en-US" sz="1400" dirty="0" err="1"/>
              <a:t>콘트롤하는</a:t>
            </a:r>
            <a:r>
              <a:rPr lang="ko-KR" altLang="en-US" sz="1400" dirty="0"/>
              <a:t> 메인 </a:t>
            </a:r>
            <a:r>
              <a:rPr lang="ko-KR" altLang="en-US" sz="1400" dirty="0" err="1"/>
              <a:t>케릭터</a:t>
            </a:r>
            <a:r>
              <a:rPr lang="ko-KR" altLang="en-US" sz="1400" dirty="0"/>
              <a:t> 판매 </a:t>
            </a:r>
            <a:r>
              <a:rPr lang="en-US" altLang="ko-KR" sz="1400" dirty="0"/>
              <a:t>-&gt; </a:t>
            </a:r>
            <a:r>
              <a:rPr lang="ko-KR" altLang="en-US" sz="1400" dirty="0" err="1"/>
              <a:t>게임머니로</a:t>
            </a:r>
            <a:r>
              <a:rPr lang="ko-KR" altLang="en-US" sz="1400" dirty="0"/>
              <a:t> 구입 </a:t>
            </a:r>
            <a:r>
              <a:rPr lang="ko-KR" altLang="en-US" sz="1400" dirty="0" smtClean="0"/>
              <a:t>가능</a:t>
            </a:r>
            <a:endParaRPr lang="en-US" altLang="ko-KR" sz="1400" dirty="0" smtClean="0"/>
          </a:p>
          <a:p>
            <a:endParaRPr lang="en-US" altLang="ko-KR" sz="1400" dirty="0"/>
          </a:p>
          <a:p>
            <a:pPr marL="342900" indent="-342900">
              <a:buAutoNum type="arabicPeriod"/>
            </a:pPr>
            <a:endParaRPr lang="en-US" altLang="ko-KR" sz="1400" dirty="0"/>
          </a:p>
          <a:p>
            <a:pPr marL="342900" indent="-342900">
              <a:buAutoNum type="arabicPeriod"/>
            </a:pPr>
            <a:endParaRPr lang="en-US" altLang="ko-KR" sz="1400" dirty="0" smtClean="0"/>
          </a:p>
          <a:p>
            <a:r>
              <a:rPr lang="ko-KR" altLang="en-US" sz="1400" dirty="0"/>
              <a:t>추가 </a:t>
            </a:r>
            <a:r>
              <a:rPr lang="ko-KR" altLang="en-US" sz="1400" dirty="0" err="1"/>
              <a:t>컨텐츠</a:t>
            </a:r>
            <a:r>
              <a:rPr lang="ko-KR" altLang="en-US" sz="1400" dirty="0"/>
              <a:t> </a:t>
            </a:r>
            <a:r>
              <a:rPr lang="en-US" altLang="ko-KR" sz="1400" dirty="0"/>
              <a:t> </a:t>
            </a:r>
            <a:r>
              <a:rPr lang="ko-KR" altLang="en-US" sz="1400" dirty="0"/>
              <a:t>유무</a:t>
            </a:r>
            <a:r>
              <a:rPr lang="en-US" altLang="ko-KR" sz="1400" dirty="0"/>
              <a:t>.</a:t>
            </a:r>
          </a:p>
          <a:p>
            <a:endParaRPr lang="en-US" altLang="ko-KR" sz="1400" dirty="0"/>
          </a:p>
          <a:p>
            <a:r>
              <a:rPr lang="ko-KR" altLang="en-US" sz="1400" dirty="0"/>
              <a:t>기획서 초반에 예를 들었던 </a:t>
            </a:r>
            <a:r>
              <a:rPr lang="ko-KR" altLang="en-US" sz="1400" dirty="0" err="1"/>
              <a:t>지니어스게임에서</a:t>
            </a:r>
            <a:r>
              <a:rPr lang="ko-KR" altLang="en-US" sz="1400" dirty="0"/>
              <a:t> </a:t>
            </a:r>
            <a:r>
              <a:rPr lang="ko-KR" altLang="en-US" sz="1400" dirty="0" err="1"/>
              <a:t>적용시킬수</a:t>
            </a:r>
            <a:r>
              <a:rPr lang="ko-KR" altLang="en-US" sz="1400" dirty="0"/>
              <a:t> 있는 수많은 보드게임 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en-US" altLang="ko-KR" sz="1400" dirty="0"/>
              <a:t>SNS</a:t>
            </a:r>
            <a:r>
              <a:rPr lang="ko-KR" altLang="en-US" sz="1400" dirty="0"/>
              <a:t>형 보드게임들이 존재한다</a:t>
            </a:r>
            <a:r>
              <a:rPr lang="en-US" altLang="ko-KR" sz="1400" dirty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/>
              <a:t>각 </a:t>
            </a:r>
            <a:r>
              <a:rPr lang="ko-KR" altLang="en-US" sz="1400" dirty="0" err="1"/>
              <a:t>컨텐츠들은</a:t>
            </a:r>
            <a:r>
              <a:rPr lang="ko-KR" altLang="en-US" sz="1400" dirty="0"/>
              <a:t> </a:t>
            </a:r>
            <a:r>
              <a:rPr lang="ko-KR" altLang="en-US" sz="1400" dirty="0" err="1"/>
              <a:t>게임머니를</a:t>
            </a:r>
            <a:r>
              <a:rPr lang="ko-KR" altLang="en-US" sz="1400" dirty="0"/>
              <a:t> 공유한다</a:t>
            </a:r>
            <a:r>
              <a:rPr lang="en-US" altLang="ko-KR" sz="1400" dirty="0"/>
              <a:t>. </a:t>
            </a:r>
          </a:p>
          <a:p>
            <a:endParaRPr lang="en-US" altLang="ko-KR" sz="1400" dirty="0"/>
          </a:p>
          <a:p>
            <a:r>
              <a:rPr lang="ko-KR" altLang="en-US" sz="1400" dirty="0" err="1"/>
              <a:t>그중에서는</a:t>
            </a:r>
            <a:r>
              <a:rPr lang="ko-KR" altLang="en-US" sz="1400" dirty="0"/>
              <a:t> </a:t>
            </a:r>
            <a:r>
              <a:rPr lang="ko-KR" altLang="en-US" sz="1400" dirty="0" err="1"/>
              <a:t>미니게임컨텐츠로도</a:t>
            </a:r>
            <a:r>
              <a:rPr lang="ko-KR" altLang="en-US" sz="1400" dirty="0"/>
              <a:t> 활용할 수 있는 것도 존재하며 추가 </a:t>
            </a:r>
            <a:r>
              <a:rPr lang="ko-KR" altLang="en-US" sz="1400" dirty="0" err="1"/>
              <a:t>컨텐츠로</a:t>
            </a:r>
            <a:r>
              <a:rPr lang="ko-KR" altLang="en-US" sz="1400" dirty="0"/>
              <a:t> </a:t>
            </a:r>
            <a:endParaRPr lang="en-US" altLang="ko-KR" sz="1400" dirty="0"/>
          </a:p>
          <a:p>
            <a:endParaRPr lang="en-US" altLang="ko-KR" sz="1400" dirty="0"/>
          </a:p>
          <a:p>
            <a:r>
              <a:rPr lang="ko-KR" altLang="en-US" sz="1400" dirty="0" err="1"/>
              <a:t>넣을것들은</a:t>
            </a:r>
            <a:r>
              <a:rPr lang="ko-KR" altLang="en-US" sz="1400" dirty="0"/>
              <a:t> 많이 존재한다</a:t>
            </a:r>
            <a:r>
              <a:rPr lang="en-US" altLang="ko-KR" sz="1400" dirty="0"/>
              <a:t>. ( </a:t>
            </a:r>
            <a:r>
              <a:rPr lang="ko-KR" altLang="en-US" sz="1400" dirty="0"/>
              <a:t>사기경마 </a:t>
            </a:r>
            <a:r>
              <a:rPr lang="en-US" altLang="ko-KR" sz="1400" dirty="0"/>
              <a:t>, </a:t>
            </a:r>
            <a:r>
              <a:rPr lang="ko-KR" altLang="en-US" sz="1400" dirty="0"/>
              <a:t>흑과 백 등등 </a:t>
            </a:r>
            <a:r>
              <a:rPr lang="en-US" altLang="ko-KR" sz="1400" dirty="0"/>
              <a:t>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432377" y="5046307"/>
            <a:ext cx="8032594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smtClean="0"/>
              <a:t>세세한 시스템기획은 무엇을 어디까지 구현할지를 정해놓고</a:t>
            </a:r>
            <a:endParaRPr lang="en-US" altLang="ko-KR" dirty="0" smtClean="0"/>
          </a:p>
          <a:p>
            <a:endParaRPr lang="en-US" altLang="ko-KR" dirty="0"/>
          </a:p>
          <a:p>
            <a:r>
              <a:rPr lang="ko-KR" altLang="en-US" dirty="0" smtClean="0"/>
              <a:t>팀원들과 같이 게임을 만들고 싶은 맘입니다</a:t>
            </a:r>
            <a:r>
              <a:rPr lang="en-US" altLang="ko-KR" dirty="0" smtClean="0"/>
              <a:t>. </a:t>
            </a:r>
          </a:p>
          <a:p>
            <a:endParaRPr lang="en-US" altLang="ko-KR" dirty="0"/>
          </a:p>
          <a:p>
            <a:r>
              <a:rPr lang="ko-KR" altLang="en-US" dirty="0" smtClean="0"/>
              <a:t>많은 의견 </a:t>
            </a:r>
            <a:r>
              <a:rPr lang="ko-KR" altLang="en-US" dirty="0" err="1" smtClean="0"/>
              <a:t>부탁드립니다</a:t>
            </a:r>
            <a:r>
              <a:rPr lang="en-US" altLang="ko-KR" dirty="0" smtClean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4521073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193</TotalTime>
  <Words>1283</Words>
  <Application>Microsoft Office PowerPoint</Application>
  <PresentationFormat>화면 슬라이드 쇼(4:3)</PresentationFormat>
  <Paragraphs>540</Paragraphs>
  <Slides>29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29</vt:i4>
      </vt:variant>
    </vt:vector>
  </HeadingPairs>
  <TitlesOfParts>
    <vt:vector size="30" baseType="lpstr">
      <vt:lpstr>Office 테마</vt:lpstr>
      <vt:lpstr>실제 게임 플로우 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실제 게임 플로우 </dc:title>
  <dc:creator>goldenboy</dc:creator>
  <cp:lastModifiedBy>goldenboy</cp:lastModifiedBy>
  <cp:revision>312</cp:revision>
  <dcterms:created xsi:type="dcterms:W3CDTF">2017-04-07T16:19:56Z</dcterms:created>
  <dcterms:modified xsi:type="dcterms:W3CDTF">2017-04-12T12:31:14Z</dcterms:modified>
</cp:coreProperties>
</file>