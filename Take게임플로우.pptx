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6" r:id="rId11"/>
    <p:sldId id="277" r:id="rId12"/>
    <p:sldId id="266" r:id="rId13"/>
    <p:sldId id="267" r:id="rId14"/>
    <p:sldId id="268" r:id="rId15"/>
    <p:sldId id="269" r:id="rId16"/>
    <p:sldId id="270" r:id="rId17"/>
    <p:sldId id="271" r:id="rId18"/>
    <p:sldId id="278" r:id="rId19"/>
    <p:sldId id="272" r:id="rId20"/>
    <p:sldId id="273" r:id="rId21"/>
    <p:sldId id="274" r:id="rId22"/>
    <p:sldId id="275" r:id="rId2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-152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7C16-BD27-4BF0-A331-0963955FBA3F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473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7C16-BD27-4BF0-A331-0963955FBA3F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777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7C16-BD27-4BF0-A331-0963955FBA3F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397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7C16-BD27-4BF0-A331-0963955FBA3F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9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7C16-BD27-4BF0-A331-0963955FBA3F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752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7C16-BD27-4BF0-A331-0963955FBA3F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787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7C16-BD27-4BF0-A331-0963955FBA3F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648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7C16-BD27-4BF0-A331-0963955FBA3F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644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7C16-BD27-4BF0-A331-0963955FBA3F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3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7C16-BD27-4BF0-A331-0963955FBA3F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551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7C16-BD27-4BF0-A331-0963955FBA3F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434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A7C16-BD27-4BF0-A331-0963955FBA3F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72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64173" y="269411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ko-KR" altLang="en-US" sz="4000" dirty="0" smtClean="0"/>
              <a:t>실제 게임 </a:t>
            </a:r>
            <a:r>
              <a:rPr lang="ko-KR" altLang="en-US" sz="4000" dirty="0" err="1" smtClean="0"/>
              <a:t>플로우</a:t>
            </a:r>
            <a:r>
              <a:rPr lang="ko-KR" altLang="en-US" sz="4000" dirty="0" smtClean="0"/>
              <a:t> 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82969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996" y="293924"/>
            <a:ext cx="2647269" cy="6361900"/>
          </a:xfrm>
          <a:prstGeom prst="rect">
            <a:avLst/>
          </a:prstGeom>
        </p:spPr>
      </p:pic>
      <p:sp>
        <p:nvSpPr>
          <p:cNvPr id="4" name="순서도: 대체 처리 3"/>
          <p:cNvSpPr/>
          <p:nvPr/>
        </p:nvSpPr>
        <p:spPr>
          <a:xfrm>
            <a:off x="3299254" y="2084173"/>
            <a:ext cx="1995617" cy="235602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로고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타이틀화면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게임 배경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스토리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8084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99" y="293924"/>
            <a:ext cx="2647269" cy="6361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40916" y="427840"/>
            <a:ext cx="560594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/>
              <a:t>메인 로비 입장 </a:t>
            </a:r>
            <a:endParaRPr lang="en-US" altLang="ko-KR" sz="4000" dirty="0" smtClean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sz="1600" dirty="0" smtClean="0"/>
              <a:t>게임 </a:t>
            </a:r>
            <a:r>
              <a:rPr lang="ko-KR" altLang="en-US" sz="1600" dirty="0" smtClean="0"/>
              <a:t>플레이</a:t>
            </a:r>
            <a:endParaRPr lang="en-US" altLang="ko-KR" sz="1600" dirty="0"/>
          </a:p>
          <a:p>
            <a:r>
              <a:rPr lang="en-US" altLang="ko-KR" sz="1600" dirty="0"/>
              <a:t>1</a:t>
            </a:r>
            <a:r>
              <a:rPr lang="ko-KR" altLang="en-US" sz="1600" dirty="0"/>
              <a:t>일 </a:t>
            </a:r>
            <a:r>
              <a:rPr lang="en-US" altLang="ko-KR" sz="1600" dirty="0" smtClean="0"/>
              <a:t>N</a:t>
            </a:r>
            <a:r>
              <a:rPr lang="ko-KR" altLang="en-US" sz="1600" dirty="0" smtClean="0"/>
              <a:t>회 기본입장</a:t>
            </a:r>
            <a:endParaRPr lang="en-US" altLang="ko-KR" sz="1600" dirty="0" smtClean="0"/>
          </a:p>
          <a:p>
            <a:r>
              <a:rPr lang="en-US" altLang="ko-KR" sz="1600" dirty="0" smtClean="0"/>
              <a:t>( </a:t>
            </a:r>
            <a:r>
              <a:rPr lang="ko-KR" altLang="en-US" sz="1400" dirty="0" smtClean="0"/>
              <a:t>별 </a:t>
            </a:r>
            <a:r>
              <a:rPr lang="en-US" altLang="ko-KR" sz="1400" dirty="0" smtClean="0"/>
              <a:t>1</a:t>
            </a:r>
            <a:r>
              <a:rPr lang="ko-KR" altLang="en-US" sz="1400" dirty="0" smtClean="0"/>
              <a:t>개당 </a:t>
            </a:r>
            <a:r>
              <a:rPr lang="en-US" altLang="ko-KR" sz="1400" dirty="0" smtClean="0"/>
              <a:t>100</a:t>
            </a:r>
            <a:r>
              <a:rPr lang="ko-KR" altLang="en-US" sz="1400" dirty="0" smtClean="0"/>
              <a:t>만원 </a:t>
            </a:r>
            <a:r>
              <a:rPr lang="en-US" altLang="ko-KR" sz="1400" dirty="0" smtClean="0"/>
              <a:t>,  </a:t>
            </a:r>
            <a:r>
              <a:rPr lang="ko-KR" altLang="en-US" sz="1400" dirty="0" smtClean="0"/>
              <a:t>개인보유금 </a:t>
            </a:r>
            <a:r>
              <a:rPr lang="en-US" altLang="ko-KR" sz="1400" dirty="0" smtClean="0"/>
              <a:t>300</a:t>
            </a:r>
            <a:r>
              <a:rPr lang="ko-KR" altLang="en-US" sz="1400" dirty="0" err="1" smtClean="0"/>
              <a:t>만원이하시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1</a:t>
            </a:r>
            <a:r>
              <a:rPr lang="ko-KR" altLang="en-US" sz="1400" dirty="0" smtClean="0"/>
              <a:t>일 </a:t>
            </a:r>
            <a:r>
              <a:rPr lang="en-US" altLang="ko-KR" sz="1400" dirty="0" smtClean="0"/>
              <a:t>N</a:t>
            </a:r>
            <a:r>
              <a:rPr lang="ko-KR" altLang="en-US" sz="1400" dirty="0" err="1" smtClean="0"/>
              <a:t>회충전</a:t>
            </a:r>
            <a:r>
              <a:rPr lang="ko-KR" altLang="en-US" sz="1400" dirty="0" smtClean="0"/>
              <a:t> 가능</a:t>
            </a:r>
            <a:r>
              <a:rPr lang="en-US" altLang="ko-KR" sz="1600" dirty="0" smtClean="0"/>
              <a:t>)</a:t>
            </a:r>
          </a:p>
          <a:p>
            <a:endParaRPr lang="en-US" altLang="ko-KR" sz="1600" dirty="0" smtClean="0"/>
          </a:p>
          <a:p>
            <a:r>
              <a:rPr lang="en-US" altLang="ko-KR" sz="1600" dirty="0"/>
              <a:t>- </a:t>
            </a:r>
            <a:r>
              <a:rPr lang="ko-KR" altLang="en-US" sz="1600" dirty="0"/>
              <a:t>게임 스토리 </a:t>
            </a:r>
            <a:endParaRPr lang="en-US" altLang="ko-KR" sz="1600" dirty="0"/>
          </a:p>
          <a:p>
            <a:r>
              <a:rPr lang="ko-KR" altLang="en-US" sz="1600" dirty="0"/>
              <a:t>플레이어가 </a:t>
            </a:r>
            <a:r>
              <a:rPr lang="ko-KR" altLang="en-US" sz="1600" dirty="0" err="1"/>
              <a:t>찌라시에</a:t>
            </a:r>
            <a:r>
              <a:rPr lang="ko-KR" altLang="en-US" sz="1600" dirty="0"/>
              <a:t> 유혹되어 게임을 시작하게 된다</a:t>
            </a:r>
            <a:r>
              <a:rPr lang="en-US" altLang="ko-KR" sz="1600" dirty="0" smtClean="0"/>
              <a:t>.</a:t>
            </a:r>
            <a:endParaRPr lang="en-US" altLang="ko-KR" sz="1600" dirty="0"/>
          </a:p>
          <a:p>
            <a:r>
              <a:rPr lang="en-US" altLang="ko-KR" sz="1600" dirty="0"/>
              <a:t/>
            </a:r>
            <a:br>
              <a:rPr lang="en-US" altLang="ko-KR" sz="1600" dirty="0"/>
            </a:br>
            <a:r>
              <a:rPr lang="en-US" altLang="ko-KR" sz="1600" dirty="0" smtClean="0"/>
              <a:t>- </a:t>
            </a:r>
            <a:r>
              <a:rPr lang="ko-KR" altLang="en-US" sz="1600" dirty="0" smtClean="0"/>
              <a:t>게임 배경 </a:t>
            </a:r>
            <a:endParaRPr lang="en-US" altLang="ko-KR" sz="1600" dirty="0"/>
          </a:p>
          <a:p>
            <a:r>
              <a:rPr lang="ko-KR" altLang="en-US" sz="1600" dirty="0" smtClean="0"/>
              <a:t>게임은 </a:t>
            </a:r>
            <a:r>
              <a:rPr lang="ko-KR" altLang="en-US" sz="1600" dirty="0" err="1" smtClean="0"/>
              <a:t>일정시간동안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“</a:t>
            </a:r>
            <a:r>
              <a:rPr lang="ko-KR" altLang="en-US" sz="1600" dirty="0" smtClean="0"/>
              <a:t>배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가위바위보 </a:t>
            </a:r>
            <a:r>
              <a:rPr lang="ko-KR" altLang="en-US" sz="1600" dirty="0" err="1" smtClean="0"/>
              <a:t>크루즈</a:t>
            </a:r>
            <a:r>
              <a:rPr lang="ko-KR" altLang="en-US" sz="1600" dirty="0" smtClean="0"/>
              <a:t> 호 </a:t>
            </a:r>
            <a:r>
              <a:rPr lang="en-US" altLang="ko-KR" sz="1600" dirty="0" smtClean="0"/>
              <a:t>”</a:t>
            </a:r>
            <a:r>
              <a:rPr lang="ko-KR" altLang="en-US" sz="1600" dirty="0" smtClean="0"/>
              <a:t>안에서 </a:t>
            </a:r>
            <a:endParaRPr lang="en-US" altLang="ko-KR" sz="1600" dirty="0" smtClean="0"/>
          </a:p>
          <a:p>
            <a:r>
              <a:rPr lang="ko-KR" altLang="en-US" sz="1600" dirty="0" smtClean="0"/>
              <a:t>이루어진다</a:t>
            </a:r>
            <a:r>
              <a:rPr lang="en-US" altLang="ko-KR" sz="1600" dirty="0" smtClean="0"/>
              <a:t>. </a:t>
            </a:r>
          </a:p>
          <a:p>
            <a:endParaRPr lang="en-US" altLang="ko-KR" sz="1600" dirty="0" smtClean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- </a:t>
            </a:r>
            <a:r>
              <a:rPr lang="ko-KR" altLang="en-US" sz="1600" dirty="0" smtClean="0"/>
              <a:t>로비는 최대한 간단하게 구성 </a:t>
            </a:r>
            <a:endParaRPr lang="en-US" altLang="ko-KR" sz="1600" dirty="0" smtClean="0"/>
          </a:p>
          <a:p>
            <a:r>
              <a:rPr lang="ko-KR" altLang="en-US" sz="1600" dirty="0" smtClean="0"/>
              <a:t>내 정보</a:t>
            </a:r>
            <a:r>
              <a:rPr lang="en-US" altLang="ko-KR" sz="1600" dirty="0" smtClean="0"/>
              <a:t>  : 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내부 상세정보 확인 가능 </a:t>
            </a:r>
            <a:r>
              <a:rPr lang="en-US" altLang="ko-KR" sz="1600" dirty="0" smtClean="0"/>
              <a:t>( </a:t>
            </a:r>
            <a:r>
              <a:rPr lang="ko-KR" altLang="en-US" sz="1600" dirty="0" smtClean="0"/>
              <a:t>캐릭터 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보유아이템등등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)</a:t>
            </a:r>
          </a:p>
          <a:p>
            <a:r>
              <a:rPr lang="ko-KR" altLang="en-US" sz="1600" dirty="0" smtClean="0"/>
              <a:t>상점 </a:t>
            </a:r>
            <a:r>
              <a:rPr lang="en-US" altLang="ko-KR" sz="1600" dirty="0" smtClean="0"/>
              <a:t>: 1</a:t>
            </a:r>
            <a:r>
              <a:rPr lang="ko-KR" altLang="en-US" sz="1600" dirty="0" smtClean="0"/>
              <a:t>일 </a:t>
            </a:r>
            <a:r>
              <a:rPr lang="en-US" altLang="ko-KR" sz="1600" dirty="0" smtClean="0"/>
              <a:t>1</a:t>
            </a:r>
            <a:r>
              <a:rPr lang="ko-KR" altLang="en-US" sz="1600" dirty="0" err="1" smtClean="0"/>
              <a:t>회이상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입장하고싶을시</a:t>
            </a:r>
            <a:r>
              <a:rPr lang="ko-KR" altLang="en-US" sz="1600" dirty="0" smtClean="0"/>
              <a:t> 입장권 구매 혹은 캐릭터 판매 용도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752" y="937364"/>
            <a:ext cx="386020" cy="5146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50700" y="1010043"/>
            <a:ext cx="859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입장권 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490586" y="1452056"/>
            <a:ext cx="2326754" cy="45368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메인 로비 </a:t>
            </a:r>
            <a:endParaRPr lang="ko-KR" altLang="en-US" dirty="0"/>
          </a:p>
        </p:txBody>
      </p:sp>
      <p:sp>
        <p:nvSpPr>
          <p:cNvPr id="11" name="사각형: 둥근 모서리 10"/>
          <p:cNvSpPr/>
          <p:nvPr/>
        </p:nvSpPr>
        <p:spPr>
          <a:xfrm>
            <a:off x="588451" y="5255741"/>
            <a:ext cx="1050083" cy="58299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/>
              <a:t>게임</a:t>
            </a:r>
            <a:r>
              <a:rPr lang="ko-KR" altLang="en-US" sz="1600" dirty="0" err="1"/>
              <a:t>방</a:t>
            </a:r>
            <a:r>
              <a:rPr lang="ko-KR" altLang="en-US" sz="1600" dirty="0" smtClean="0"/>
              <a:t> 입장</a:t>
            </a:r>
            <a:endParaRPr lang="ko-KR" altLang="en-US" sz="1600" dirty="0"/>
          </a:p>
        </p:txBody>
      </p:sp>
      <p:sp>
        <p:nvSpPr>
          <p:cNvPr id="10" name="사각형: 둥근 모서리 10"/>
          <p:cNvSpPr/>
          <p:nvPr/>
        </p:nvSpPr>
        <p:spPr>
          <a:xfrm>
            <a:off x="2180261" y="1706001"/>
            <a:ext cx="622655" cy="58299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내</a:t>
            </a:r>
            <a:endParaRPr lang="en-US" altLang="ko-KR" sz="1400" dirty="0" smtClean="0"/>
          </a:p>
          <a:p>
            <a:pPr algn="ctr"/>
            <a:r>
              <a:rPr lang="ko-KR" altLang="en-US" sz="1400" dirty="0" smtClean="0"/>
              <a:t>정보</a:t>
            </a:r>
            <a:endParaRPr lang="ko-KR" altLang="en-US" sz="1400" dirty="0"/>
          </a:p>
        </p:txBody>
      </p:sp>
      <p:sp>
        <p:nvSpPr>
          <p:cNvPr id="12" name="사각형: 둥근 모서리 10"/>
          <p:cNvSpPr/>
          <p:nvPr/>
        </p:nvSpPr>
        <p:spPr>
          <a:xfrm>
            <a:off x="2095467" y="5255741"/>
            <a:ext cx="622655" cy="58299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상점</a:t>
            </a:r>
            <a:endParaRPr lang="ko-KR" altLang="en-US" sz="1600" dirty="0"/>
          </a:p>
        </p:txBody>
      </p:sp>
      <p:pic>
        <p:nvPicPr>
          <p:cNvPr id="3075" name="Picture 3" descr="C:\Users\goldenboy\Desktop\배이미지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89" y="1589902"/>
            <a:ext cx="1553978" cy="359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3269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99" y="293924"/>
            <a:ext cx="2647269" cy="6361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90343" y="2479061"/>
            <a:ext cx="5605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임의의 정해진 게임 </a:t>
            </a:r>
            <a:r>
              <a:rPr lang="ko-KR" altLang="en-US" dirty="0"/>
              <a:t>제한시간 방을 선택 후 게임 </a:t>
            </a:r>
            <a:r>
              <a:rPr lang="ko-KR" altLang="en-US" dirty="0" smtClean="0"/>
              <a:t>신청을 해놓는다</a:t>
            </a:r>
            <a:endParaRPr lang="en-US" altLang="ko-KR" dirty="0"/>
          </a:p>
        </p:txBody>
      </p:sp>
      <p:sp>
        <p:nvSpPr>
          <p:cNvPr id="10" name="직사각형 9"/>
          <p:cNvSpPr/>
          <p:nvPr/>
        </p:nvSpPr>
        <p:spPr>
          <a:xfrm>
            <a:off x="817460" y="2175922"/>
            <a:ext cx="1642145" cy="8388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r>
              <a:rPr lang="ko-KR" altLang="en-US" dirty="0"/>
              <a:t>시간 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817460" y="3269480"/>
            <a:ext cx="1642145" cy="8388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12</a:t>
            </a:r>
            <a:r>
              <a:rPr lang="ko-KR" altLang="en-US" dirty="0"/>
              <a:t>시간 </a:t>
            </a:r>
          </a:p>
        </p:txBody>
      </p:sp>
      <p:sp>
        <p:nvSpPr>
          <p:cNvPr id="2" name="사각형: 둥근 모서리 1"/>
          <p:cNvSpPr/>
          <p:nvPr/>
        </p:nvSpPr>
        <p:spPr>
          <a:xfrm>
            <a:off x="1171988" y="5305353"/>
            <a:ext cx="933090" cy="4110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입장신</a:t>
            </a:r>
            <a:r>
              <a:rPr lang="ko-KR" altLang="en-US" dirty="0"/>
              <a:t>청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566" y="5179314"/>
            <a:ext cx="629725" cy="761528"/>
          </a:xfrm>
          <a:prstGeom prst="rect">
            <a:avLst/>
          </a:prstGeom>
        </p:spPr>
      </p:pic>
      <p:sp>
        <p:nvSpPr>
          <p:cNvPr id="3" name="포인트가 6개인 별 2"/>
          <p:cNvSpPr/>
          <p:nvPr/>
        </p:nvSpPr>
        <p:spPr>
          <a:xfrm>
            <a:off x="1971379" y="4670808"/>
            <a:ext cx="950064" cy="840075"/>
          </a:xfrm>
          <a:prstGeom prst="star6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클릭</a:t>
            </a:r>
            <a:r>
              <a:rPr lang="en-US" altLang="ko-KR" dirty="0" smtClean="0"/>
              <a:t>!!!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323968" y="420131"/>
            <a:ext cx="5461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/>
              <a:t>게임 입장 메뉴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5650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99" y="293924"/>
            <a:ext cx="2647269" cy="6361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40916" y="427839"/>
            <a:ext cx="560594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대기 화면으로 넘어가게 되며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여기서 </a:t>
            </a:r>
            <a:r>
              <a:rPr lang="ko-KR" altLang="en-US" dirty="0" err="1" smtClean="0"/>
              <a:t>앱을</a:t>
            </a:r>
            <a:r>
              <a:rPr lang="ko-KR" altLang="en-US" dirty="0" smtClean="0"/>
              <a:t> 종료시켜도 괜찮다</a:t>
            </a:r>
            <a:r>
              <a:rPr lang="en-US" altLang="ko-KR" dirty="0" smtClean="0"/>
              <a:t>. </a:t>
            </a:r>
          </a:p>
          <a:p>
            <a:endParaRPr lang="en-US" altLang="ko-KR" dirty="0"/>
          </a:p>
          <a:p>
            <a:r>
              <a:rPr lang="ko-KR" altLang="en-US" dirty="0" smtClean="0"/>
              <a:t>게임 시작 인원이 </a:t>
            </a:r>
            <a:r>
              <a:rPr lang="ko-KR" altLang="en-US" dirty="0" err="1" smtClean="0"/>
              <a:t>채워지게되면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On Line </a:t>
            </a:r>
            <a:r>
              <a:rPr lang="ko-KR" altLang="en-US" dirty="0" smtClean="0"/>
              <a:t>유저는 바로 게임화면으로 입장하게 되며 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Off Line ( </a:t>
            </a:r>
            <a:r>
              <a:rPr lang="ko-KR" altLang="en-US" dirty="0" smtClean="0"/>
              <a:t>게임 </a:t>
            </a:r>
            <a:r>
              <a:rPr lang="ko-KR" altLang="en-US" dirty="0" err="1" smtClean="0"/>
              <a:t>앱을</a:t>
            </a:r>
            <a:r>
              <a:rPr lang="ko-KR" altLang="en-US" dirty="0" smtClean="0"/>
              <a:t> 실행시키지 않은 유저</a:t>
            </a:r>
            <a:r>
              <a:rPr lang="en-US" altLang="ko-KR" dirty="0" smtClean="0"/>
              <a:t>) </a:t>
            </a:r>
            <a:r>
              <a:rPr lang="ko-KR" altLang="en-US" dirty="0" smtClean="0"/>
              <a:t>에게는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err="1" smtClean="0"/>
              <a:t>푸쉬메세지를</a:t>
            </a:r>
            <a:r>
              <a:rPr lang="ko-KR" altLang="en-US" dirty="0" smtClean="0"/>
              <a:t> 보내서 게임이 </a:t>
            </a:r>
            <a:r>
              <a:rPr lang="ko-KR" altLang="en-US" dirty="0" err="1" smtClean="0"/>
              <a:t>시작되었다는것을</a:t>
            </a:r>
            <a:r>
              <a:rPr lang="ko-KR" altLang="en-US" dirty="0" smtClean="0"/>
              <a:t> 알린다</a:t>
            </a:r>
            <a:r>
              <a:rPr lang="en-US" altLang="ko-KR" dirty="0" smtClean="0"/>
              <a:t>. </a:t>
            </a:r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시작 이후 총 게임시간의 </a:t>
            </a:r>
            <a:r>
              <a:rPr lang="en-US" altLang="ko-KR" dirty="0" smtClean="0"/>
              <a:t>1/10</a:t>
            </a:r>
            <a:r>
              <a:rPr lang="ko-KR" altLang="en-US" dirty="0" smtClean="0"/>
              <a:t>의 시간이 초과되었음에도 </a:t>
            </a:r>
            <a:endParaRPr lang="en-US" altLang="ko-KR" dirty="0" smtClean="0"/>
          </a:p>
          <a:p>
            <a:r>
              <a:rPr lang="ko-KR" altLang="en-US" dirty="0" smtClean="0"/>
              <a:t>입장하지 않는 플레이어에게는 재차 </a:t>
            </a:r>
            <a:r>
              <a:rPr lang="ko-KR" altLang="en-US" dirty="0" err="1" smtClean="0"/>
              <a:t>푸쉬메세지를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r>
              <a:rPr lang="en-US" altLang="ko-KR" dirty="0" smtClean="0"/>
              <a:t>1/10</a:t>
            </a:r>
            <a:r>
              <a:rPr lang="ko-KR" altLang="en-US" dirty="0" smtClean="0"/>
              <a:t>의 시간마다 보내도록 한다</a:t>
            </a:r>
            <a:r>
              <a:rPr lang="en-US" altLang="ko-KR" dirty="0" smtClean="0"/>
              <a:t>. </a:t>
            </a:r>
          </a:p>
          <a:p>
            <a:endParaRPr lang="en-US" altLang="ko-KR" dirty="0" smtClean="0"/>
          </a:p>
          <a:p>
            <a:endParaRPr lang="en-US" altLang="ko-KR" dirty="0"/>
          </a:p>
        </p:txBody>
      </p:sp>
      <p:sp>
        <p:nvSpPr>
          <p:cNvPr id="10" name="직사각형 9"/>
          <p:cNvSpPr/>
          <p:nvPr/>
        </p:nvSpPr>
        <p:spPr>
          <a:xfrm>
            <a:off x="582987" y="3474874"/>
            <a:ext cx="2111091" cy="1045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방을 </a:t>
            </a:r>
            <a:r>
              <a:rPr lang="ko-KR" altLang="en-US" dirty="0" err="1" smtClean="0"/>
              <a:t>찾고있습니다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2" name="사각형: 둥근 모서리 1"/>
          <p:cNvSpPr/>
          <p:nvPr/>
        </p:nvSpPr>
        <p:spPr>
          <a:xfrm>
            <a:off x="948692" y="5099314"/>
            <a:ext cx="1379683" cy="5764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입장취소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39" y="905968"/>
            <a:ext cx="2399788" cy="2142033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948692" y="2630286"/>
            <a:ext cx="1602893" cy="2843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게임이 시작되었습니다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5220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goldenboy\Desktop\대출저장소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49" y="436605"/>
            <a:ext cx="4961238" cy="535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362832" y="436605"/>
            <a:ext cx="3737919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입장하자마자 </a:t>
            </a:r>
            <a:r>
              <a:rPr lang="en-US" altLang="ko-KR" sz="1200" dirty="0" smtClean="0"/>
              <a:t>“</a:t>
            </a:r>
            <a:r>
              <a:rPr lang="ko-KR" altLang="en-US" sz="1200" dirty="0" smtClean="0"/>
              <a:t>거래소</a:t>
            </a:r>
            <a:r>
              <a:rPr lang="en-US" altLang="ko-KR" sz="1200" dirty="0" smtClean="0"/>
              <a:t>”</a:t>
            </a:r>
            <a:r>
              <a:rPr lang="ko-KR" altLang="en-US" sz="1200" dirty="0" smtClean="0"/>
              <a:t>로 </a:t>
            </a:r>
            <a:r>
              <a:rPr lang="ko-KR" altLang="en-US" sz="1200" dirty="0" err="1" smtClean="0"/>
              <a:t>들어가게된다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ko-KR" altLang="en-US" sz="1200" dirty="0" smtClean="0"/>
              <a:t>거래소에서 입장금액 </a:t>
            </a:r>
            <a:r>
              <a:rPr lang="en-US" altLang="ko-KR" sz="1200" dirty="0" smtClean="0"/>
              <a:t>300</a:t>
            </a:r>
            <a:r>
              <a:rPr lang="ko-KR" altLang="en-US" sz="1200" dirty="0" smtClean="0"/>
              <a:t>만원을 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ko-KR" altLang="en-US" sz="1200" dirty="0" smtClean="0"/>
              <a:t>별 </a:t>
            </a:r>
            <a:r>
              <a:rPr lang="en-US" altLang="ko-KR" sz="1200" dirty="0" smtClean="0"/>
              <a:t>3</a:t>
            </a:r>
            <a:r>
              <a:rPr lang="ko-KR" altLang="en-US" sz="1200" dirty="0" smtClean="0"/>
              <a:t>개로 교환해주면서 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ko-KR" altLang="en-US" sz="1200" dirty="0" smtClean="0"/>
              <a:t>게임에 필요한 돈을 </a:t>
            </a:r>
            <a:r>
              <a:rPr lang="ko-KR" altLang="en-US" sz="1200" dirty="0" err="1" smtClean="0"/>
              <a:t>빌릴것</a:t>
            </a:r>
            <a:r>
              <a:rPr lang="ko-KR" altLang="en-US" sz="1200" dirty="0" smtClean="0"/>
              <a:t> 인지에 대한 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ko-KR" altLang="en-US" sz="1200" dirty="0" smtClean="0"/>
              <a:t>선택지를 접하게 된다</a:t>
            </a:r>
            <a:r>
              <a:rPr lang="en-US" altLang="ko-KR" sz="1200" dirty="0" smtClean="0"/>
              <a:t>.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ko-KR" altLang="en-US" sz="1200" dirty="0" smtClean="0"/>
              <a:t>처음에 들어오는 플레이어는 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en-US" altLang="ko-KR" sz="1200" dirty="0" smtClean="0"/>
              <a:t>“</a:t>
            </a:r>
            <a:r>
              <a:rPr lang="ko-KR" altLang="en-US" sz="1200" dirty="0" smtClean="0"/>
              <a:t>이게 </a:t>
            </a:r>
            <a:r>
              <a:rPr lang="ko-KR" altLang="en-US" sz="1200" dirty="0" smtClean="0"/>
              <a:t>뭐 하는 </a:t>
            </a:r>
            <a:r>
              <a:rPr lang="ko-KR" altLang="en-US" sz="1200" dirty="0" smtClean="0"/>
              <a:t>게임이야</a:t>
            </a:r>
            <a:r>
              <a:rPr lang="en-US" altLang="ko-KR" sz="1200" dirty="0" smtClean="0"/>
              <a:t>”?</a:t>
            </a:r>
          </a:p>
          <a:p>
            <a:endParaRPr lang="en-US" altLang="ko-KR" sz="1200" dirty="0"/>
          </a:p>
          <a:p>
            <a:r>
              <a:rPr lang="ko-KR" altLang="en-US" sz="1200" dirty="0" smtClean="0"/>
              <a:t>라는 생각이 </a:t>
            </a:r>
            <a:r>
              <a:rPr lang="ko-KR" altLang="en-US" sz="1200" dirty="0" smtClean="0"/>
              <a:t>들 수 </a:t>
            </a:r>
            <a:r>
              <a:rPr lang="ko-KR" altLang="en-US" sz="1200" dirty="0" smtClean="0"/>
              <a:t>있지만 </a:t>
            </a:r>
            <a:endParaRPr lang="en-US" altLang="ko-KR" sz="1200" dirty="0"/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(</a:t>
            </a:r>
            <a:r>
              <a:rPr lang="ko-KR" altLang="en-US" sz="1200" dirty="0" err="1" smtClean="0"/>
              <a:t>튜토리얼이</a:t>
            </a:r>
            <a:r>
              <a:rPr lang="ko-KR" altLang="en-US" sz="1200" dirty="0" smtClean="0"/>
              <a:t> </a:t>
            </a:r>
            <a:r>
              <a:rPr lang="ko-KR" altLang="en-US" sz="1200" dirty="0" smtClean="0"/>
              <a:t>들어간다면 게임설명을 </a:t>
            </a:r>
            <a:r>
              <a:rPr lang="ko-KR" altLang="en-US" sz="1200" dirty="0" smtClean="0"/>
              <a:t>넣을 예정</a:t>
            </a:r>
            <a:r>
              <a:rPr lang="en-US" altLang="ko-KR" sz="1200" dirty="0" smtClean="0"/>
              <a:t>)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ko-KR" altLang="en-US" sz="1200" dirty="0" smtClean="0"/>
              <a:t>일단 돈을 </a:t>
            </a:r>
            <a:r>
              <a:rPr lang="ko-KR" altLang="en-US" sz="1200" dirty="0" err="1" smtClean="0"/>
              <a:t>빌릴수</a:t>
            </a:r>
            <a:r>
              <a:rPr lang="ko-KR" altLang="en-US" sz="1200" dirty="0" smtClean="0"/>
              <a:t> 있다는 거래소가 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ko-KR" altLang="en-US" sz="1200" dirty="0" smtClean="0"/>
              <a:t>존재한다는 내용을 유저에게 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ko-KR" altLang="en-US" sz="1200" dirty="0" smtClean="0"/>
              <a:t>각인 시키기 위함의 </a:t>
            </a:r>
            <a:r>
              <a:rPr lang="ko-KR" altLang="en-US" sz="1200" dirty="0" err="1" smtClean="0"/>
              <a:t>플로우다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 smtClean="0"/>
              <a:t>돈 빌려주는 거래소 이미지는 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ko-KR" altLang="en-US" sz="1200" dirty="0" smtClean="0"/>
              <a:t>퇴폐업소의 </a:t>
            </a:r>
            <a:r>
              <a:rPr lang="ko-KR" altLang="en-US" sz="1200" dirty="0" err="1" smtClean="0"/>
              <a:t>이쁜이미지가</a:t>
            </a:r>
            <a:r>
              <a:rPr lang="ko-KR" altLang="en-US" sz="1200" dirty="0" smtClean="0"/>
              <a:t> 필요</a:t>
            </a:r>
            <a:r>
              <a:rPr lang="en-US" altLang="ko-KR" sz="1200" dirty="0" smtClean="0"/>
              <a:t>. </a:t>
            </a:r>
            <a:r>
              <a:rPr lang="ko-KR" altLang="en-US" sz="1200" dirty="0" err="1" smtClean="0"/>
              <a:t>ㅋㅋ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ko-KR" altLang="en-US" sz="1200" dirty="0" smtClean="0"/>
              <a:t>대출하는 곳의 이미지는 좀 퇴폐적이어야 각인됨</a:t>
            </a:r>
            <a:endParaRPr lang="ko-KR" altLang="en-US" sz="1200" dirty="0"/>
          </a:p>
        </p:txBody>
      </p:sp>
      <p:sp>
        <p:nvSpPr>
          <p:cNvPr id="3" name="TextBox 2"/>
          <p:cNvSpPr txBox="1"/>
          <p:nvPr/>
        </p:nvSpPr>
        <p:spPr>
          <a:xfrm>
            <a:off x="1828801" y="3904735"/>
            <a:ext cx="5498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100</a:t>
            </a:r>
            <a:r>
              <a:rPr lang="ko-KR" altLang="en-US" dirty="0" smtClean="0"/>
              <a:t>만원</a:t>
            </a:r>
            <a:endParaRPr lang="en-US" altLang="ko-KR" dirty="0" smtClean="0"/>
          </a:p>
          <a:p>
            <a:r>
              <a:rPr lang="ko-KR" altLang="en-US" dirty="0" smtClean="0"/>
              <a:t>대</a:t>
            </a:r>
            <a:r>
              <a:rPr lang="ko-KR" altLang="en-US" dirty="0"/>
              <a:t>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15397" y="3974757"/>
            <a:ext cx="5498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200</a:t>
            </a:r>
            <a:r>
              <a:rPr lang="ko-KR" altLang="en-US" dirty="0" smtClean="0"/>
              <a:t>만원</a:t>
            </a:r>
            <a:endParaRPr lang="en-US" altLang="ko-KR" dirty="0" smtClean="0"/>
          </a:p>
          <a:p>
            <a:r>
              <a:rPr lang="ko-KR" altLang="en-US" dirty="0" smtClean="0"/>
              <a:t>대</a:t>
            </a:r>
            <a:r>
              <a:rPr lang="ko-KR" altLang="en-US" dirty="0"/>
              <a:t>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0210" y="3974757"/>
            <a:ext cx="5498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r>
              <a:rPr lang="en-US" altLang="ko-KR" dirty="0" smtClean="0"/>
              <a:t>00</a:t>
            </a:r>
            <a:r>
              <a:rPr lang="ko-KR" altLang="en-US" dirty="0" smtClean="0"/>
              <a:t>만원</a:t>
            </a:r>
            <a:endParaRPr lang="en-US" altLang="ko-KR" dirty="0" smtClean="0"/>
          </a:p>
          <a:p>
            <a:r>
              <a:rPr lang="ko-KR" altLang="en-US" dirty="0" smtClean="0"/>
              <a:t>대</a:t>
            </a:r>
            <a:r>
              <a:rPr lang="ko-KR" altLang="en-US" dirty="0"/>
              <a:t>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5022" y="3974757"/>
            <a:ext cx="5498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1000</a:t>
            </a:r>
            <a:r>
              <a:rPr lang="ko-KR" altLang="en-US" dirty="0" smtClean="0"/>
              <a:t>만원</a:t>
            </a:r>
            <a:endParaRPr lang="en-US" altLang="ko-KR" dirty="0" smtClean="0"/>
          </a:p>
          <a:p>
            <a:r>
              <a:rPr lang="ko-KR" altLang="en-US" dirty="0" smtClean="0"/>
              <a:t>대</a:t>
            </a:r>
            <a:r>
              <a:rPr lang="ko-KR" altLang="en-US" dirty="0"/>
              <a:t>출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767017" y="5074508"/>
            <a:ext cx="710513" cy="296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/>
              <a:t>금리 </a:t>
            </a:r>
            <a:r>
              <a:rPr lang="en-US" altLang="ko-KR" sz="1100" dirty="0" smtClean="0"/>
              <a:t>10%</a:t>
            </a:r>
            <a:endParaRPr lang="ko-KR" altLang="en-US" sz="1100" dirty="0"/>
          </a:p>
        </p:txBody>
      </p:sp>
      <p:sp>
        <p:nvSpPr>
          <p:cNvPr id="11" name="직사각형 10"/>
          <p:cNvSpPr/>
          <p:nvPr/>
        </p:nvSpPr>
        <p:spPr>
          <a:xfrm>
            <a:off x="2579473" y="5070389"/>
            <a:ext cx="710513" cy="296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/>
              <a:t>금리 </a:t>
            </a:r>
            <a:r>
              <a:rPr lang="en-US" altLang="ko-KR" sz="1100" dirty="0" smtClean="0"/>
              <a:t>8%</a:t>
            </a:r>
            <a:endParaRPr lang="ko-KR" altLang="en-US" sz="1100" dirty="0"/>
          </a:p>
        </p:txBody>
      </p:sp>
      <p:sp>
        <p:nvSpPr>
          <p:cNvPr id="12" name="직사각형 11"/>
          <p:cNvSpPr/>
          <p:nvPr/>
        </p:nvSpPr>
        <p:spPr>
          <a:xfrm>
            <a:off x="3391928" y="5066270"/>
            <a:ext cx="710513" cy="296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/>
              <a:t>금리 </a:t>
            </a:r>
            <a:r>
              <a:rPr lang="en-US" altLang="ko-KR" sz="1100" dirty="0" smtClean="0"/>
              <a:t>5%</a:t>
            </a:r>
            <a:endParaRPr lang="ko-KR" altLang="en-US" sz="1100" dirty="0"/>
          </a:p>
        </p:txBody>
      </p:sp>
      <p:sp>
        <p:nvSpPr>
          <p:cNvPr id="13" name="직사각형 12"/>
          <p:cNvSpPr/>
          <p:nvPr/>
        </p:nvSpPr>
        <p:spPr>
          <a:xfrm>
            <a:off x="4284702" y="5062151"/>
            <a:ext cx="710513" cy="296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/>
              <a:t>금리 </a:t>
            </a:r>
            <a:r>
              <a:rPr lang="en-US" altLang="ko-KR" sz="1100" dirty="0" smtClean="0"/>
              <a:t>3%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754830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76882" y="368365"/>
            <a:ext cx="3367216" cy="4221966"/>
            <a:chOff x="362465" y="436605"/>
            <a:chExt cx="6614984" cy="5350550"/>
          </a:xfrm>
        </p:grpSpPr>
        <p:pic>
          <p:nvPicPr>
            <p:cNvPr id="2051" name="Picture 3" descr="C:\Users\goldenboy\Desktop\대출저장소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465" y="436605"/>
              <a:ext cx="6614984" cy="5350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2438399" y="3904735"/>
              <a:ext cx="733167" cy="13456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 smtClean="0"/>
                <a:t>100</a:t>
              </a:r>
              <a:r>
                <a:rPr lang="ko-KR" altLang="en-US" sz="1050" dirty="0" smtClean="0"/>
                <a:t>만원</a:t>
              </a:r>
              <a:endParaRPr lang="en-US" altLang="ko-KR" sz="1050" dirty="0" smtClean="0"/>
            </a:p>
            <a:p>
              <a:r>
                <a:rPr lang="ko-KR" altLang="en-US" sz="1050" dirty="0" smtClean="0"/>
                <a:t>대</a:t>
              </a:r>
              <a:r>
                <a:rPr lang="ko-KR" altLang="en-US" sz="1050" dirty="0"/>
                <a:t>출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620528" y="3974758"/>
              <a:ext cx="733167" cy="13456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 smtClean="0"/>
                <a:t>200</a:t>
              </a:r>
              <a:r>
                <a:rPr lang="ko-KR" altLang="en-US" sz="1050" dirty="0" smtClean="0"/>
                <a:t>만원</a:t>
              </a:r>
              <a:endParaRPr lang="en-US" altLang="ko-KR" sz="1050" dirty="0" smtClean="0"/>
            </a:p>
            <a:p>
              <a:r>
                <a:rPr lang="ko-KR" altLang="en-US" sz="1050" dirty="0" smtClean="0"/>
                <a:t>대</a:t>
              </a:r>
              <a:r>
                <a:rPr lang="ko-KR" altLang="en-US" sz="1050" dirty="0"/>
                <a:t>출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720279" y="3974758"/>
              <a:ext cx="733167" cy="14041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5</a:t>
              </a:r>
              <a:r>
                <a:rPr lang="en-US" altLang="ko-KR" sz="1100" dirty="0" smtClean="0"/>
                <a:t>00</a:t>
              </a:r>
              <a:r>
                <a:rPr lang="ko-KR" altLang="en-US" sz="1100" dirty="0" smtClean="0"/>
                <a:t>만원</a:t>
              </a:r>
              <a:endParaRPr lang="en-US" altLang="ko-KR" sz="1100" dirty="0" smtClean="0"/>
            </a:p>
            <a:p>
              <a:r>
                <a:rPr lang="ko-KR" altLang="en-US" sz="1100" dirty="0" smtClean="0"/>
                <a:t>대</a:t>
              </a:r>
              <a:r>
                <a:rPr lang="ko-KR" altLang="en-US" sz="1100" dirty="0"/>
                <a:t>출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820031" y="3974758"/>
              <a:ext cx="733167" cy="14041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 smtClean="0"/>
                <a:t>1000</a:t>
              </a:r>
              <a:r>
                <a:rPr lang="ko-KR" altLang="en-US" sz="1100" dirty="0" smtClean="0"/>
                <a:t>만원</a:t>
              </a:r>
              <a:endParaRPr lang="en-US" altLang="ko-KR" sz="1100" dirty="0" smtClean="0"/>
            </a:p>
            <a:p>
              <a:r>
                <a:rPr lang="ko-KR" altLang="en-US" sz="1100" dirty="0" smtClean="0"/>
                <a:t>대</a:t>
              </a:r>
              <a:r>
                <a:rPr lang="ko-KR" altLang="en-US" sz="1100" dirty="0"/>
                <a:t>출</a:t>
              </a: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2356022" y="5074508"/>
              <a:ext cx="947351" cy="2965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/>
                <a:t>금리 </a:t>
              </a:r>
              <a:r>
                <a:rPr lang="en-US" altLang="ko-KR" sz="1100" dirty="0" smtClean="0"/>
                <a:t>10%</a:t>
              </a:r>
              <a:endParaRPr lang="ko-KR" altLang="en-US" sz="1100" dirty="0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39296" y="5070389"/>
              <a:ext cx="947351" cy="2965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/>
                <a:t>금리 </a:t>
              </a:r>
              <a:r>
                <a:rPr lang="en-US" altLang="ko-KR" sz="1100" dirty="0" smtClean="0"/>
                <a:t>8%</a:t>
              </a:r>
              <a:endParaRPr lang="ko-KR" altLang="en-US" sz="1100" dirty="0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4522570" y="5066270"/>
              <a:ext cx="947351" cy="2965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/>
                <a:t>금리 </a:t>
              </a:r>
              <a:r>
                <a:rPr lang="en-US" altLang="ko-KR" sz="1100" dirty="0" smtClean="0"/>
                <a:t>5%</a:t>
              </a:r>
              <a:endParaRPr lang="ko-KR" altLang="en-US" sz="1100" dirty="0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5712935" y="5062151"/>
              <a:ext cx="947351" cy="2965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/>
                <a:t>금리 </a:t>
              </a:r>
              <a:r>
                <a:rPr lang="en-US" altLang="ko-KR" sz="1100" dirty="0" smtClean="0"/>
                <a:t>3%</a:t>
              </a:r>
              <a:endParaRPr lang="ko-KR" altLang="en-US" sz="1100" dirty="0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077730" y="486032"/>
            <a:ext cx="49550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대출은 총 게임시간의 </a:t>
            </a:r>
            <a:r>
              <a:rPr lang="en-US" altLang="ko-KR" sz="1400" dirty="0" smtClean="0"/>
              <a:t>1</a:t>
            </a:r>
            <a:r>
              <a:rPr lang="ko-KR" altLang="en-US" sz="1400" dirty="0" smtClean="0"/>
              <a:t>시간당의 </a:t>
            </a:r>
            <a:r>
              <a:rPr lang="ko-KR" altLang="en-US" sz="1400" dirty="0" err="1" smtClean="0"/>
              <a:t>할증률이</a:t>
            </a:r>
            <a:r>
              <a:rPr lang="ko-KR" altLang="en-US" sz="1400" dirty="0" smtClean="0"/>
              <a:t> 적용되며 </a:t>
            </a:r>
            <a:endParaRPr lang="en-US" altLang="ko-KR" sz="1400" dirty="0" smtClean="0"/>
          </a:p>
          <a:p>
            <a:endParaRPr lang="en-US" altLang="ko-KR" sz="1400" dirty="0"/>
          </a:p>
          <a:p>
            <a:endParaRPr lang="en-US" altLang="ko-KR" sz="1400" dirty="0" smtClean="0"/>
          </a:p>
          <a:p>
            <a:r>
              <a:rPr lang="ko-KR" altLang="en-US" sz="1400" dirty="0" smtClean="0"/>
              <a:t>대출 가능 금액은 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ko-KR" altLang="en-US" sz="1400" dirty="0" smtClean="0"/>
              <a:t>계정의 현재 보유금이 게임 총 시간 플레이시간의 할증을 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ko-KR" altLang="en-US" sz="1400" dirty="0" smtClean="0"/>
              <a:t>감당할 수 있는 금액만큼만 대출이 가능하며 </a:t>
            </a:r>
            <a:endParaRPr lang="en-US" altLang="ko-KR" sz="1400" dirty="0" smtClean="0"/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 smtClean="0"/>
              <a:t>무 조건적으로 최소 금액을 대출받고 게임은 진행된다</a:t>
            </a:r>
            <a:endParaRPr lang="en-US" altLang="ko-KR" sz="1400" dirty="0" smtClean="0"/>
          </a:p>
          <a:p>
            <a:r>
              <a:rPr lang="en-US" altLang="ko-KR" sz="1400" dirty="0" smtClean="0"/>
              <a:t>(</a:t>
            </a:r>
            <a:r>
              <a:rPr lang="ko-KR" altLang="en-US" sz="1400" dirty="0" smtClean="0"/>
              <a:t>게임운영에 필수적이므로 </a:t>
            </a:r>
            <a:r>
              <a:rPr lang="en-US" altLang="ko-KR" sz="1400" dirty="0" smtClean="0"/>
              <a:t>)</a:t>
            </a:r>
            <a:endParaRPr lang="en-US" altLang="ko-KR" sz="1400" dirty="0"/>
          </a:p>
          <a:p>
            <a:endParaRPr lang="en-US" altLang="ko-KR" sz="1400" dirty="0" smtClean="0"/>
          </a:p>
          <a:p>
            <a:r>
              <a:rPr lang="ko-KR" altLang="en-US" sz="1400" dirty="0" smtClean="0"/>
              <a:t>대출금 상환은 게임이 끝나는 시점에서 자동적으로 계산 된다</a:t>
            </a:r>
            <a:r>
              <a:rPr lang="en-US" altLang="ko-KR" sz="1400" dirty="0" smtClean="0"/>
              <a:t>. </a:t>
            </a:r>
          </a:p>
          <a:p>
            <a:endParaRPr lang="en-US" altLang="ko-KR" sz="1400" dirty="0"/>
          </a:p>
          <a:p>
            <a:endParaRPr lang="en-US" altLang="ko-KR" sz="1400" dirty="0" smtClean="0"/>
          </a:p>
          <a:p>
            <a:pPr marL="285750" indent="-285750">
              <a:buFontTx/>
              <a:buChar char="-"/>
            </a:pPr>
            <a:r>
              <a:rPr lang="ko-KR" altLang="en-US" sz="1400" dirty="0" smtClean="0"/>
              <a:t>왜 금리가 필요한가</a:t>
            </a:r>
            <a:r>
              <a:rPr lang="en-US" altLang="ko-KR" sz="1400" dirty="0" smtClean="0"/>
              <a:t>? </a:t>
            </a:r>
            <a:endParaRPr lang="en-US" altLang="ko-KR" sz="1400" dirty="0"/>
          </a:p>
          <a:p>
            <a:r>
              <a:rPr lang="ko-KR" altLang="en-US" sz="1400" dirty="0" smtClean="0"/>
              <a:t>이 게임은 하루 </a:t>
            </a:r>
            <a:r>
              <a:rPr lang="en-US" altLang="ko-KR" sz="1400" dirty="0"/>
              <a:t>N</a:t>
            </a:r>
            <a:r>
              <a:rPr lang="ko-KR" altLang="en-US" sz="1400" dirty="0" smtClean="0"/>
              <a:t>번 최소 보유금액이 </a:t>
            </a:r>
            <a:r>
              <a:rPr lang="ko-KR" altLang="en-US" sz="1400" dirty="0" err="1" smtClean="0"/>
              <a:t>안될시</a:t>
            </a:r>
            <a:r>
              <a:rPr lang="ko-KR" altLang="en-US" sz="1400" dirty="0" smtClean="0"/>
              <a:t> 충전이 가능</a:t>
            </a:r>
            <a:endParaRPr lang="en-US" altLang="ko-KR" sz="1400" dirty="0" smtClean="0"/>
          </a:p>
          <a:p>
            <a:r>
              <a:rPr lang="ko-KR" altLang="en-US" sz="1400" dirty="0" err="1" smtClean="0"/>
              <a:t>게임머니의</a:t>
            </a:r>
            <a:r>
              <a:rPr lang="ko-KR" altLang="en-US" sz="1400" dirty="0" smtClean="0"/>
              <a:t> 회수방식을 적용시켜 </a:t>
            </a:r>
            <a:r>
              <a:rPr lang="ko-KR" altLang="en-US" sz="1400" dirty="0" err="1" smtClean="0"/>
              <a:t>게임머니의</a:t>
            </a:r>
            <a:r>
              <a:rPr lang="ko-KR" altLang="en-US" sz="1400" dirty="0" smtClean="0"/>
              <a:t> 인플레이션을 방지하고자 하는 목적에 적용시킬 예정</a:t>
            </a:r>
            <a:endParaRPr lang="en-US" altLang="ko-KR" sz="1400" dirty="0" smtClean="0"/>
          </a:p>
          <a:p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6849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207627" y="302313"/>
            <a:ext cx="5712903" cy="64152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789" y="302313"/>
            <a:ext cx="2647269" cy="636190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369" y="3764961"/>
            <a:ext cx="478580" cy="506731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22" y="2887588"/>
            <a:ext cx="478580" cy="50673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805" y="3133270"/>
            <a:ext cx="478580" cy="506731"/>
          </a:xfrm>
          <a:prstGeom prst="rect">
            <a:avLst/>
          </a:prstGeom>
        </p:spPr>
      </p:pic>
      <p:sp>
        <p:nvSpPr>
          <p:cNvPr id="23" name="이등변 삼각형 22"/>
          <p:cNvSpPr/>
          <p:nvPr/>
        </p:nvSpPr>
        <p:spPr>
          <a:xfrm>
            <a:off x="2663803" y="3640000"/>
            <a:ext cx="423113" cy="318782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4075" y="604027"/>
            <a:ext cx="666038" cy="860786"/>
          </a:xfrm>
          <a:prstGeom prst="rect">
            <a:avLst/>
          </a:prstGeom>
        </p:spPr>
      </p:pic>
      <p:sp>
        <p:nvSpPr>
          <p:cNvPr id="27" name="직사각형 26"/>
          <p:cNvSpPr/>
          <p:nvPr/>
        </p:nvSpPr>
        <p:spPr>
          <a:xfrm>
            <a:off x="4690307" y="1611235"/>
            <a:ext cx="1093430" cy="248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미니 </a:t>
            </a:r>
            <a:r>
              <a:rPr lang="ko-KR" altLang="en-US" dirty="0" err="1" smtClean="0"/>
              <a:t>컨텐츠</a:t>
            </a:r>
            <a:endParaRPr lang="ko-KR" altLang="en-US" dirty="0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367" y="3279842"/>
            <a:ext cx="666038" cy="860786"/>
          </a:xfrm>
          <a:prstGeom prst="rect">
            <a:avLst/>
          </a:prstGeom>
        </p:spPr>
      </p:pic>
      <p:sp>
        <p:nvSpPr>
          <p:cNvPr id="29" name="직사각형 28"/>
          <p:cNvSpPr/>
          <p:nvPr/>
        </p:nvSpPr>
        <p:spPr>
          <a:xfrm>
            <a:off x="5102367" y="4194006"/>
            <a:ext cx="666038" cy="248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거래소</a:t>
            </a: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38" y="5210850"/>
            <a:ext cx="666038" cy="860786"/>
          </a:xfrm>
          <a:prstGeom prst="rect">
            <a:avLst/>
          </a:prstGeom>
        </p:spPr>
      </p:pic>
      <p:sp>
        <p:nvSpPr>
          <p:cNvPr id="31" name="직사각형 30"/>
          <p:cNvSpPr/>
          <p:nvPr/>
        </p:nvSpPr>
        <p:spPr>
          <a:xfrm>
            <a:off x="452638" y="6125014"/>
            <a:ext cx="666038" cy="248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상점</a:t>
            </a:r>
          </a:p>
        </p:txBody>
      </p:sp>
      <p:sp>
        <p:nvSpPr>
          <p:cNvPr id="32" name="이등변 삼각형 31"/>
          <p:cNvSpPr/>
          <p:nvPr/>
        </p:nvSpPr>
        <p:spPr>
          <a:xfrm>
            <a:off x="785656" y="3386635"/>
            <a:ext cx="423113" cy="318782"/>
          </a:xfrm>
          <a:prstGeom prst="triangl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657" y="4860881"/>
            <a:ext cx="2258291" cy="699939"/>
          </a:xfrm>
          <a:prstGeom prst="rect">
            <a:avLst/>
          </a:prstGeom>
        </p:spPr>
      </p:pic>
      <p:sp>
        <p:nvSpPr>
          <p:cNvPr id="4" name="사각형: 둥근 모서리 3"/>
          <p:cNvSpPr/>
          <p:nvPr/>
        </p:nvSpPr>
        <p:spPr>
          <a:xfrm>
            <a:off x="1723658" y="5459870"/>
            <a:ext cx="582810" cy="3105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41</a:t>
            </a:r>
            <a:endParaRPr lang="ko-KR" altLang="en-US" dirty="0"/>
          </a:p>
        </p:txBody>
      </p:sp>
      <p:sp>
        <p:nvSpPr>
          <p:cNvPr id="33" name="사각형: 둥근 모서리 32"/>
          <p:cNvSpPr/>
          <p:nvPr/>
        </p:nvSpPr>
        <p:spPr>
          <a:xfrm>
            <a:off x="2498318" y="5469640"/>
            <a:ext cx="582810" cy="3105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27</a:t>
            </a:r>
            <a:endParaRPr lang="ko-KR" altLang="en-US" dirty="0"/>
          </a:p>
        </p:txBody>
      </p:sp>
      <p:sp>
        <p:nvSpPr>
          <p:cNvPr id="34" name="사각형: 둥근 모서리 33"/>
          <p:cNvSpPr/>
          <p:nvPr/>
        </p:nvSpPr>
        <p:spPr>
          <a:xfrm>
            <a:off x="3272978" y="5479410"/>
            <a:ext cx="582810" cy="3105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035035" y="582935"/>
            <a:ext cx="289924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일정크기의 필드가 존재 </a:t>
            </a:r>
            <a:endParaRPr lang="en-US" altLang="ko-KR" dirty="0"/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카메라 시야 크기로  </a:t>
            </a:r>
            <a:r>
              <a:rPr lang="en-US" altLang="ko-KR" dirty="0" err="1" smtClean="0"/>
              <a:t>x,y</a:t>
            </a:r>
            <a:r>
              <a:rPr lang="en-US" altLang="ko-KR" dirty="0" smtClean="0"/>
              <a:t> </a:t>
            </a:r>
            <a:r>
              <a:rPr lang="ko-KR" altLang="en-US" dirty="0" smtClean="0"/>
              <a:t>방향으로 </a:t>
            </a:r>
            <a:r>
              <a:rPr lang="en-US" altLang="ko-KR" dirty="0" smtClean="0"/>
              <a:t>3 x 3 </a:t>
            </a:r>
            <a:r>
              <a:rPr lang="ko-KR" altLang="en-US" dirty="0" err="1" smtClean="0"/>
              <a:t>바이</a:t>
            </a:r>
            <a:r>
              <a:rPr lang="ko-KR" altLang="en-US" dirty="0" smtClean="0"/>
              <a:t> 크기</a:t>
            </a:r>
            <a:r>
              <a:rPr lang="ko-KR" altLang="en-US" dirty="0" smtClean="0"/>
              <a:t> 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필드내 오브젝트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플레이어</a:t>
            </a:r>
            <a:r>
              <a:rPr lang="en-US" altLang="ko-KR" dirty="0"/>
              <a:t>, </a:t>
            </a:r>
            <a:r>
              <a:rPr lang="ko-KR" altLang="en-US" dirty="0"/>
              <a:t>상점 </a:t>
            </a:r>
            <a:r>
              <a:rPr lang="en-US" altLang="ko-KR" dirty="0"/>
              <a:t>, </a:t>
            </a:r>
            <a:r>
              <a:rPr lang="ko-KR" altLang="en-US" dirty="0"/>
              <a:t>거래소 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기타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미니컨텐츠</a:t>
            </a:r>
            <a:r>
              <a:rPr lang="en-US" altLang="ko-KR" dirty="0" smtClean="0"/>
              <a:t>)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/>
              <a:t>UI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플레이어가 가지고있는 별 표시 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현재 남아있는 가위바위보 </a:t>
            </a:r>
            <a:endParaRPr lang="en-US" altLang="ko-KR" dirty="0"/>
          </a:p>
          <a:p>
            <a:r>
              <a:rPr lang="ko-KR" altLang="en-US" dirty="0"/>
              <a:t>수량 </a:t>
            </a:r>
            <a:r>
              <a:rPr lang="ko-KR" altLang="en-US" dirty="0" smtClean="0"/>
              <a:t>전광판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- </a:t>
            </a:r>
            <a:r>
              <a:rPr lang="ko-KR" altLang="en-US" dirty="0" smtClean="0"/>
              <a:t>게임 종료까지 </a:t>
            </a:r>
            <a:r>
              <a:rPr lang="ko-KR" altLang="en-US" dirty="0" err="1" smtClean="0"/>
              <a:t>남은시간</a:t>
            </a:r>
            <a:r>
              <a:rPr lang="ko-KR" altLang="en-US" dirty="0" smtClean="0"/>
              <a:t> </a:t>
            </a:r>
            <a:endParaRPr lang="en-US" altLang="ko-KR" dirty="0"/>
          </a:p>
        </p:txBody>
      </p:sp>
      <p:sp>
        <p:nvSpPr>
          <p:cNvPr id="3" name="별: 꼭짓점 5개 2"/>
          <p:cNvSpPr/>
          <p:nvPr/>
        </p:nvSpPr>
        <p:spPr>
          <a:xfrm>
            <a:off x="4563525" y="3558477"/>
            <a:ext cx="152688" cy="163045"/>
          </a:xfrm>
          <a:prstGeom prst="star5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별: 꼭짓점 5개 21"/>
          <p:cNvSpPr/>
          <p:nvPr/>
        </p:nvSpPr>
        <p:spPr>
          <a:xfrm>
            <a:off x="4751315" y="3558477"/>
            <a:ext cx="152688" cy="163045"/>
          </a:xfrm>
          <a:prstGeom prst="star5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별: 꼭짓점 5개 23"/>
          <p:cNvSpPr/>
          <p:nvPr/>
        </p:nvSpPr>
        <p:spPr>
          <a:xfrm>
            <a:off x="4939106" y="3558477"/>
            <a:ext cx="152688" cy="163045"/>
          </a:xfrm>
          <a:prstGeom prst="star5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별: 꼭짓점 5개 24"/>
          <p:cNvSpPr/>
          <p:nvPr/>
        </p:nvSpPr>
        <p:spPr>
          <a:xfrm>
            <a:off x="2643586" y="2906763"/>
            <a:ext cx="152688" cy="163045"/>
          </a:xfrm>
          <a:prstGeom prst="star5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별: 꼭짓점 5개 34"/>
          <p:cNvSpPr/>
          <p:nvPr/>
        </p:nvSpPr>
        <p:spPr>
          <a:xfrm>
            <a:off x="2831376" y="2906763"/>
            <a:ext cx="152688" cy="163045"/>
          </a:xfrm>
          <a:prstGeom prst="star5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별: 꼭짓점 5개 36"/>
          <p:cNvSpPr/>
          <p:nvPr/>
        </p:nvSpPr>
        <p:spPr>
          <a:xfrm>
            <a:off x="785657" y="2697854"/>
            <a:ext cx="152688" cy="163045"/>
          </a:xfrm>
          <a:prstGeom prst="star5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98" name="Picture 2" descr="C:\Users\goldenboy\Desktop\시간이미지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910" y="1034421"/>
            <a:ext cx="1331027" cy="824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889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207627" y="302313"/>
            <a:ext cx="5712903" cy="64152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789" y="302313"/>
            <a:ext cx="2647269" cy="6361900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3315749" y="3791825"/>
            <a:ext cx="534798" cy="2265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필드</a:t>
            </a: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369" y="3764961"/>
            <a:ext cx="478580" cy="506731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22" y="2887588"/>
            <a:ext cx="478580" cy="50673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805" y="3133270"/>
            <a:ext cx="478580" cy="506731"/>
          </a:xfrm>
          <a:prstGeom prst="rect">
            <a:avLst/>
          </a:prstGeom>
        </p:spPr>
      </p:pic>
      <p:sp>
        <p:nvSpPr>
          <p:cNvPr id="23" name="이등변 삼각형 22"/>
          <p:cNvSpPr/>
          <p:nvPr/>
        </p:nvSpPr>
        <p:spPr>
          <a:xfrm>
            <a:off x="2663803" y="3640000"/>
            <a:ext cx="423113" cy="318782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4" name="이등변 삼각형 23"/>
          <p:cNvSpPr/>
          <p:nvPr/>
        </p:nvSpPr>
        <p:spPr>
          <a:xfrm>
            <a:off x="4652857" y="4307375"/>
            <a:ext cx="423113" cy="318782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170" y="654103"/>
            <a:ext cx="666038" cy="860786"/>
          </a:xfrm>
          <a:prstGeom prst="rect">
            <a:avLst/>
          </a:prstGeom>
        </p:spPr>
      </p:pic>
      <p:sp>
        <p:nvSpPr>
          <p:cNvPr id="27" name="직사각형 26"/>
          <p:cNvSpPr/>
          <p:nvPr/>
        </p:nvSpPr>
        <p:spPr>
          <a:xfrm>
            <a:off x="4588370" y="1617045"/>
            <a:ext cx="1153639" cy="248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미니 </a:t>
            </a:r>
            <a:r>
              <a:rPr lang="ko-KR" altLang="en-US" dirty="0" err="1" smtClean="0"/>
              <a:t>컨텐츠</a:t>
            </a:r>
            <a:endParaRPr lang="ko-KR" altLang="en-US" dirty="0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367" y="3279842"/>
            <a:ext cx="666038" cy="860786"/>
          </a:xfrm>
          <a:prstGeom prst="rect">
            <a:avLst/>
          </a:prstGeom>
        </p:spPr>
      </p:pic>
      <p:sp>
        <p:nvSpPr>
          <p:cNvPr id="29" name="직사각형 28"/>
          <p:cNvSpPr/>
          <p:nvPr/>
        </p:nvSpPr>
        <p:spPr>
          <a:xfrm>
            <a:off x="5102367" y="4194006"/>
            <a:ext cx="666038" cy="248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거래소</a:t>
            </a: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38" y="5210850"/>
            <a:ext cx="666038" cy="860786"/>
          </a:xfrm>
          <a:prstGeom prst="rect">
            <a:avLst/>
          </a:prstGeom>
        </p:spPr>
      </p:pic>
      <p:sp>
        <p:nvSpPr>
          <p:cNvPr id="31" name="직사각형 30"/>
          <p:cNvSpPr/>
          <p:nvPr/>
        </p:nvSpPr>
        <p:spPr>
          <a:xfrm>
            <a:off x="452638" y="6125014"/>
            <a:ext cx="666038" cy="248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상점</a:t>
            </a:r>
          </a:p>
        </p:txBody>
      </p:sp>
      <p:sp>
        <p:nvSpPr>
          <p:cNvPr id="32" name="이등변 삼각형 31"/>
          <p:cNvSpPr/>
          <p:nvPr/>
        </p:nvSpPr>
        <p:spPr>
          <a:xfrm>
            <a:off x="785656" y="3386635"/>
            <a:ext cx="423113" cy="318782"/>
          </a:xfrm>
          <a:prstGeom prst="triangl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6121866" y="360727"/>
            <a:ext cx="27935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일정 크기의 필드를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유저가 돌아다닐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 </a:t>
            </a:r>
            <a:r>
              <a:rPr lang="ko-KR" altLang="en-US" dirty="0"/>
              <a:t>필드 </a:t>
            </a:r>
            <a:r>
              <a:rPr lang="ko-KR" altLang="en-US" dirty="0" err="1"/>
              <a:t>터치시</a:t>
            </a:r>
            <a:r>
              <a:rPr lang="ko-KR" altLang="en-US" dirty="0"/>
              <a:t> 유저 이동 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  <p:cxnSp>
        <p:nvCxnSpPr>
          <p:cNvPr id="41" name="연결선: 꺾임 40"/>
          <p:cNvCxnSpPr/>
          <p:nvPr/>
        </p:nvCxnSpPr>
        <p:spPr>
          <a:xfrm>
            <a:off x="3315749" y="3279843"/>
            <a:ext cx="1151389" cy="73848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2" name="그림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658" y="4965148"/>
            <a:ext cx="2258291" cy="699939"/>
          </a:xfrm>
          <a:prstGeom prst="rect">
            <a:avLst/>
          </a:prstGeom>
        </p:spPr>
      </p:pic>
      <p:sp>
        <p:nvSpPr>
          <p:cNvPr id="43" name="사각형: 둥근 모서리 42"/>
          <p:cNvSpPr/>
          <p:nvPr/>
        </p:nvSpPr>
        <p:spPr>
          <a:xfrm>
            <a:off x="1757658" y="5564137"/>
            <a:ext cx="582810" cy="3105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41</a:t>
            </a:r>
            <a:endParaRPr lang="ko-KR" altLang="en-US" dirty="0"/>
          </a:p>
        </p:txBody>
      </p:sp>
      <p:sp>
        <p:nvSpPr>
          <p:cNvPr id="44" name="사각형: 둥근 모서리 43"/>
          <p:cNvSpPr/>
          <p:nvPr/>
        </p:nvSpPr>
        <p:spPr>
          <a:xfrm>
            <a:off x="2532318" y="5573907"/>
            <a:ext cx="582810" cy="3105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27</a:t>
            </a:r>
            <a:endParaRPr lang="ko-KR" altLang="en-US" dirty="0"/>
          </a:p>
        </p:txBody>
      </p:sp>
      <p:sp>
        <p:nvSpPr>
          <p:cNvPr id="45" name="사각형: 둥근 모서리 44"/>
          <p:cNvSpPr/>
          <p:nvPr/>
        </p:nvSpPr>
        <p:spPr>
          <a:xfrm>
            <a:off x="3306978" y="5583677"/>
            <a:ext cx="582810" cy="3105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pic>
        <p:nvPicPr>
          <p:cNvPr id="46" name="그림 4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137" y="1413745"/>
            <a:ext cx="793627" cy="959735"/>
          </a:xfrm>
          <a:prstGeom prst="rect">
            <a:avLst/>
          </a:prstGeom>
        </p:spPr>
      </p:pic>
      <p:cxnSp>
        <p:nvCxnSpPr>
          <p:cNvPr id="37" name="직선 화살표 연결선 36"/>
          <p:cNvCxnSpPr>
            <a:cxnSpLocks/>
          </p:cNvCxnSpPr>
          <p:nvPr/>
        </p:nvCxnSpPr>
        <p:spPr>
          <a:xfrm flipV="1">
            <a:off x="3020037" y="1893612"/>
            <a:ext cx="443600" cy="1247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23" y="1440259"/>
            <a:ext cx="478580" cy="506731"/>
          </a:xfrm>
          <a:prstGeom prst="rect">
            <a:avLst/>
          </a:prstGeom>
        </p:spPr>
      </p:pic>
      <p:sp>
        <p:nvSpPr>
          <p:cNvPr id="25" name="이등변 삼각형 24"/>
          <p:cNvSpPr/>
          <p:nvPr/>
        </p:nvSpPr>
        <p:spPr>
          <a:xfrm>
            <a:off x="2214490" y="1950440"/>
            <a:ext cx="423113" cy="318782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3052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207627" y="302313"/>
            <a:ext cx="5712903" cy="64152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26" y="302313"/>
            <a:ext cx="2647269" cy="63619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23" y="1440259"/>
            <a:ext cx="478580" cy="506731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3315749" y="3791825"/>
            <a:ext cx="534798" cy="2265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필드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202" y="1563668"/>
            <a:ext cx="478580" cy="50673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008" y="3037195"/>
            <a:ext cx="478580" cy="506731"/>
          </a:xfrm>
          <a:prstGeom prst="rect">
            <a:avLst/>
          </a:prstGeom>
        </p:spPr>
      </p:pic>
      <p:sp>
        <p:nvSpPr>
          <p:cNvPr id="23" name="이등변 삼각형 22"/>
          <p:cNvSpPr/>
          <p:nvPr/>
        </p:nvSpPr>
        <p:spPr>
          <a:xfrm>
            <a:off x="1311006" y="3543925"/>
            <a:ext cx="423113" cy="318782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5" name="이등변 삼각형 24"/>
          <p:cNvSpPr/>
          <p:nvPr/>
        </p:nvSpPr>
        <p:spPr>
          <a:xfrm>
            <a:off x="2214490" y="1950440"/>
            <a:ext cx="423113" cy="318782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367" y="3279842"/>
            <a:ext cx="666038" cy="860786"/>
          </a:xfrm>
          <a:prstGeom prst="rect">
            <a:avLst/>
          </a:prstGeom>
        </p:spPr>
      </p:pic>
      <p:sp>
        <p:nvSpPr>
          <p:cNvPr id="29" name="직사각형 28"/>
          <p:cNvSpPr/>
          <p:nvPr/>
        </p:nvSpPr>
        <p:spPr>
          <a:xfrm>
            <a:off x="5102367" y="4194006"/>
            <a:ext cx="666038" cy="248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거래소</a:t>
            </a: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38" y="5210850"/>
            <a:ext cx="666038" cy="860786"/>
          </a:xfrm>
          <a:prstGeom prst="rect">
            <a:avLst/>
          </a:prstGeom>
        </p:spPr>
      </p:pic>
      <p:sp>
        <p:nvSpPr>
          <p:cNvPr id="31" name="직사각형 30"/>
          <p:cNvSpPr/>
          <p:nvPr/>
        </p:nvSpPr>
        <p:spPr>
          <a:xfrm>
            <a:off x="452638" y="6125014"/>
            <a:ext cx="666038" cy="248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상점</a:t>
            </a:r>
          </a:p>
        </p:txBody>
      </p:sp>
      <p:sp>
        <p:nvSpPr>
          <p:cNvPr id="32" name="이등변 삼각형 31"/>
          <p:cNvSpPr/>
          <p:nvPr/>
        </p:nvSpPr>
        <p:spPr>
          <a:xfrm>
            <a:off x="3603683" y="2112503"/>
            <a:ext cx="423113" cy="318782"/>
          </a:xfrm>
          <a:prstGeom prst="triangl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6121866" y="377506"/>
            <a:ext cx="2793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46366" y="377505"/>
            <a:ext cx="298857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임의 유저클릭 했다면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smtClean="0"/>
              <a:t>일정 거리 </a:t>
            </a:r>
            <a:r>
              <a:rPr lang="ko-KR" altLang="en-US" dirty="0" err="1" smtClean="0"/>
              <a:t>접근시</a:t>
            </a:r>
            <a:r>
              <a:rPr lang="ko-KR" altLang="en-US" dirty="0" smtClean="0"/>
              <a:t> </a:t>
            </a:r>
            <a:r>
              <a:rPr lang="ko-KR" altLang="en-US" dirty="0"/>
              <a:t>필요한 </a:t>
            </a:r>
            <a:r>
              <a:rPr lang="en-US" altLang="ko-KR" dirty="0"/>
              <a:t>UI </a:t>
            </a:r>
            <a:r>
              <a:rPr lang="ko-KR" altLang="en-US" dirty="0"/>
              <a:t>등장 </a:t>
            </a:r>
            <a:r>
              <a:rPr lang="en-US" altLang="ko-KR" dirty="0"/>
              <a:t>.</a:t>
            </a:r>
          </a:p>
          <a:p>
            <a:r>
              <a:rPr lang="en-US" altLang="ko-KR" dirty="0" smtClean="0"/>
              <a:t>( 1:1 </a:t>
            </a:r>
            <a:r>
              <a:rPr lang="ko-KR" altLang="en-US" dirty="0" smtClean="0"/>
              <a:t>대화 혹은 거래 </a:t>
            </a:r>
            <a:r>
              <a:rPr lang="en-US" altLang="ko-KR" dirty="0" smtClean="0"/>
              <a:t>,</a:t>
            </a:r>
            <a:r>
              <a:rPr lang="ko-KR" altLang="en-US" dirty="0" smtClean="0"/>
              <a:t>혹은 전투신청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거래요청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가위바위보 카드를 거래하기 위한 </a:t>
            </a:r>
            <a:r>
              <a:rPr lang="en-US" altLang="ko-KR" dirty="0"/>
              <a:t>UI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대전신청은 별</a:t>
            </a:r>
            <a:r>
              <a:rPr lang="en-US" altLang="ko-KR" dirty="0"/>
              <a:t>1</a:t>
            </a:r>
            <a:r>
              <a:rPr lang="ko-KR" altLang="en-US" dirty="0"/>
              <a:t>개가 걸린 </a:t>
            </a:r>
            <a:endParaRPr lang="en-US" altLang="ko-KR" dirty="0"/>
          </a:p>
          <a:p>
            <a:r>
              <a:rPr lang="ko-KR" altLang="en-US" dirty="0"/>
              <a:t>가위바위보 게임이 상대에게</a:t>
            </a:r>
            <a:endParaRPr lang="en-US" altLang="ko-KR" dirty="0"/>
          </a:p>
          <a:p>
            <a:r>
              <a:rPr lang="ko-KR" altLang="en-US" dirty="0"/>
              <a:t>대전신청이 됨</a:t>
            </a:r>
            <a:endParaRPr lang="en-US" altLang="ko-KR" dirty="0"/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110" y="3129187"/>
            <a:ext cx="629725" cy="761528"/>
          </a:xfrm>
          <a:prstGeom prst="rect">
            <a:avLst/>
          </a:prstGeom>
        </p:spPr>
      </p:pic>
      <p:sp>
        <p:nvSpPr>
          <p:cNvPr id="2" name="모서리가 둥근 직사각형 1"/>
          <p:cNvSpPr/>
          <p:nvPr/>
        </p:nvSpPr>
        <p:spPr>
          <a:xfrm>
            <a:off x="1682395" y="2676418"/>
            <a:ext cx="902043" cy="347585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rgbClr val="FF0000"/>
                </a:solidFill>
              </a:rPr>
              <a:t>결투신청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372" y="3055140"/>
            <a:ext cx="478580" cy="506731"/>
          </a:xfrm>
          <a:prstGeom prst="rect">
            <a:avLst/>
          </a:prstGeom>
        </p:spPr>
      </p:pic>
      <p:sp>
        <p:nvSpPr>
          <p:cNvPr id="24" name="이등변 삼각형 23"/>
          <p:cNvSpPr/>
          <p:nvPr/>
        </p:nvSpPr>
        <p:spPr>
          <a:xfrm>
            <a:off x="1921860" y="3597553"/>
            <a:ext cx="423113" cy="318782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1667227" y="2336988"/>
            <a:ext cx="902043" cy="347585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rgbClr val="FF0000"/>
                </a:solidFill>
              </a:rPr>
              <a:t>귓속말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84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99" y="293924"/>
            <a:ext cx="2647269" cy="6361900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582987" y="2337420"/>
            <a:ext cx="2111091" cy="1045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현재 게임중인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방으로 입장합니다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275856" y="471438"/>
            <a:ext cx="5616624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2800" dirty="0" smtClean="0"/>
              <a:t>게임의 </a:t>
            </a:r>
            <a:r>
              <a:rPr lang="ko-KR" altLang="en-US" sz="2800" dirty="0" err="1" smtClean="0"/>
              <a:t>재입장</a:t>
            </a:r>
            <a:endParaRPr lang="en-US" altLang="ko-KR" sz="2800" dirty="0"/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r>
              <a:rPr lang="en-US" altLang="ko-KR" sz="1200" dirty="0"/>
              <a:t>Take (</a:t>
            </a:r>
            <a:r>
              <a:rPr lang="ko-KR" altLang="en-US" sz="1200" dirty="0"/>
              <a:t>가제 </a:t>
            </a:r>
            <a:r>
              <a:rPr lang="en-US" altLang="ko-KR" sz="1200" dirty="0"/>
              <a:t>) </a:t>
            </a:r>
            <a:r>
              <a:rPr lang="ko-KR" altLang="en-US" sz="1200" dirty="0"/>
              <a:t>게임은 상시 접속 게임이 아니다</a:t>
            </a:r>
            <a:r>
              <a:rPr lang="en-US" altLang="ko-KR" sz="1200" dirty="0"/>
              <a:t>. </a:t>
            </a:r>
          </a:p>
          <a:p>
            <a:endParaRPr lang="en-US" altLang="ko-KR" sz="1200" dirty="0"/>
          </a:p>
          <a:p>
            <a:r>
              <a:rPr lang="ko-KR" altLang="en-US" sz="1200" dirty="0"/>
              <a:t>임의 게임 시간 동안 게임의 탈출 및 재 입장이 가능하다 </a:t>
            </a:r>
            <a:endParaRPr lang="en-US" altLang="ko-KR" sz="1200" dirty="0"/>
          </a:p>
          <a:p>
            <a:r>
              <a:rPr lang="en-US" altLang="ko-KR" sz="1200" dirty="0"/>
              <a:t>(</a:t>
            </a:r>
            <a:r>
              <a:rPr lang="ko-KR" altLang="en-US" sz="1200" dirty="0"/>
              <a:t>별을 다 소모하지 않았다는 가정하에 </a:t>
            </a:r>
            <a:r>
              <a:rPr lang="en-US" altLang="ko-KR" sz="1200" dirty="0" smtClean="0"/>
              <a:t>)</a:t>
            </a:r>
          </a:p>
          <a:p>
            <a:endParaRPr lang="en-US" altLang="ko-KR" sz="1200" dirty="0"/>
          </a:p>
          <a:p>
            <a:endParaRPr lang="en-US" altLang="ko-KR" sz="1200" dirty="0" smtClean="0"/>
          </a:p>
          <a:p>
            <a:r>
              <a:rPr lang="ko-KR" altLang="en-US" sz="1200" dirty="0" smtClean="0"/>
              <a:t>게임이 끝나지 않은 상태에서 </a:t>
            </a:r>
            <a:r>
              <a:rPr lang="ko-KR" altLang="en-US" sz="1200" dirty="0" err="1" smtClean="0"/>
              <a:t>앱종료</a:t>
            </a:r>
            <a:r>
              <a:rPr lang="ko-KR" altLang="en-US" sz="1200" dirty="0" smtClean="0"/>
              <a:t> 후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ko-KR" altLang="en-US" sz="1200" dirty="0" smtClean="0"/>
              <a:t>다시 재 </a:t>
            </a:r>
            <a:r>
              <a:rPr lang="ko-KR" altLang="en-US" sz="1200" dirty="0" err="1" smtClean="0"/>
              <a:t>접속시</a:t>
            </a:r>
            <a:r>
              <a:rPr lang="ko-KR" altLang="en-US" sz="1200" dirty="0" smtClean="0"/>
              <a:t> 현재 게임이 진행되어있던 방으로 즉시 진입하는 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ko-KR" altLang="en-US" sz="1200" dirty="0" smtClean="0"/>
              <a:t>프로세스를 </a:t>
            </a:r>
            <a:r>
              <a:rPr lang="ko-KR" altLang="en-US" sz="1200" dirty="0" err="1" smtClean="0"/>
              <a:t>타게되며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endParaRPr lang="en-US" altLang="ko-KR" sz="1200" dirty="0"/>
          </a:p>
          <a:p>
            <a:endParaRPr lang="en-US" altLang="ko-KR" sz="1200" dirty="0" smtClean="0"/>
          </a:p>
          <a:p>
            <a:r>
              <a:rPr lang="ko-KR" altLang="en-US" sz="1200" dirty="0" smtClean="0"/>
              <a:t>유저가 </a:t>
            </a:r>
            <a:r>
              <a:rPr lang="ko-KR" altLang="en-US" sz="1200" dirty="0" err="1" smtClean="0"/>
              <a:t>플레이하는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게임방에서</a:t>
            </a:r>
            <a:r>
              <a:rPr lang="ko-KR" altLang="en-US" sz="1200" dirty="0" smtClean="0"/>
              <a:t> 강제 탈출하고 싶다면 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ko-KR" altLang="en-US" sz="1200" dirty="0" smtClean="0"/>
              <a:t>별을 모두 다른 사람에게 </a:t>
            </a:r>
            <a:r>
              <a:rPr lang="ko-KR" altLang="en-US" sz="1200" dirty="0" err="1" smtClean="0"/>
              <a:t>갈취당하는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방법이외에는</a:t>
            </a:r>
            <a:r>
              <a:rPr lang="ko-KR" altLang="en-US" sz="1200" dirty="0" smtClean="0"/>
              <a:t> 없다</a:t>
            </a:r>
            <a:r>
              <a:rPr lang="en-US" altLang="ko-KR" sz="1200" dirty="0" smtClean="0"/>
              <a:t>. </a:t>
            </a:r>
          </a:p>
          <a:p>
            <a:endParaRPr lang="en-US" altLang="ko-KR" sz="1200" dirty="0"/>
          </a:p>
          <a:p>
            <a:r>
              <a:rPr lang="en-US" altLang="ko-KR" sz="1200" dirty="0" smtClean="0"/>
              <a:t>( </a:t>
            </a:r>
            <a:r>
              <a:rPr lang="ko-KR" altLang="en-US" sz="1200" dirty="0" smtClean="0"/>
              <a:t>별은 판매도 가능하다</a:t>
            </a:r>
            <a:r>
              <a:rPr lang="en-US" altLang="ko-KR" sz="1200" dirty="0" smtClean="0"/>
              <a:t>.  </a:t>
            </a:r>
          </a:p>
          <a:p>
            <a:endParaRPr lang="en-US" altLang="ko-KR" sz="1200" dirty="0"/>
          </a:p>
          <a:p>
            <a:r>
              <a:rPr lang="ko-KR" altLang="en-US" sz="1200" dirty="0" smtClean="0"/>
              <a:t>별 </a:t>
            </a:r>
            <a:r>
              <a:rPr lang="ko-KR" altLang="en-US" sz="1200" dirty="0" err="1" smtClean="0"/>
              <a:t>판매시</a:t>
            </a:r>
            <a:r>
              <a:rPr lang="ko-KR" altLang="en-US" sz="1200" dirty="0" smtClean="0"/>
              <a:t> 조건 별을 </a:t>
            </a:r>
            <a:r>
              <a:rPr lang="en-US" altLang="ko-KR" sz="1200" dirty="0" smtClean="0"/>
              <a:t>1</a:t>
            </a:r>
            <a:r>
              <a:rPr lang="ko-KR" altLang="en-US" sz="1200" dirty="0" err="1" smtClean="0"/>
              <a:t>개이상</a:t>
            </a:r>
            <a:r>
              <a:rPr lang="ko-KR" altLang="en-US" sz="1200" dirty="0" smtClean="0"/>
              <a:t> 가지고 있어야 가능하며 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ko-KR" altLang="en-US" sz="1200" dirty="0" smtClean="0"/>
              <a:t>마지막 남은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개마저 별을 판매할 수 는 없다 </a:t>
            </a:r>
            <a:r>
              <a:rPr lang="en-US" altLang="ko-KR" sz="1200" dirty="0" smtClean="0"/>
              <a:t>)</a:t>
            </a:r>
          </a:p>
          <a:p>
            <a:endParaRPr lang="en-US" altLang="ko-KR" sz="1200" dirty="0"/>
          </a:p>
          <a:p>
            <a:pPr marL="171450" indent="-171450">
              <a:buFont typeface="Arial" charset="0"/>
              <a:buChar char="•"/>
            </a:pPr>
            <a:r>
              <a:rPr lang="ko-KR" altLang="en-US" sz="1200" dirty="0" smtClean="0"/>
              <a:t>이 부분 고민이 필요하다 별이 없어도 계속 </a:t>
            </a:r>
            <a:r>
              <a:rPr lang="ko-KR" altLang="en-US" sz="1200" dirty="0" err="1" smtClean="0"/>
              <a:t>게임방에</a:t>
            </a:r>
            <a:r>
              <a:rPr lang="ko-KR" altLang="en-US" sz="1200" dirty="0" smtClean="0"/>
              <a:t> 남아있게 할 것인가</a:t>
            </a:r>
            <a:r>
              <a:rPr lang="en-US" altLang="ko-KR" sz="1200" dirty="0" smtClean="0"/>
              <a:t>? </a:t>
            </a:r>
          </a:p>
          <a:p>
            <a:endParaRPr lang="en-US" altLang="ko-KR" sz="1200" dirty="0" smtClean="0"/>
          </a:p>
          <a:p>
            <a:endParaRPr lang="en-US" altLang="ko-KR" sz="12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5105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207627" y="302313"/>
            <a:ext cx="5712903" cy="64152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27" y="302313"/>
            <a:ext cx="2647269" cy="63619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779" y="1413571"/>
            <a:ext cx="478580" cy="506731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202" y="1563668"/>
            <a:ext cx="478580" cy="50673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64" y="3010507"/>
            <a:ext cx="478580" cy="506731"/>
          </a:xfrm>
          <a:prstGeom prst="rect">
            <a:avLst/>
          </a:prstGeom>
        </p:spPr>
      </p:pic>
      <p:sp>
        <p:nvSpPr>
          <p:cNvPr id="23" name="이등변 삼각형 22"/>
          <p:cNvSpPr/>
          <p:nvPr/>
        </p:nvSpPr>
        <p:spPr>
          <a:xfrm>
            <a:off x="681762" y="3517237"/>
            <a:ext cx="423113" cy="318782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4" name="이등변 삼각형 23"/>
          <p:cNvSpPr/>
          <p:nvPr/>
        </p:nvSpPr>
        <p:spPr>
          <a:xfrm>
            <a:off x="1292616" y="3570865"/>
            <a:ext cx="423113" cy="318782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5" name="이등변 삼각형 24"/>
          <p:cNvSpPr/>
          <p:nvPr/>
        </p:nvSpPr>
        <p:spPr>
          <a:xfrm>
            <a:off x="1585246" y="1923752"/>
            <a:ext cx="423113" cy="318782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367" y="3279842"/>
            <a:ext cx="666038" cy="860786"/>
          </a:xfrm>
          <a:prstGeom prst="rect">
            <a:avLst/>
          </a:prstGeom>
        </p:spPr>
      </p:pic>
      <p:sp>
        <p:nvSpPr>
          <p:cNvPr id="29" name="직사각형 28"/>
          <p:cNvSpPr/>
          <p:nvPr/>
        </p:nvSpPr>
        <p:spPr>
          <a:xfrm>
            <a:off x="5102367" y="4194006"/>
            <a:ext cx="666038" cy="248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거래소</a:t>
            </a:r>
          </a:p>
        </p:txBody>
      </p:sp>
      <p:sp>
        <p:nvSpPr>
          <p:cNvPr id="32" name="이등변 삼각형 31"/>
          <p:cNvSpPr/>
          <p:nvPr/>
        </p:nvSpPr>
        <p:spPr>
          <a:xfrm>
            <a:off x="3603683" y="2112503"/>
            <a:ext cx="423113" cy="318782"/>
          </a:xfrm>
          <a:prstGeom prst="triangl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6121866" y="377506"/>
            <a:ext cx="2793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46366" y="377506"/>
            <a:ext cx="29885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대전요청시 상대방이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OnLine</a:t>
            </a:r>
            <a:r>
              <a:rPr lang="ko-KR" altLang="en-US" dirty="0"/>
              <a:t>일시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대전이 진행되며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OffLine</a:t>
            </a:r>
            <a:r>
              <a:rPr lang="ko-KR" altLang="en-US" dirty="0"/>
              <a:t> </a:t>
            </a:r>
            <a:r>
              <a:rPr lang="ko-KR" altLang="en-US" dirty="0" err="1"/>
              <a:t>일경우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PushMessage</a:t>
            </a:r>
            <a:r>
              <a:rPr lang="ko-KR" altLang="en-US" dirty="0"/>
              <a:t>로 </a:t>
            </a:r>
            <a:r>
              <a:rPr lang="ko-KR" altLang="en-US" dirty="0" err="1"/>
              <a:t>폰알림을</a:t>
            </a:r>
            <a:r>
              <a:rPr lang="ko-KR" altLang="en-US" dirty="0"/>
              <a:t> </a:t>
            </a:r>
            <a:r>
              <a:rPr lang="ko-KR" altLang="en-US" dirty="0" err="1"/>
              <a:t>받게된다</a:t>
            </a:r>
            <a:r>
              <a:rPr lang="en-US" altLang="ko-KR" dirty="0"/>
              <a:t>.</a:t>
            </a: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77" y="2601417"/>
            <a:ext cx="629725" cy="761528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128" y="3028452"/>
            <a:ext cx="478580" cy="506731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945" y="302313"/>
            <a:ext cx="2647269" cy="636190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617" y="886419"/>
            <a:ext cx="2399788" cy="2142033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815240" y="2582661"/>
            <a:ext cx="1602893" cy="2843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대전요청이 왔습니다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551740" y="341786"/>
            <a:ext cx="2033540" cy="6820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Game </a:t>
            </a:r>
            <a:r>
              <a:rPr lang="ko-KR" altLang="en-US" dirty="0"/>
              <a:t>미접속시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627" y="1059555"/>
            <a:ext cx="2303390" cy="4606780"/>
          </a:xfrm>
          <a:prstGeom prst="rect">
            <a:avLst/>
          </a:prstGeom>
        </p:spPr>
      </p:pic>
      <p:sp>
        <p:nvSpPr>
          <p:cNvPr id="43" name="직사각형 42"/>
          <p:cNvSpPr/>
          <p:nvPr/>
        </p:nvSpPr>
        <p:spPr>
          <a:xfrm>
            <a:off x="600426" y="300877"/>
            <a:ext cx="1733984" cy="66330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Game </a:t>
            </a:r>
            <a:r>
              <a:rPr lang="ko-KR" altLang="en-US" dirty="0" err="1"/>
              <a:t>접속중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3696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27" y="302313"/>
            <a:ext cx="2647269" cy="63619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779" y="1413571"/>
            <a:ext cx="478580" cy="50673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64" y="3010507"/>
            <a:ext cx="478580" cy="506731"/>
          </a:xfrm>
          <a:prstGeom prst="rect">
            <a:avLst/>
          </a:prstGeom>
        </p:spPr>
      </p:pic>
      <p:sp>
        <p:nvSpPr>
          <p:cNvPr id="23" name="이등변 삼각형 22"/>
          <p:cNvSpPr/>
          <p:nvPr/>
        </p:nvSpPr>
        <p:spPr>
          <a:xfrm>
            <a:off x="681762" y="3517237"/>
            <a:ext cx="423113" cy="318782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4" name="이등변 삼각형 23"/>
          <p:cNvSpPr/>
          <p:nvPr/>
        </p:nvSpPr>
        <p:spPr>
          <a:xfrm>
            <a:off x="1292616" y="3570865"/>
            <a:ext cx="423113" cy="318782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5" name="이등변 삼각형 24"/>
          <p:cNvSpPr/>
          <p:nvPr/>
        </p:nvSpPr>
        <p:spPr>
          <a:xfrm>
            <a:off x="1585246" y="1923752"/>
            <a:ext cx="423113" cy="318782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6121866" y="377506"/>
            <a:ext cx="2793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185935" y="387688"/>
            <a:ext cx="5852558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가위 바위 보의  총 숫자 카드 개수 </a:t>
            </a:r>
            <a:r>
              <a:rPr lang="en-US" altLang="ko-KR" dirty="0"/>
              <a:t>UI</a:t>
            </a:r>
            <a:r>
              <a:rPr lang="ko-KR" altLang="en-US" dirty="0"/>
              <a:t>의 표시는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게임을 어떻게 진행해야 유리할지 유저에게 생각할 기반이 되는 정보다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Ex:  </a:t>
            </a:r>
            <a:r>
              <a:rPr lang="ko-KR" altLang="en-US" dirty="0"/>
              <a:t>총 카드숫자가 가위가 </a:t>
            </a:r>
            <a:r>
              <a:rPr lang="en-US" altLang="ko-KR" dirty="0"/>
              <a:t>12</a:t>
            </a:r>
            <a:r>
              <a:rPr lang="ko-KR" altLang="en-US" dirty="0"/>
              <a:t>장 </a:t>
            </a:r>
            <a:r>
              <a:rPr lang="en-US" altLang="ko-KR" dirty="0"/>
              <a:t>, </a:t>
            </a:r>
            <a:r>
              <a:rPr lang="ko-KR" altLang="en-US" dirty="0"/>
              <a:t>바위가 </a:t>
            </a:r>
            <a:r>
              <a:rPr lang="en-US" altLang="ko-KR" dirty="0"/>
              <a:t>1</a:t>
            </a:r>
            <a:r>
              <a:rPr lang="ko-KR" altLang="en-US" dirty="0"/>
              <a:t>장 </a:t>
            </a:r>
            <a:r>
              <a:rPr lang="en-US" altLang="ko-KR" dirty="0"/>
              <a:t>, </a:t>
            </a:r>
            <a:r>
              <a:rPr lang="ko-KR" altLang="en-US" dirty="0"/>
              <a:t>보가 </a:t>
            </a:r>
            <a:r>
              <a:rPr lang="en-US" altLang="ko-KR" dirty="0"/>
              <a:t>3</a:t>
            </a:r>
            <a:r>
              <a:rPr lang="ko-KR" altLang="en-US" dirty="0"/>
              <a:t>장 남았다면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내가 임의의 상대랑 전투에서 승리하려면 무엇을 내는 것이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확률적으로 유리한지 생각할 수 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sz="2000" dirty="0"/>
              <a:t>게임에서 승리하게 되면 상대의 </a:t>
            </a:r>
            <a:r>
              <a:rPr lang="ko-KR" altLang="en-US" sz="2000" dirty="0">
                <a:solidFill>
                  <a:srgbClr val="FF0000"/>
                </a:solidFill>
              </a:rPr>
              <a:t>별을 </a:t>
            </a:r>
            <a:r>
              <a:rPr lang="en-US" altLang="ko-KR" sz="2000" dirty="0">
                <a:solidFill>
                  <a:srgbClr val="FF0000"/>
                </a:solidFill>
              </a:rPr>
              <a:t>1</a:t>
            </a:r>
            <a:r>
              <a:rPr lang="ko-KR" altLang="en-US" sz="2000" dirty="0">
                <a:solidFill>
                  <a:srgbClr val="FF0000"/>
                </a:solidFill>
              </a:rPr>
              <a:t>개 가져오게 된다</a:t>
            </a:r>
            <a:r>
              <a:rPr lang="en-US" altLang="ko-KR" sz="2000" dirty="0">
                <a:solidFill>
                  <a:srgbClr val="FF0000"/>
                </a:solidFill>
              </a:rPr>
              <a:t>. </a:t>
            </a:r>
          </a:p>
          <a:p>
            <a:endParaRPr lang="en-US" altLang="ko-KR" sz="2000" dirty="0"/>
          </a:p>
          <a:p>
            <a:r>
              <a:rPr lang="ko-KR" altLang="en-US" sz="2000" dirty="0"/>
              <a:t>사용된 카드는 버려지게 되며 </a:t>
            </a:r>
            <a:r>
              <a:rPr lang="en-US" altLang="ko-KR" sz="2000" dirty="0"/>
              <a:t>, </a:t>
            </a:r>
            <a:r>
              <a:rPr lang="ko-KR" altLang="en-US" sz="2000" dirty="0"/>
              <a:t>무승부는 카드만 소모된다</a:t>
            </a:r>
            <a:r>
              <a:rPr lang="en-US" altLang="ko-KR" sz="2000" dirty="0"/>
              <a:t>. </a:t>
            </a:r>
          </a:p>
          <a:p>
            <a:endParaRPr lang="en-US" altLang="ko-KR" sz="2000" dirty="0"/>
          </a:p>
          <a:p>
            <a:r>
              <a:rPr lang="ko-KR" altLang="en-US" sz="2000" dirty="0">
                <a:solidFill>
                  <a:srgbClr val="0070C0"/>
                </a:solidFill>
              </a:rPr>
              <a:t>★ 별을 모두 빼앗긴 유저는 즉시 게임 아웃 처리된다</a:t>
            </a:r>
            <a:r>
              <a:rPr lang="en-US" altLang="ko-KR" sz="2000" dirty="0">
                <a:solidFill>
                  <a:srgbClr val="0070C0"/>
                </a:solidFill>
              </a:rPr>
              <a:t>. ?! ( </a:t>
            </a:r>
            <a:r>
              <a:rPr lang="ko-KR" altLang="en-US" sz="2000" dirty="0">
                <a:solidFill>
                  <a:srgbClr val="0070C0"/>
                </a:solidFill>
              </a:rPr>
              <a:t>고려 </a:t>
            </a:r>
            <a:r>
              <a:rPr lang="en-US" altLang="ko-KR" sz="2000" smtClean="0">
                <a:solidFill>
                  <a:srgbClr val="0070C0"/>
                </a:solidFill>
              </a:rPr>
              <a:t>)</a:t>
            </a:r>
            <a:endParaRPr lang="en-US" altLang="ko-KR" dirty="0"/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77" y="2601417"/>
            <a:ext cx="629725" cy="761528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128" y="3028452"/>
            <a:ext cx="478580" cy="50673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627" y="1059555"/>
            <a:ext cx="2303390" cy="4606780"/>
          </a:xfrm>
          <a:prstGeom prst="rect">
            <a:avLst/>
          </a:prstGeom>
        </p:spPr>
      </p:pic>
      <p:sp>
        <p:nvSpPr>
          <p:cNvPr id="43" name="직사각형 42"/>
          <p:cNvSpPr/>
          <p:nvPr/>
        </p:nvSpPr>
        <p:spPr>
          <a:xfrm>
            <a:off x="600426" y="300877"/>
            <a:ext cx="1733984" cy="66330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Game </a:t>
            </a:r>
            <a:r>
              <a:rPr lang="ko-KR" altLang="en-US" dirty="0" err="1"/>
              <a:t>접속중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202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27" y="302313"/>
            <a:ext cx="2647269" cy="63619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779" y="1413571"/>
            <a:ext cx="478580" cy="506731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202" y="1563668"/>
            <a:ext cx="478580" cy="50673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64" y="3010507"/>
            <a:ext cx="478580" cy="506731"/>
          </a:xfrm>
          <a:prstGeom prst="rect">
            <a:avLst/>
          </a:prstGeom>
        </p:spPr>
      </p:pic>
      <p:sp>
        <p:nvSpPr>
          <p:cNvPr id="23" name="이등변 삼각형 22"/>
          <p:cNvSpPr/>
          <p:nvPr/>
        </p:nvSpPr>
        <p:spPr>
          <a:xfrm>
            <a:off x="681762" y="3517237"/>
            <a:ext cx="423113" cy="318782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4" name="이등변 삼각형 23"/>
          <p:cNvSpPr/>
          <p:nvPr/>
        </p:nvSpPr>
        <p:spPr>
          <a:xfrm>
            <a:off x="1292616" y="3570865"/>
            <a:ext cx="423113" cy="318782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5" name="이등변 삼각형 24"/>
          <p:cNvSpPr/>
          <p:nvPr/>
        </p:nvSpPr>
        <p:spPr>
          <a:xfrm>
            <a:off x="1585246" y="1923752"/>
            <a:ext cx="423113" cy="318782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367" y="3279842"/>
            <a:ext cx="666038" cy="860786"/>
          </a:xfrm>
          <a:prstGeom prst="rect">
            <a:avLst/>
          </a:prstGeom>
        </p:spPr>
      </p:pic>
      <p:sp>
        <p:nvSpPr>
          <p:cNvPr id="29" name="직사각형 28"/>
          <p:cNvSpPr/>
          <p:nvPr/>
        </p:nvSpPr>
        <p:spPr>
          <a:xfrm>
            <a:off x="5102367" y="4194006"/>
            <a:ext cx="666038" cy="248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거래소</a:t>
            </a:r>
          </a:p>
        </p:txBody>
      </p:sp>
      <p:sp>
        <p:nvSpPr>
          <p:cNvPr id="32" name="이등변 삼각형 31"/>
          <p:cNvSpPr/>
          <p:nvPr/>
        </p:nvSpPr>
        <p:spPr>
          <a:xfrm>
            <a:off x="3603683" y="2112503"/>
            <a:ext cx="423113" cy="318782"/>
          </a:xfrm>
          <a:prstGeom prst="triangl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6121866" y="377506"/>
            <a:ext cx="2793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46366" y="377506"/>
            <a:ext cx="2988578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SNS </a:t>
            </a:r>
            <a:r>
              <a:rPr lang="ko-KR" altLang="en-US" dirty="0" smtClean="0"/>
              <a:t>게임의 </a:t>
            </a:r>
            <a:r>
              <a:rPr lang="ko-KR" altLang="en-US" dirty="0" err="1" smtClean="0"/>
              <a:t>전투이다보니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가위 바위 보 의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결과화면만 </a:t>
            </a:r>
            <a:r>
              <a:rPr lang="ko-KR" altLang="en-US" dirty="0" err="1" smtClean="0"/>
              <a:t>보여주게되면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게임으로써 더 이상 즐길 필요성을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err="1" smtClean="0"/>
              <a:t>못느끼게된다</a:t>
            </a:r>
            <a:r>
              <a:rPr lang="en-US" altLang="ko-KR" dirty="0" smtClean="0"/>
              <a:t>. 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 smtClean="0"/>
              <a:t>승리했을시와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패배했을시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애니메이션과 </a:t>
            </a:r>
            <a:r>
              <a:rPr lang="en-US" altLang="ko-KR" dirty="0" smtClean="0"/>
              <a:t>Tween</a:t>
            </a:r>
            <a:r>
              <a:rPr lang="ko-KR" altLang="en-US" dirty="0" smtClean="0"/>
              <a:t>효과를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활용하여 정말로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승부에서 패배 혹은 승리했다는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느낌을 주는 부분이 반드시 필요하다</a:t>
            </a:r>
            <a:endParaRPr lang="en-US" altLang="ko-KR" dirty="0" smtClean="0"/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77" y="2601417"/>
            <a:ext cx="629725" cy="761528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128" y="3028452"/>
            <a:ext cx="478580" cy="506731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945" y="302313"/>
            <a:ext cx="2647269" cy="636190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3551740" y="341786"/>
            <a:ext cx="2033540" cy="6820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전투 결과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627" y="1059555"/>
            <a:ext cx="2303390" cy="4606780"/>
          </a:xfrm>
          <a:prstGeom prst="rect">
            <a:avLst/>
          </a:prstGeom>
        </p:spPr>
      </p:pic>
      <p:sp>
        <p:nvSpPr>
          <p:cNvPr id="43" name="직사각형 42"/>
          <p:cNvSpPr/>
          <p:nvPr/>
        </p:nvSpPr>
        <p:spPr>
          <a:xfrm>
            <a:off x="600426" y="300877"/>
            <a:ext cx="1733984" cy="66330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전투 </a:t>
            </a:r>
            <a:r>
              <a:rPr lang="ko-KR" altLang="en-US" dirty="0" err="1" smtClean="0"/>
              <a:t>시작전</a:t>
            </a:r>
            <a:endParaRPr lang="ko-KR" altLang="en-US" dirty="0"/>
          </a:p>
        </p:txBody>
      </p:sp>
      <p:pic>
        <p:nvPicPr>
          <p:cNvPr id="6146" name="Picture 2" descr="C:\Users\goldenboy\Desktop\전투화면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585" y="1296302"/>
            <a:ext cx="2237153" cy="426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8152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51" y="186984"/>
            <a:ext cx="2647269" cy="636190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40" y="4934736"/>
            <a:ext cx="2258291" cy="699939"/>
          </a:xfrm>
          <a:prstGeom prst="rect">
            <a:avLst/>
          </a:prstGeom>
        </p:spPr>
      </p:pic>
      <p:sp>
        <p:nvSpPr>
          <p:cNvPr id="4" name="사각형: 둥근 모서리 3"/>
          <p:cNvSpPr/>
          <p:nvPr/>
        </p:nvSpPr>
        <p:spPr>
          <a:xfrm>
            <a:off x="383741" y="5533725"/>
            <a:ext cx="582810" cy="3105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41</a:t>
            </a:r>
            <a:endParaRPr lang="ko-KR" altLang="en-US" dirty="0"/>
          </a:p>
        </p:txBody>
      </p:sp>
      <p:sp>
        <p:nvSpPr>
          <p:cNvPr id="33" name="사각형: 둥근 모서리 32"/>
          <p:cNvSpPr/>
          <p:nvPr/>
        </p:nvSpPr>
        <p:spPr>
          <a:xfrm>
            <a:off x="1158401" y="5543495"/>
            <a:ext cx="582810" cy="3105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27</a:t>
            </a:r>
            <a:endParaRPr lang="ko-KR" altLang="en-US" dirty="0"/>
          </a:p>
        </p:txBody>
      </p:sp>
      <p:sp>
        <p:nvSpPr>
          <p:cNvPr id="34" name="사각형: 둥근 모서리 33"/>
          <p:cNvSpPr/>
          <p:nvPr/>
        </p:nvSpPr>
        <p:spPr>
          <a:xfrm>
            <a:off x="1933061" y="5553265"/>
            <a:ext cx="582810" cy="3105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pic>
        <p:nvPicPr>
          <p:cNvPr id="8195" name="Picture 3" descr="C:\Users\goldenboy\Desktop\거래화면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741" y="1325930"/>
            <a:ext cx="1623139" cy="2385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300" y="2803669"/>
            <a:ext cx="478580" cy="506731"/>
          </a:xfrm>
          <a:prstGeom prst="rect">
            <a:avLst/>
          </a:prstGeom>
        </p:spPr>
      </p:pic>
      <p:sp>
        <p:nvSpPr>
          <p:cNvPr id="26" name="이등변 삼각형 25"/>
          <p:cNvSpPr/>
          <p:nvPr/>
        </p:nvSpPr>
        <p:spPr>
          <a:xfrm>
            <a:off x="1592788" y="3346082"/>
            <a:ext cx="423113" cy="318782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663" y="1856466"/>
            <a:ext cx="478580" cy="506731"/>
          </a:xfrm>
          <a:prstGeom prst="rect">
            <a:avLst/>
          </a:prstGeom>
        </p:spPr>
      </p:pic>
      <p:sp>
        <p:nvSpPr>
          <p:cNvPr id="28" name="이등변 삼각형 27"/>
          <p:cNvSpPr/>
          <p:nvPr/>
        </p:nvSpPr>
        <p:spPr>
          <a:xfrm>
            <a:off x="1725130" y="2366647"/>
            <a:ext cx="423113" cy="318782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82816" y="296986"/>
            <a:ext cx="58674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ko-KR" altLang="en-US" sz="3200" dirty="0" smtClean="0"/>
              <a:t>게임 카드 및 별 거래 </a:t>
            </a:r>
            <a:r>
              <a:rPr lang="en-US" altLang="ko-KR" sz="3200" dirty="0" smtClean="0"/>
              <a:t>1 </a:t>
            </a:r>
            <a:r>
              <a:rPr lang="ko-KR" altLang="en-US" sz="3200" dirty="0" smtClean="0"/>
              <a:t>안</a:t>
            </a:r>
            <a:endParaRPr lang="en-US" altLang="ko-KR" sz="3200" dirty="0" smtClean="0"/>
          </a:p>
          <a:p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endParaRPr lang="en-US" altLang="ko-KR" sz="1400" dirty="0" smtClean="0"/>
          </a:p>
          <a:p>
            <a:r>
              <a:rPr lang="ko-KR" altLang="en-US" sz="1400" dirty="0" smtClean="0"/>
              <a:t>전략적 승리를 위한 필수요소 거래</a:t>
            </a:r>
            <a:r>
              <a:rPr lang="en-US" altLang="ko-KR" sz="1400" dirty="0" smtClean="0"/>
              <a:t>. </a:t>
            </a:r>
          </a:p>
          <a:p>
            <a:endParaRPr lang="en-US" altLang="ko-KR" sz="1400" dirty="0"/>
          </a:p>
          <a:p>
            <a:r>
              <a:rPr lang="en-US" altLang="ko-KR" sz="1400" dirty="0" smtClean="0"/>
              <a:t>1:1 </a:t>
            </a:r>
            <a:r>
              <a:rPr lang="ko-KR" altLang="en-US" sz="1400" dirty="0" smtClean="0"/>
              <a:t>거래가 가능하게 할 것이라면  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ko-KR" altLang="en-US" sz="1400" dirty="0" err="1" smtClean="0"/>
              <a:t>리니지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1</a:t>
            </a:r>
            <a:r>
              <a:rPr lang="ko-KR" altLang="en-US" sz="1400" dirty="0" smtClean="0"/>
              <a:t>의 거래시스템을 채택하는 것도 나쁘지 않을듯하다 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/>
          </a:p>
          <a:p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ko-KR" altLang="en-US" sz="1400" dirty="0" smtClean="0"/>
              <a:t>별과 카드는 개인간 거래가 가능한 것이 게임에 대한 </a:t>
            </a:r>
            <a:r>
              <a:rPr lang="ko-KR" altLang="en-US" sz="1400" dirty="0" err="1" smtClean="0"/>
              <a:t>자유도를</a:t>
            </a:r>
            <a:r>
              <a:rPr lang="ko-KR" altLang="en-US" sz="1400" dirty="0" smtClean="0"/>
              <a:t> 높여줄 것이다</a:t>
            </a:r>
            <a:r>
              <a:rPr lang="en-US" altLang="ko-KR" sz="1400" dirty="0" smtClean="0"/>
              <a:t>. </a:t>
            </a:r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 smtClean="0"/>
          </a:p>
          <a:p>
            <a:endParaRPr lang="en-US" altLang="ko-KR" sz="1400" dirty="0"/>
          </a:p>
          <a:p>
            <a:endParaRPr lang="en-US" altLang="ko-KR" sz="1400" dirty="0" smtClean="0"/>
          </a:p>
          <a:p>
            <a:endParaRPr lang="en-US" altLang="ko-KR" sz="1400" dirty="0"/>
          </a:p>
          <a:p>
            <a:endParaRPr lang="en-US" altLang="ko-KR" sz="1400" dirty="0" smtClean="0"/>
          </a:p>
          <a:p>
            <a:endParaRPr lang="en-US" altLang="ko-KR" sz="1400" dirty="0"/>
          </a:p>
          <a:p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98319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51" y="186984"/>
            <a:ext cx="2647269" cy="636190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40" y="4934736"/>
            <a:ext cx="2258291" cy="699939"/>
          </a:xfrm>
          <a:prstGeom prst="rect">
            <a:avLst/>
          </a:prstGeom>
        </p:spPr>
      </p:pic>
      <p:sp>
        <p:nvSpPr>
          <p:cNvPr id="4" name="사각형: 둥근 모서리 3"/>
          <p:cNvSpPr/>
          <p:nvPr/>
        </p:nvSpPr>
        <p:spPr>
          <a:xfrm>
            <a:off x="383741" y="5533725"/>
            <a:ext cx="582810" cy="3105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41</a:t>
            </a:r>
            <a:endParaRPr lang="ko-KR" altLang="en-US" dirty="0"/>
          </a:p>
        </p:txBody>
      </p:sp>
      <p:sp>
        <p:nvSpPr>
          <p:cNvPr id="33" name="사각형: 둥근 모서리 32"/>
          <p:cNvSpPr/>
          <p:nvPr/>
        </p:nvSpPr>
        <p:spPr>
          <a:xfrm>
            <a:off x="1158401" y="5543495"/>
            <a:ext cx="582810" cy="3105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27</a:t>
            </a:r>
            <a:endParaRPr lang="ko-KR" altLang="en-US" dirty="0"/>
          </a:p>
        </p:txBody>
      </p:sp>
      <p:sp>
        <p:nvSpPr>
          <p:cNvPr id="34" name="사각형: 둥근 모서리 33"/>
          <p:cNvSpPr/>
          <p:nvPr/>
        </p:nvSpPr>
        <p:spPr>
          <a:xfrm>
            <a:off x="1933061" y="5553265"/>
            <a:ext cx="582810" cy="3105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82816" y="296985"/>
            <a:ext cx="58674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ko-KR" altLang="en-US" sz="3200" dirty="0" smtClean="0"/>
              <a:t>게임 카드 및 별 거래 </a:t>
            </a:r>
            <a:r>
              <a:rPr lang="en-US" altLang="ko-KR" sz="3200" dirty="0" smtClean="0"/>
              <a:t>2 </a:t>
            </a:r>
            <a:r>
              <a:rPr lang="ko-KR" altLang="en-US" sz="3200" dirty="0" smtClean="0"/>
              <a:t>안</a:t>
            </a:r>
            <a:endParaRPr lang="en-US" altLang="ko-KR" sz="3200" dirty="0" smtClean="0"/>
          </a:p>
          <a:p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endParaRPr lang="en-US" altLang="ko-KR" sz="1400" dirty="0" smtClean="0"/>
          </a:p>
          <a:p>
            <a:r>
              <a:rPr lang="ko-KR" altLang="en-US" sz="1400" dirty="0" smtClean="0"/>
              <a:t>전략적 승리를 위한 필수요소 거래</a:t>
            </a:r>
            <a:r>
              <a:rPr lang="en-US" altLang="ko-KR" sz="1400" dirty="0" smtClean="0"/>
              <a:t>. </a:t>
            </a:r>
          </a:p>
          <a:p>
            <a:endParaRPr lang="en-US" altLang="ko-KR" sz="1400" dirty="0"/>
          </a:p>
          <a:p>
            <a:endParaRPr lang="en-US" altLang="ko-KR" sz="1400" dirty="0" smtClean="0"/>
          </a:p>
          <a:p>
            <a:r>
              <a:rPr lang="ko-KR" altLang="en-US" sz="1400" dirty="0" smtClean="0"/>
              <a:t>경매 시스템을 </a:t>
            </a:r>
            <a:r>
              <a:rPr lang="ko-KR" altLang="en-US" sz="1400" dirty="0" err="1" smtClean="0"/>
              <a:t>이용한거래</a:t>
            </a:r>
            <a:r>
              <a:rPr lang="ko-KR" altLang="en-US" sz="1400" dirty="0" smtClean="0"/>
              <a:t> 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ko-KR" altLang="en-US" sz="1400" dirty="0" smtClean="0"/>
              <a:t>누가 </a:t>
            </a:r>
            <a:r>
              <a:rPr lang="ko-KR" altLang="en-US" sz="1400" dirty="0" err="1" smtClean="0"/>
              <a:t>판매한것이지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알수</a:t>
            </a:r>
            <a:r>
              <a:rPr lang="ko-KR" altLang="en-US" sz="1400" dirty="0" smtClean="0"/>
              <a:t> 없으나 내가 </a:t>
            </a:r>
            <a:r>
              <a:rPr lang="ko-KR" altLang="en-US" sz="1400" dirty="0" err="1" smtClean="0"/>
              <a:t>사고싶은</a:t>
            </a:r>
            <a:r>
              <a:rPr lang="ko-KR" altLang="en-US" sz="1400" dirty="0" smtClean="0"/>
              <a:t> 카드 및 별의 가격과 수량이 올라와있으며 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ko-KR" altLang="en-US" sz="1400" dirty="0" err="1" smtClean="0"/>
              <a:t>리스트중에서</a:t>
            </a:r>
            <a:r>
              <a:rPr lang="ko-KR" altLang="en-US" sz="1400" dirty="0" smtClean="0"/>
              <a:t> 임의 선택해서 거래가 가능하게 하는 시스템 </a:t>
            </a:r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 smtClean="0"/>
          </a:p>
          <a:p>
            <a:endParaRPr lang="en-US" altLang="ko-KR" sz="1400" dirty="0"/>
          </a:p>
          <a:p>
            <a:endParaRPr lang="en-US" altLang="ko-KR" sz="1400" dirty="0" smtClean="0"/>
          </a:p>
          <a:p>
            <a:endParaRPr lang="en-US" altLang="ko-KR" sz="1400" dirty="0"/>
          </a:p>
          <a:p>
            <a:endParaRPr lang="en-US" altLang="ko-KR" sz="1400" dirty="0" smtClean="0"/>
          </a:p>
          <a:p>
            <a:endParaRPr lang="en-US" altLang="ko-KR" sz="1400" dirty="0"/>
          </a:p>
          <a:p>
            <a:endParaRPr lang="ko-KR" altLang="en-US" sz="1400" dirty="0"/>
          </a:p>
        </p:txBody>
      </p:sp>
      <p:pic>
        <p:nvPicPr>
          <p:cNvPr id="9218" name="Picture 2" descr="C:\Users\goldenboy\Desktop\거래화면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384" y="1303389"/>
            <a:ext cx="2262647" cy="308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4337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51" y="186984"/>
            <a:ext cx="2647269" cy="636190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40" y="4934736"/>
            <a:ext cx="2258291" cy="699939"/>
          </a:xfrm>
          <a:prstGeom prst="rect">
            <a:avLst/>
          </a:prstGeom>
        </p:spPr>
      </p:pic>
      <p:sp>
        <p:nvSpPr>
          <p:cNvPr id="4" name="사각형: 둥근 모서리 3"/>
          <p:cNvSpPr/>
          <p:nvPr/>
        </p:nvSpPr>
        <p:spPr>
          <a:xfrm>
            <a:off x="383741" y="5533725"/>
            <a:ext cx="582810" cy="3105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41</a:t>
            </a:r>
            <a:endParaRPr lang="ko-KR" altLang="en-US" dirty="0"/>
          </a:p>
        </p:txBody>
      </p:sp>
      <p:sp>
        <p:nvSpPr>
          <p:cNvPr id="33" name="사각형: 둥근 모서리 32"/>
          <p:cNvSpPr/>
          <p:nvPr/>
        </p:nvSpPr>
        <p:spPr>
          <a:xfrm>
            <a:off x="1158401" y="5543495"/>
            <a:ext cx="582810" cy="3105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27</a:t>
            </a:r>
            <a:endParaRPr lang="ko-KR" altLang="en-US" dirty="0"/>
          </a:p>
        </p:txBody>
      </p:sp>
      <p:sp>
        <p:nvSpPr>
          <p:cNvPr id="34" name="사각형: 둥근 모서리 33"/>
          <p:cNvSpPr/>
          <p:nvPr/>
        </p:nvSpPr>
        <p:spPr>
          <a:xfrm>
            <a:off x="1933061" y="5553265"/>
            <a:ext cx="582810" cy="3105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82816" y="296986"/>
            <a:ext cx="5867400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ko-KR" altLang="en-US" sz="3200" dirty="0" smtClean="0"/>
              <a:t>게임 카드 및 별 거래 </a:t>
            </a:r>
            <a:r>
              <a:rPr lang="ko-KR" altLang="en-US" sz="3200" dirty="0" err="1" smtClean="0"/>
              <a:t>노림수</a:t>
            </a:r>
            <a:r>
              <a:rPr lang="en-US" altLang="ko-KR" sz="3200" dirty="0" smtClean="0"/>
              <a:t>?!</a:t>
            </a:r>
          </a:p>
          <a:p>
            <a:pPr marL="457200" indent="-457200">
              <a:buFontTx/>
              <a:buChar char="-"/>
            </a:pPr>
            <a:endParaRPr lang="en-US" altLang="ko-KR" sz="3200" dirty="0" smtClean="0"/>
          </a:p>
          <a:p>
            <a:r>
              <a:rPr lang="ko-KR" altLang="en-US" sz="2000" dirty="0" smtClean="0"/>
              <a:t>게임의 재화는 </a:t>
            </a:r>
            <a:r>
              <a:rPr lang="en-US" altLang="ko-KR" sz="2000" dirty="0" smtClean="0"/>
              <a:t>1</a:t>
            </a:r>
            <a:r>
              <a:rPr lang="ko-KR" altLang="en-US" sz="2000" dirty="0" smtClean="0"/>
              <a:t>종류</a:t>
            </a:r>
            <a:endParaRPr lang="en-US" altLang="ko-KR" sz="2000" dirty="0" smtClean="0"/>
          </a:p>
          <a:p>
            <a:r>
              <a:rPr lang="ko-KR" altLang="en-US" sz="2000" dirty="0" err="1" smtClean="0"/>
              <a:t>게임머니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1</a:t>
            </a:r>
            <a:r>
              <a:rPr lang="ko-KR" altLang="en-US" sz="2000" dirty="0" smtClean="0"/>
              <a:t>가지</a:t>
            </a:r>
            <a:endParaRPr lang="en-US" altLang="ko-KR" sz="2000" dirty="0" smtClean="0"/>
          </a:p>
          <a:p>
            <a:endParaRPr lang="en-US" altLang="ko-KR" sz="1400" dirty="0"/>
          </a:p>
          <a:p>
            <a:r>
              <a:rPr lang="ko-KR" altLang="en-US" sz="1400" dirty="0" smtClean="0"/>
              <a:t>게임 내 </a:t>
            </a:r>
            <a:r>
              <a:rPr lang="ko-KR" altLang="en-US" sz="1400" dirty="0" err="1"/>
              <a:t>게임머니로</a:t>
            </a:r>
            <a:r>
              <a:rPr lang="ko-KR" altLang="en-US" sz="1400" dirty="0"/>
              <a:t> 구매할 수 </a:t>
            </a:r>
            <a:r>
              <a:rPr lang="ko-KR" altLang="en-US" sz="1400" dirty="0" smtClean="0"/>
              <a:t>아이템이 현금가치가 있고 또한 게임 내부적으로</a:t>
            </a:r>
            <a:endParaRPr lang="en-US" altLang="ko-KR" sz="1400" dirty="0" smtClean="0"/>
          </a:p>
          <a:p>
            <a:r>
              <a:rPr lang="ko-KR" altLang="en-US" sz="1400" dirty="0"/>
              <a:t>게임 내 아이템이 이동이 가능하다는 것이 의미하는 </a:t>
            </a:r>
            <a:r>
              <a:rPr lang="ko-KR" altLang="en-US" sz="1400" dirty="0" smtClean="0"/>
              <a:t>것은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ko-KR" altLang="en-US" sz="1400" dirty="0" err="1" smtClean="0"/>
              <a:t>게임머니를</a:t>
            </a:r>
            <a:r>
              <a:rPr lang="ko-KR" altLang="en-US" sz="1400" dirty="0" smtClean="0"/>
              <a:t> 우회적으로 현금화 </a:t>
            </a:r>
            <a:r>
              <a:rPr lang="ko-KR" altLang="en-US" sz="1400" dirty="0" err="1" smtClean="0"/>
              <a:t>시킬수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있다는것을</a:t>
            </a:r>
            <a:r>
              <a:rPr lang="ko-KR" altLang="en-US" sz="1400" dirty="0" smtClean="0"/>
              <a:t> 의미하며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ko-KR" altLang="en-US" sz="1400" dirty="0" smtClean="0"/>
              <a:t>이러한 시스템은 지극히 개인적인 생각으로 </a:t>
            </a:r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ko-KR" altLang="en-US" sz="1400" dirty="0" err="1" smtClean="0"/>
              <a:t>리니지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1</a:t>
            </a:r>
            <a:r>
              <a:rPr lang="ko-KR" altLang="en-US" sz="1400" dirty="0" smtClean="0"/>
              <a:t>이 현재까지 수많은 유저를 </a:t>
            </a:r>
            <a:r>
              <a:rPr lang="ko-KR" altLang="en-US" sz="1400" dirty="0" err="1" smtClean="0"/>
              <a:t>확보하게한</a:t>
            </a:r>
            <a:r>
              <a:rPr lang="ko-KR" altLang="en-US" sz="1400" dirty="0" smtClean="0"/>
              <a:t> 원동력으로 생각한다</a:t>
            </a:r>
            <a:r>
              <a:rPr lang="en-US" altLang="ko-KR" sz="1400" dirty="0" smtClean="0"/>
              <a:t>. </a:t>
            </a:r>
          </a:p>
          <a:p>
            <a:endParaRPr lang="en-US" altLang="ko-KR" sz="1400" dirty="0"/>
          </a:p>
          <a:p>
            <a:r>
              <a:rPr lang="ko-KR" altLang="en-US" sz="1400" dirty="0" smtClean="0"/>
              <a:t>어디까지 법적으로 가능한지 </a:t>
            </a:r>
            <a:r>
              <a:rPr lang="ko-KR" altLang="en-US" sz="1400" dirty="0" err="1" smtClean="0"/>
              <a:t>따져봐야하는</a:t>
            </a:r>
            <a:r>
              <a:rPr lang="ko-KR" altLang="en-US" sz="1400" dirty="0" smtClean="0"/>
              <a:t> 부분이다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 smtClean="0"/>
              <a:t>팀원들의 의견을 들어보고 결정한다</a:t>
            </a:r>
            <a:r>
              <a:rPr lang="en-US" altLang="ko-KR" sz="1400" dirty="0" smtClean="0"/>
              <a:t>. </a:t>
            </a:r>
          </a:p>
          <a:p>
            <a:endParaRPr lang="en-US" altLang="ko-KR" sz="1400" dirty="0"/>
          </a:p>
          <a:p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en-US" altLang="ko-KR" sz="1400" dirty="0" smtClean="0"/>
              <a:t>- </a:t>
            </a:r>
            <a:r>
              <a:rPr lang="ko-KR" altLang="en-US" sz="1400" dirty="0" err="1" smtClean="0"/>
              <a:t>게임머니</a:t>
            </a:r>
            <a:r>
              <a:rPr lang="ko-KR" altLang="en-US" sz="1400" dirty="0" smtClean="0"/>
              <a:t> 인플레이션을 반드시 </a:t>
            </a:r>
            <a:r>
              <a:rPr lang="ko-KR" altLang="en-US" sz="1400" dirty="0" err="1" smtClean="0"/>
              <a:t>방지해야하는</a:t>
            </a:r>
            <a:r>
              <a:rPr lang="ko-KR" altLang="en-US" sz="1400" dirty="0" smtClean="0"/>
              <a:t> 이유 중  하나이다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/>
          </a:p>
          <a:p>
            <a:endParaRPr lang="en-US" altLang="ko-KR" sz="1400" dirty="0" smtClean="0"/>
          </a:p>
          <a:p>
            <a:endParaRPr lang="en-US" altLang="ko-KR" sz="1400" dirty="0"/>
          </a:p>
          <a:p>
            <a:endParaRPr lang="ko-KR" altLang="en-US" sz="1400" dirty="0"/>
          </a:p>
        </p:txBody>
      </p:sp>
      <p:pic>
        <p:nvPicPr>
          <p:cNvPr id="9218" name="Picture 2" descr="C:\Users\goldenboy\Desktop\거래화면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384" y="1303389"/>
            <a:ext cx="2262647" cy="308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890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51" y="186984"/>
            <a:ext cx="2647269" cy="6361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82816" y="296986"/>
            <a:ext cx="58674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ko-KR" altLang="en-US" sz="3200" dirty="0" err="1" smtClean="0"/>
              <a:t>게</a:t>
            </a:r>
            <a:r>
              <a:rPr lang="ko-KR" altLang="en-US" sz="3200" dirty="0" err="1" smtClean="0"/>
              <a:t>임속</a:t>
            </a:r>
            <a:r>
              <a:rPr lang="ko-KR" altLang="en-US" sz="3200" dirty="0" smtClean="0"/>
              <a:t> </a:t>
            </a:r>
            <a:r>
              <a:rPr lang="ko-KR" altLang="en-US" sz="3200" dirty="0" err="1" smtClean="0"/>
              <a:t>컨텐츠</a:t>
            </a:r>
            <a:r>
              <a:rPr lang="ko-KR" altLang="en-US" sz="3200" dirty="0" smtClean="0"/>
              <a:t> 미니게임</a:t>
            </a:r>
            <a:endParaRPr lang="en-US" altLang="ko-KR" sz="3200" dirty="0" smtClean="0"/>
          </a:p>
          <a:p>
            <a:endParaRPr lang="en-US" altLang="ko-KR" sz="3200" dirty="0" smtClean="0"/>
          </a:p>
          <a:p>
            <a:r>
              <a:rPr lang="ko-KR" altLang="en-US" sz="2000" dirty="0" smtClean="0"/>
              <a:t>가위바위보 </a:t>
            </a:r>
            <a:r>
              <a:rPr lang="ko-KR" altLang="en-US" sz="2000" dirty="0" err="1" smtClean="0"/>
              <a:t>컨셉에</a:t>
            </a:r>
            <a:r>
              <a:rPr lang="ko-KR" altLang="en-US" sz="2000" dirty="0" smtClean="0"/>
              <a:t> 맞</a:t>
            </a:r>
            <a:r>
              <a:rPr lang="ko-KR" altLang="en-US" sz="2000" dirty="0"/>
              <a:t>는</a:t>
            </a:r>
            <a:r>
              <a:rPr lang="ko-KR" altLang="en-US" sz="2000" dirty="0" smtClean="0"/>
              <a:t> 미니게임 삽입예정</a:t>
            </a:r>
            <a:endParaRPr lang="en-US" altLang="ko-KR" sz="2000" dirty="0" smtClean="0"/>
          </a:p>
          <a:p>
            <a:endParaRPr lang="en-US" altLang="ko-KR" sz="2000" dirty="0"/>
          </a:p>
          <a:p>
            <a:r>
              <a:rPr lang="en-US" altLang="ko-KR" sz="1400" dirty="0" smtClean="0"/>
              <a:t>P2P </a:t>
            </a:r>
            <a:r>
              <a:rPr lang="ko-KR" altLang="en-US" sz="1400" dirty="0" smtClean="0"/>
              <a:t>요소만 들어있기에는 게임 특성상 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ko-KR" altLang="en-US" sz="1400" dirty="0" smtClean="0"/>
              <a:t>비 접속 유저들이 항시 </a:t>
            </a:r>
            <a:r>
              <a:rPr lang="ko-KR" altLang="en-US" sz="1400" dirty="0" err="1" smtClean="0"/>
              <a:t>있을수</a:t>
            </a:r>
            <a:r>
              <a:rPr lang="ko-KR" altLang="en-US" sz="1400" dirty="0" smtClean="0"/>
              <a:t> 있으며 이러한 현상은 </a:t>
            </a:r>
            <a:r>
              <a:rPr lang="ko-KR" altLang="en-US" sz="1400" dirty="0" err="1" smtClean="0"/>
              <a:t>현접속</a:t>
            </a:r>
            <a:r>
              <a:rPr lang="ko-KR" altLang="en-US" sz="1400" dirty="0" smtClean="0"/>
              <a:t> 유저의 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ko-KR" altLang="en-US" sz="1400" dirty="0" smtClean="0"/>
              <a:t>접속상태를 유지시킬만한 </a:t>
            </a:r>
            <a:r>
              <a:rPr lang="en-US" altLang="ko-KR" sz="1400" dirty="0"/>
              <a:t> </a:t>
            </a:r>
            <a:r>
              <a:rPr lang="ko-KR" altLang="en-US" sz="1400" dirty="0" err="1" smtClean="0"/>
              <a:t>쏠플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컨텐츠가</a:t>
            </a:r>
            <a:r>
              <a:rPr lang="ko-KR" altLang="en-US" sz="1400" dirty="0" smtClean="0"/>
              <a:t> 필요하다</a:t>
            </a:r>
            <a:r>
              <a:rPr lang="en-US" altLang="ko-KR" sz="1400" dirty="0" smtClean="0"/>
              <a:t>. </a:t>
            </a:r>
          </a:p>
          <a:p>
            <a:endParaRPr lang="en-US" altLang="ko-KR" sz="1400" dirty="0"/>
          </a:p>
          <a:p>
            <a:r>
              <a:rPr lang="ko-KR" altLang="en-US" sz="1400" dirty="0" smtClean="0"/>
              <a:t>추가적인 </a:t>
            </a:r>
            <a:r>
              <a:rPr lang="ko-KR" altLang="en-US" sz="1400" dirty="0" err="1" smtClean="0"/>
              <a:t>게임머니의</a:t>
            </a:r>
            <a:r>
              <a:rPr lang="ko-KR" altLang="en-US" sz="1400" dirty="0" smtClean="0"/>
              <a:t> 효과를 </a:t>
            </a:r>
            <a:r>
              <a:rPr lang="ko-KR" altLang="en-US" sz="1400" dirty="0" err="1" smtClean="0"/>
              <a:t>볼수있는</a:t>
            </a:r>
            <a:r>
              <a:rPr lang="ko-KR" altLang="en-US" sz="1400" dirty="0" smtClean="0"/>
              <a:t> 간단한 </a:t>
            </a:r>
            <a:r>
              <a:rPr lang="ko-KR" altLang="en-US" sz="1400" dirty="0" err="1" smtClean="0"/>
              <a:t>미니컨텐츠를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ko-KR" altLang="en-US" sz="1400" dirty="0" smtClean="0"/>
              <a:t>삽입할 생각이다</a:t>
            </a:r>
            <a:r>
              <a:rPr lang="en-US" altLang="ko-KR" sz="1400" dirty="0" smtClean="0"/>
              <a:t>. </a:t>
            </a:r>
          </a:p>
          <a:p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en-US" altLang="ko-KR" sz="1400" dirty="0" smtClean="0"/>
              <a:t>&lt; </a:t>
            </a:r>
            <a:r>
              <a:rPr lang="ko-KR" altLang="en-US" sz="1400" dirty="0" smtClean="0"/>
              <a:t>추억의 가위바위보 </a:t>
            </a:r>
            <a:r>
              <a:rPr lang="en-US" altLang="ko-KR" sz="1400" dirty="0" smtClean="0"/>
              <a:t>App &gt;</a:t>
            </a:r>
          </a:p>
          <a:p>
            <a:r>
              <a:rPr lang="ko-KR" altLang="en-US" sz="1400" dirty="0" smtClean="0"/>
              <a:t>현재 스토어에 올라가 있는 </a:t>
            </a:r>
            <a:r>
              <a:rPr lang="ko-KR" altLang="en-US" sz="1400" dirty="0" err="1" smtClean="0"/>
              <a:t>앱이며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추억팔이</a:t>
            </a:r>
            <a:r>
              <a:rPr lang="ko-KR" altLang="en-US" sz="1400" dirty="0"/>
              <a:t> </a:t>
            </a:r>
            <a:r>
              <a:rPr lang="ko-KR" altLang="en-US" sz="1400" dirty="0" err="1" smtClean="0"/>
              <a:t>컨텐츠로</a:t>
            </a:r>
            <a:r>
              <a:rPr lang="ko-KR" altLang="en-US" sz="1400" dirty="0" smtClean="0"/>
              <a:t> </a:t>
            </a:r>
            <a:endParaRPr lang="en-US" altLang="ko-KR" sz="1400" dirty="0" smtClean="0"/>
          </a:p>
          <a:p>
            <a:r>
              <a:rPr lang="en-US" altLang="ko-KR" sz="1400" dirty="0" smtClean="0"/>
              <a:t>10</a:t>
            </a:r>
            <a:r>
              <a:rPr lang="ko-KR" altLang="en-US" sz="1400" dirty="0" err="1" smtClean="0"/>
              <a:t>만건</a:t>
            </a:r>
            <a:r>
              <a:rPr lang="ko-KR" altLang="en-US" sz="1400" dirty="0" smtClean="0"/>
              <a:t> 이상의 다운로드 성과를 올렸다</a:t>
            </a:r>
            <a:r>
              <a:rPr lang="en-US" altLang="ko-KR" sz="1400" dirty="0" smtClean="0"/>
              <a:t>. </a:t>
            </a:r>
            <a:endParaRPr lang="en-US" altLang="ko-KR" sz="1400" dirty="0"/>
          </a:p>
          <a:p>
            <a:endParaRPr lang="en-US" altLang="ko-KR" sz="1400" dirty="0" smtClean="0"/>
          </a:p>
          <a:p>
            <a:endParaRPr lang="en-US" altLang="ko-KR" sz="1400" dirty="0"/>
          </a:p>
          <a:p>
            <a:endParaRPr lang="ko-KR" altLang="en-US" sz="1400" dirty="0"/>
          </a:p>
        </p:txBody>
      </p:sp>
      <p:pic>
        <p:nvPicPr>
          <p:cNvPr id="1026" name="Picture 2" descr="C:\Users\goldenboy\Desktop\짱깬뽀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04" y="764704"/>
            <a:ext cx="2319362" cy="4116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7588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207627" y="302313"/>
            <a:ext cx="5712903" cy="64152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26" y="302313"/>
            <a:ext cx="2647269" cy="63619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23" y="1440259"/>
            <a:ext cx="478580" cy="506731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3315749" y="3791825"/>
            <a:ext cx="534798" cy="2265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필드</a:t>
            </a: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369" y="3764961"/>
            <a:ext cx="478580" cy="506731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202" y="1563668"/>
            <a:ext cx="478580" cy="50673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008" y="3037195"/>
            <a:ext cx="478580" cy="506731"/>
          </a:xfrm>
          <a:prstGeom prst="rect">
            <a:avLst/>
          </a:prstGeom>
        </p:spPr>
      </p:pic>
      <p:sp>
        <p:nvSpPr>
          <p:cNvPr id="23" name="이등변 삼각형 22"/>
          <p:cNvSpPr/>
          <p:nvPr/>
        </p:nvSpPr>
        <p:spPr>
          <a:xfrm>
            <a:off x="1311006" y="3543925"/>
            <a:ext cx="423113" cy="318782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4" name="이등변 삼각형 23"/>
          <p:cNvSpPr/>
          <p:nvPr/>
        </p:nvSpPr>
        <p:spPr>
          <a:xfrm>
            <a:off x="4652857" y="4307375"/>
            <a:ext cx="423113" cy="318782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5" name="이등변 삼각형 24"/>
          <p:cNvSpPr/>
          <p:nvPr/>
        </p:nvSpPr>
        <p:spPr>
          <a:xfrm>
            <a:off x="2214490" y="1950440"/>
            <a:ext cx="423113" cy="318782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367" y="3279842"/>
            <a:ext cx="666038" cy="860786"/>
          </a:xfrm>
          <a:prstGeom prst="rect">
            <a:avLst/>
          </a:prstGeom>
        </p:spPr>
      </p:pic>
      <p:sp>
        <p:nvSpPr>
          <p:cNvPr id="29" name="직사각형 28"/>
          <p:cNvSpPr/>
          <p:nvPr/>
        </p:nvSpPr>
        <p:spPr>
          <a:xfrm>
            <a:off x="5102367" y="4194006"/>
            <a:ext cx="666038" cy="248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거래소</a:t>
            </a: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38" y="5210850"/>
            <a:ext cx="666038" cy="860786"/>
          </a:xfrm>
          <a:prstGeom prst="rect">
            <a:avLst/>
          </a:prstGeom>
        </p:spPr>
      </p:pic>
      <p:sp>
        <p:nvSpPr>
          <p:cNvPr id="31" name="직사각형 30"/>
          <p:cNvSpPr/>
          <p:nvPr/>
        </p:nvSpPr>
        <p:spPr>
          <a:xfrm>
            <a:off x="452638" y="6125014"/>
            <a:ext cx="666038" cy="248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상점</a:t>
            </a:r>
          </a:p>
        </p:txBody>
      </p:sp>
      <p:sp>
        <p:nvSpPr>
          <p:cNvPr id="32" name="이등변 삼각형 31"/>
          <p:cNvSpPr/>
          <p:nvPr/>
        </p:nvSpPr>
        <p:spPr>
          <a:xfrm>
            <a:off x="3603683" y="2112503"/>
            <a:ext cx="423113" cy="318782"/>
          </a:xfrm>
          <a:prstGeom prst="triangl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2" name="말풍선: 모서리가 둥근 사각형 21"/>
          <p:cNvSpPr/>
          <p:nvPr/>
        </p:nvSpPr>
        <p:spPr>
          <a:xfrm>
            <a:off x="365260" y="1177646"/>
            <a:ext cx="918595" cy="335560"/>
          </a:xfrm>
          <a:prstGeom prst="wedgeRoundRectCallout">
            <a:avLst>
              <a:gd name="adj1" fmla="val -41138"/>
              <a:gd name="adj2" fmla="val 97143"/>
              <a:gd name="adj3" fmla="val 16667"/>
            </a:avLst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말풍선: 모서리가 둥근 사각형 32"/>
          <p:cNvSpPr/>
          <p:nvPr/>
        </p:nvSpPr>
        <p:spPr>
          <a:xfrm>
            <a:off x="373129" y="2298359"/>
            <a:ext cx="918595" cy="335560"/>
          </a:xfrm>
          <a:prstGeom prst="wedgeRoundRectCallout">
            <a:avLst>
              <a:gd name="adj1" fmla="val -41138"/>
              <a:gd name="adj2" fmla="val 97143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말풍선: 모서리가 둥근 사각형 33"/>
          <p:cNvSpPr/>
          <p:nvPr/>
        </p:nvSpPr>
        <p:spPr>
          <a:xfrm>
            <a:off x="373402" y="2919520"/>
            <a:ext cx="918595" cy="335560"/>
          </a:xfrm>
          <a:prstGeom prst="wedgeRoundRectCallout">
            <a:avLst>
              <a:gd name="adj1" fmla="val -41138"/>
              <a:gd name="adj2" fmla="val 97143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말풍선: 모서리가 둥근 사각형 35"/>
          <p:cNvSpPr/>
          <p:nvPr/>
        </p:nvSpPr>
        <p:spPr>
          <a:xfrm>
            <a:off x="373129" y="4614169"/>
            <a:ext cx="918595" cy="335560"/>
          </a:xfrm>
          <a:prstGeom prst="wedgeRoundRectCallout">
            <a:avLst>
              <a:gd name="adj1" fmla="val -41138"/>
              <a:gd name="adj2" fmla="val 97143"/>
              <a:gd name="adj3" fmla="val 16667"/>
            </a:avLst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말풍선: 모서리가 둥근 사각형 36"/>
          <p:cNvSpPr/>
          <p:nvPr/>
        </p:nvSpPr>
        <p:spPr>
          <a:xfrm>
            <a:off x="1818314" y="1663830"/>
            <a:ext cx="899720" cy="402671"/>
          </a:xfrm>
          <a:prstGeom prst="wedgeRoundRectCallout">
            <a:avLst>
              <a:gd name="adj1" fmla="val 49796"/>
              <a:gd name="adj2" fmla="val 85417"/>
              <a:gd name="adj3" fmla="val 16667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말풍선: 모서리가 둥근 사각형 37"/>
          <p:cNvSpPr/>
          <p:nvPr/>
        </p:nvSpPr>
        <p:spPr>
          <a:xfrm>
            <a:off x="1789976" y="3362291"/>
            <a:ext cx="899720" cy="402671"/>
          </a:xfrm>
          <a:prstGeom prst="wedgeRoundRectCallout">
            <a:avLst>
              <a:gd name="adj1" fmla="val 49796"/>
              <a:gd name="adj2" fmla="val 85417"/>
              <a:gd name="adj3" fmla="val 16667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말풍선: 모서리가 둥근 사각형 38"/>
          <p:cNvSpPr/>
          <p:nvPr/>
        </p:nvSpPr>
        <p:spPr>
          <a:xfrm>
            <a:off x="1818314" y="4130238"/>
            <a:ext cx="899720" cy="402671"/>
          </a:xfrm>
          <a:prstGeom prst="wedgeRoundRectCallout">
            <a:avLst>
              <a:gd name="adj1" fmla="val 49796"/>
              <a:gd name="adj2" fmla="val 85417"/>
              <a:gd name="adj3" fmla="val 16667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6121866" y="377506"/>
            <a:ext cx="279353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게임은 세로로 </a:t>
            </a:r>
            <a:r>
              <a:rPr lang="ko-KR" altLang="en-US" dirty="0" err="1"/>
              <a:t>진행해야한다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채팅이 주요한 게임의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요소이기때문에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게임 화면과 기존 폰에 설정되어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있는 키보드가 출현되게끔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진행한다 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20" y="3341980"/>
            <a:ext cx="2373314" cy="273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431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97" y="318788"/>
            <a:ext cx="2647269" cy="63619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407973" y="947810"/>
            <a:ext cx="506195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참고 </a:t>
            </a:r>
            <a:r>
              <a:rPr lang="en-US" altLang="ko-KR" dirty="0" smtClean="0"/>
              <a:t>UI </a:t>
            </a:r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포켓마피아 채팅 </a:t>
            </a:r>
            <a:r>
              <a:rPr lang="en-US" altLang="ko-KR" dirty="0" smtClean="0"/>
              <a:t>UI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ko-KR" altLang="en-US" dirty="0" smtClean="0"/>
              <a:t>귓속말 채팅 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임의 단체 채팅의 </a:t>
            </a:r>
            <a:r>
              <a:rPr lang="en-US" altLang="ko-KR" dirty="0" smtClean="0"/>
              <a:t>UX</a:t>
            </a:r>
            <a:r>
              <a:rPr lang="ko-KR" altLang="en-US" dirty="0" smtClean="0"/>
              <a:t>를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게임화면에 어떻게 표시해야 할지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디자인적으로 풀어야 하는 부분이 있다</a:t>
            </a:r>
            <a:r>
              <a:rPr lang="en-US" altLang="ko-KR" dirty="0" smtClean="0"/>
              <a:t>. 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전체 채팅은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채팅 창과 캐릭터 위에 </a:t>
            </a:r>
            <a:r>
              <a:rPr lang="ko-KR" altLang="en-US" dirty="0" err="1" smtClean="0"/>
              <a:t>말풍선</a:t>
            </a:r>
            <a:r>
              <a:rPr lang="ko-KR" altLang="en-US" dirty="0" smtClean="0"/>
              <a:t> 과 함께 나타낸다</a:t>
            </a:r>
            <a:r>
              <a:rPr lang="en-US" altLang="ko-KR" dirty="0" smtClean="0"/>
              <a:t>. </a:t>
            </a:r>
          </a:p>
          <a:p>
            <a:endParaRPr lang="ko-KR" altLang="en-US" dirty="0"/>
          </a:p>
        </p:txBody>
      </p:sp>
      <p:pic>
        <p:nvPicPr>
          <p:cNvPr id="1026" name="Picture 2" descr="C:\Users\goldenboy\Desktop\포켓마피아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48" y="947810"/>
            <a:ext cx="2428103" cy="510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2483768" y="1916832"/>
            <a:ext cx="260383" cy="10801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귓속말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674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20" y="192897"/>
            <a:ext cx="2647269" cy="6361900"/>
          </a:xfrm>
          <a:prstGeom prst="rect">
            <a:avLst/>
          </a:prstGeom>
        </p:spPr>
      </p:pic>
      <p:pic>
        <p:nvPicPr>
          <p:cNvPr id="7170" name="Picture 2" descr="C:\Users\goldenboy\Desktop\게임 결과화면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99" y="759533"/>
            <a:ext cx="2402840" cy="2905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153508" y="177268"/>
            <a:ext cx="552743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/>
              <a:t>게임 결과 화면</a:t>
            </a:r>
            <a:endParaRPr lang="en-US" altLang="ko-KR" sz="3600" dirty="0" smtClean="0"/>
          </a:p>
          <a:p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- </a:t>
            </a:r>
            <a:r>
              <a:rPr lang="ko-KR" altLang="en-US" sz="1400" dirty="0" smtClean="0"/>
              <a:t>패배 유저 </a:t>
            </a:r>
            <a:endParaRPr lang="en-US" altLang="ko-KR" sz="1400" dirty="0"/>
          </a:p>
          <a:p>
            <a:r>
              <a:rPr lang="ko-KR" altLang="en-US" sz="1400" dirty="0" smtClean="0"/>
              <a:t>게임이 </a:t>
            </a:r>
            <a:r>
              <a:rPr lang="ko-KR" altLang="en-US" sz="1400" dirty="0" err="1" smtClean="0"/>
              <a:t>끝나게되면</a:t>
            </a:r>
            <a:r>
              <a:rPr lang="ko-KR" altLang="en-US" sz="1400" dirty="0" smtClean="0"/>
              <a:t> 처음 </a:t>
            </a:r>
            <a:r>
              <a:rPr lang="ko-KR" altLang="en-US" sz="1400" dirty="0" err="1" smtClean="0"/>
              <a:t>부여받은</a:t>
            </a:r>
            <a:r>
              <a:rPr lang="ko-KR" altLang="en-US" sz="1400" dirty="0" smtClean="0"/>
              <a:t> 별이 </a:t>
            </a:r>
            <a:r>
              <a:rPr lang="en-US" altLang="ko-KR" sz="1400" dirty="0" smtClean="0"/>
              <a:t>3</a:t>
            </a:r>
            <a:r>
              <a:rPr lang="ko-KR" altLang="en-US" sz="1400" dirty="0" smtClean="0"/>
              <a:t>개 이하 유저는 패배처리</a:t>
            </a:r>
            <a:r>
              <a:rPr lang="en-US" altLang="ko-KR" sz="1400" dirty="0" smtClean="0"/>
              <a:t>. </a:t>
            </a:r>
          </a:p>
          <a:p>
            <a:r>
              <a:rPr lang="ko-KR" altLang="en-US" sz="1400" dirty="0"/>
              <a:t>카드를 마지막까지 보유한 </a:t>
            </a:r>
            <a:r>
              <a:rPr lang="ko-KR" altLang="en-US" sz="1400" dirty="0" smtClean="0"/>
              <a:t>유저는 별의 개수와 상관없이 패배처리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ko-KR" altLang="en-US" sz="1400" dirty="0" smtClean="0"/>
              <a:t>패배 유저의 별은 승리자 보상으로 이관된다</a:t>
            </a:r>
            <a:r>
              <a:rPr lang="en-US" altLang="ko-KR" sz="1400" dirty="0" smtClean="0"/>
              <a:t>. </a:t>
            </a:r>
          </a:p>
          <a:p>
            <a:endParaRPr lang="en-US" altLang="ko-KR" sz="1400" dirty="0"/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- </a:t>
            </a:r>
            <a:r>
              <a:rPr lang="ko-KR" altLang="en-US" sz="1400" dirty="0" smtClean="0"/>
              <a:t>승리유저 </a:t>
            </a:r>
            <a:endParaRPr lang="en-US" altLang="ko-KR" sz="1400" dirty="0"/>
          </a:p>
          <a:p>
            <a:r>
              <a:rPr lang="ko-KR" altLang="en-US" sz="1400" dirty="0" smtClean="0"/>
              <a:t>처음 </a:t>
            </a:r>
            <a:r>
              <a:rPr lang="ko-KR" altLang="en-US" sz="1400" dirty="0" err="1" smtClean="0"/>
              <a:t>시작시</a:t>
            </a:r>
            <a:r>
              <a:rPr lang="ko-KR" altLang="en-US" sz="1400" dirty="0" smtClean="0"/>
              <a:t> 지급받은 별 </a:t>
            </a:r>
            <a:r>
              <a:rPr lang="en-US" altLang="ko-KR" sz="1400" dirty="0" smtClean="0"/>
              <a:t>3</a:t>
            </a:r>
            <a:r>
              <a:rPr lang="ko-KR" altLang="en-US" sz="1400" dirty="0" smtClean="0"/>
              <a:t>개를 반납하고 남은 별 개수 </a:t>
            </a:r>
            <a:r>
              <a:rPr lang="en-US" altLang="ko-KR" sz="1400" dirty="0" smtClean="0"/>
              <a:t>1</a:t>
            </a:r>
            <a:r>
              <a:rPr lang="ko-KR" altLang="en-US" sz="1400" dirty="0" smtClean="0"/>
              <a:t>개당 </a:t>
            </a:r>
            <a:r>
              <a:rPr lang="ko-KR" altLang="en-US" sz="1400" dirty="0" err="1" smtClean="0"/>
              <a:t>게임머니로</a:t>
            </a:r>
            <a:r>
              <a:rPr lang="ko-KR" altLang="en-US" sz="1400" dirty="0" smtClean="0"/>
              <a:t> 보상이 지급된다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- </a:t>
            </a:r>
            <a:r>
              <a:rPr lang="ko-KR" altLang="en-US" sz="1400" dirty="0" smtClean="0"/>
              <a:t>추가보상 </a:t>
            </a:r>
            <a:r>
              <a:rPr lang="en-US" altLang="ko-KR" sz="1400" dirty="0" smtClean="0"/>
              <a:t>( </a:t>
            </a:r>
            <a:r>
              <a:rPr lang="ko-KR" altLang="en-US" sz="1400" dirty="0" smtClean="0"/>
              <a:t>없어도 상관없음 </a:t>
            </a:r>
            <a:r>
              <a:rPr lang="en-US" altLang="ko-KR" sz="1400" dirty="0" smtClean="0"/>
              <a:t>)</a:t>
            </a:r>
            <a:endParaRPr lang="en-US" altLang="ko-KR" sz="1400" dirty="0"/>
          </a:p>
          <a:p>
            <a:r>
              <a:rPr lang="ko-KR" altLang="en-US" sz="1400" dirty="0" smtClean="0"/>
              <a:t>또한 추가로 패배한 유저의 회수된 별 만큼의 보상금액을</a:t>
            </a:r>
            <a:endParaRPr lang="en-US" altLang="ko-KR" sz="1400" dirty="0" smtClean="0"/>
          </a:p>
          <a:p>
            <a:r>
              <a:rPr lang="ko-KR" altLang="en-US" sz="1400" dirty="0" smtClean="0"/>
              <a:t>승리자들은 </a:t>
            </a:r>
            <a:r>
              <a:rPr lang="en-US" altLang="ko-KR" sz="1400" dirty="0" smtClean="0"/>
              <a:t>1/n </a:t>
            </a:r>
            <a:r>
              <a:rPr lang="ko-KR" altLang="en-US" sz="1400" dirty="0" smtClean="0"/>
              <a:t>로 보상받게 된다</a:t>
            </a:r>
            <a:endParaRPr lang="en-US" altLang="ko-KR" sz="1400" dirty="0"/>
          </a:p>
          <a:p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- </a:t>
            </a:r>
            <a:r>
              <a:rPr lang="ko-KR" altLang="en-US" sz="1400" dirty="0" smtClean="0"/>
              <a:t>초반 게임 운용 대출금 상환 </a:t>
            </a:r>
            <a:endParaRPr lang="en-US" altLang="ko-KR" sz="1400" dirty="0"/>
          </a:p>
          <a:p>
            <a:r>
              <a:rPr lang="ko-KR" altLang="en-US" sz="1400" dirty="0" smtClean="0"/>
              <a:t>대출금 </a:t>
            </a:r>
            <a:r>
              <a:rPr lang="ko-KR" altLang="en-US" sz="1400" dirty="0"/>
              <a:t>상환이 </a:t>
            </a:r>
            <a:r>
              <a:rPr lang="ko-KR" altLang="en-US" sz="1400" dirty="0" smtClean="0"/>
              <a:t>이루어지게 되며 최종 획득 </a:t>
            </a:r>
            <a:r>
              <a:rPr lang="ko-KR" altLang="en-US" sz="1400" dirty="0" err="1" smtClean="0"/>
              <a:t>게임머니</a:t>
            </a:r>
            <a:r>
              <a:rPr lang="ko-KR" altLang="en-US" sz="1400" dirty="0" smtClean="0"/>
              <a:t> 정산이 이루어진다</a:t>
            </a:r>
            <a:endParaRPr lang="en-US" altLang="ko-KR" sz="1400" dirty="0" smtClean="0"/>
          </a:p>
          <a:p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ko-KR" altLang="en-US" sz="1400" dirty="0" smtClean="0"/>
              <a:t>전체 결과화면</a:t>
            </a:r>
            <a:endParaRPr lang="en-US" altLang="ko-KR" sz="1400" dirty="0" smtClean="0"/>
          </a:p>
          <a:p>
            <a:r>
              <a:rPr lang="ko-KR" altLang="en-US" sz="1400" dirty="0" smtClean="0"/>
              <a:t>승리자와 패배자를 표시해주는 </a:t>
            </a:r>
            <a:r>
              <a:rPr lang="en-US" altLang="ko-KR" sz="1400" dirty="0" smtClean="0"/>
              <a:t>UI</a:t>
            </a:r>
            <a:r>
              <a:rPr lang="ko-KR" altLang="en-US" sz="1400" dirty="0" smtClean="0"/>
              <a:t>구성 및 금액정산 </a:t>
            </a:r>
            <a:r>
              <a:rPr lang="en-US" altLang="ko-KR" sz="1400" dirty="0" smtClean="0"/>
              <a:t>UI </a:t>
            </a:r>
            <a:r>
              <a:rPr lang="ko-KR" altLang="en-US" sz="1400" dirty="0" smtClean="0"/>
              <a:t> 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798106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7838" y="394284"/>
            <a:ext cx="794647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비즈니스 모델 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ko-KR" altLang="en-US" sz="1400" dirty="0" smtClean="0"/>
              <a:t>게임의 </a:t>
            </a:r>
            <a:r>
              <a:rPr lang="ko-KR" altLang="en-US" sz="1400" dirty="0"/>
              <a:t>재미를 </a:t>
            </a:r>
            <a:r>
              <a:rPr lang="ko-KR" altLang="en-US" sz="1400" dirty="0" err="1"/>
              <a:t>증명받은</a:t>
            </a:r>
            <a:r>
              <a:rPr lang="ko-KR" altLang="en-US" sz="1400" dirty="0"/>
              <a:t> 이후 생각 할 과제</a:t>
            </a:r>
            <a:r>
              <a:rPr lang="en-US" altLang="ko-KR" sz="1400" dirty="0"/>
              <a:t>.  </a:t>
            </a:r>
            <a:r>
              <a:rPr lang="ko-KR" altLang="en-US" sz="1400" dirty="0" err="1"/>
              <a:t>본게임</a:t>
            </a:r>
            <a:r>
              <a:rPr lang="ko-KR" altLang="en-US" sz="1400" dirty="0"/>
              <a:t> 자체가 재미없으면 </a:t>
            </a:r>
            <a:r>
              <a:rPr lang="ko-KR" altLang="en-US" sz="1400" dirty="0" err="1"/>
              <a:t>아무의미없다</a:t>
            </a:r>
            <a:r>
              <a:rPr lang="ko-KR" altLang="en-US" sz="1400" dirty="0"/>
              <a:t> 생각됨 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Ex ) </a:t>
            </a:r>
            <a:r>
              <a:rPr lang="ko-KR" altLang="en-US" sz="1400" dirty="0" err="1"/>
              <a:t>게임내</a:t>
            </a:r>
            <a:r>
              <a:rPr lang="ko-KR" altLang="en-US" sz="1400" dirty="0"/>
              <a:t> 유저가 </a:t>
            </a:r>
            <a:r>
              <a:rPr lang="ko-KR" altLang="en-US" sz="1400" dirty="0" err="1"/>
              <a:t>콘트롤하는</a:t>
            </a:r>
            <a:r>
              <a:rPr lang="ko-KR" altLang="en-US" sz="1400" dirty="0"/>
              <a:t> 메인 </a:t>
            </a:r>
            <a:r>
              <a:rPr lang="ko-KR" altLang="en-US" sz="1400" dirty="0" err="1"/>
              <a:t>케릭터</a:t>
            </a:r>
            <a:r>
              <a:rPr lang="ko-KR" altLang="en-US" sz="1400" dirty="0"/>
              <a:t> 판매 </a:t>
            </a:r>
            <a:r>
              <a:rPr lang="en-US" altLang="ko-KR" sz="1400" dirty="0"/>
              <a:t>-&gt; </a:t>
            </a:r>
            <a:r>
              <a:rPr lang="ko-KR" altLang="en-US" sz="1400" dirty="0" err="1"/>
              <a:t>게임머니로</a:t>
            </a:r>
            <a:r>
              <a:rPr lang="ko-KR" altLang="en-US" sz="1400" dirty="0"/>
              <a:t> 구입 </a:t>
            </a:r>
            <a:r>
              <a:rPr lang="ko-KR" altLang="en-US" sz="1400" dirty="0" smtClean="0"/>
              <a:t>가능</a:t>
            </a:r>
            <a:endParaRPr lang="en-US" altLang="ko-KR" sz="1400" dirty="0" smtClean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 smtClean="0"/>
          </a:p>
          <a:p>
            <a:r>
              <a:rPr lang="ko-KR" altLang="en-US" sz="1400" dirty="0"/>
              <a:t>추가 </a:t>
            </a:r>
            <a:r>
              <a:rPr lang="ko-KR" altLang="en-US" sz="1400" dirty="0" err="1"/>
              <a:t>컨텐츠</a:t>
            </a:r>
            <a:r>
              <a:rPr lang="ko-KR" altLang="en-US" sz="1400" dirty="0"/>
              <a:t> </a:t>
            </a:r>
            <a:r>
              <a:rPr lang="en-US" altLang="ko-KR" sz="1400" dirty="0"/>
              <a:t> </a:t>
            </a:r>
            <a:r>
              <a:rPr lang="ko-KR" altLang="en-US" sz="1400" dirty="0"/>
              <a:t>유무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/>
              <a:t>기획서 초반에 예를 들었던 </a:t>
            </a:r>
            <a:r>
              <a:rPr lang="ko-KR" altLang="en-US" sz="1400" dirty="0" err="1"/>
              <a:t>지니어스게임에서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적용시킬수</a:t>
            </a:r>
            <a:r>
              <a:rPr lang="ko-KR" altLang="en-US" sz="1400" dirty="0"/>
              <a:t> 있는 수많은 보드게임 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SNS</a:t>
            </a:r>
            <a:r>
              <a:rPr lang="ko-KR" altLang="en-US" sz="1400" dirty="0"/>
              <a:t>형 보드게임들이 존재한다</a:t>
            </a:r>
            <a:r>
              <a:rPr lang="en-US" altLang="ko-KR" sz="1400" dirty="0"/>
              <a:t>. </a:t>
            </a:r>
          </a:p>
          <a:p>
            <a:endParaRPr lang="en-US" altLang="ko-KR" sz="1400" dirty="0"/>
          </a:p>
          <a:p>
            <a:r>
              <a:rPr lang="ko-KR" altLang="en-US" sz="1400" dirty="0"/>
              <a:t>각 </a:t>
            </a:r>
            <a:r>
              <a:rPr lang="ko-KR" altLang="en-US" sz="1400" dirty="0" err="1"/>
              <a:t>컨텐츠들은</a:t>
            </a:r>
            <a:r>
              <a:rPr lang="ko-KR" altLang="en-US" sz="1400" dirty="0"/>
              <a:t> </a:t>
            </a:r>
            <a:r>
              <a:rPr lang="ko-KR" altLang="en-US" sz="1400" dirty="0" err="1"/>
              <a:t>게임머니를</a:t>
            </a:r>
            <a:r>
              <a:rPr lang="ko-KR" altLang="en-US" sz="1400" dirty="0"/>
              <a:t> 공유한다</a:t>
            </a:r>
            <a:r>
              <a:rPr lang="en-US" altLang="ko-KR" sz="1400" dirty="0"/>
              <a:t>. </a:t>
            </a:r>
          </a:p>
          <a:p>
            <a:endParaRPr lang="en-US" altLang="ko-KR" sz="1400" dirty="0"/>
          </a:p>
          <a:p>
            <a:r>
              <a:rPr lang="ko-KR" altLang="en-US" sz="1400" dirty="0" err="1"/>
              <a:t>그중에서는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미니게임컨텐츠로도</a:t>
            </a:r>
            <a:r>
              <a:rPr lang="ko-KR" altLang="en-US" sz="1400" dirty="0"/>
              <a:t> 활용할 수 있는 것도 존재하며 추가 </a:t>
            </a:r>
            <a:r>
              <a:rPr lang="ko-KR" altLang="en-US" sz="1400" dirty="0" err="1"/>
              <a:t>컨텐츠로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 err="1"/>
              <a:t>넣을것들은</a:t>
            </a:r>
            <a:r>
              <a:rPr lang="ko-KR" altLang="en-US" sz="1400" dirty="0"/>
              <a:t> 많이 존재한다</a:t>
            </a:r>
            <a:r>
              <a:rPr lang="en-US" altLang="ko-KR" sz="1400" dirty="0"/>
              <a:t>. ( </a:t>
            </a:r>
            <a:r>
              <a:rPr lang="ko-KR" altLang="en-US" sz="1400" dirty="0"/>
              <a:t>사기경마 </a:t>
            </a:r>
            <a:r>
              <a:rPr lang="en-US" altLang="ko-KR" sz="1400" dirty="0"/>
              <a:t>, </a:t>
            </a:r>
            <a:r>
              <a:rPr lang="ko-KR" altLang="en-US" sz="1400" dirty="0"/>
              <a:t>흑과 백 등등 </a:t>
            </a:r>
            <a:r>
              <a:rPr lang="en-US" altLang="ko-KR" sz="1400" dirty="0"/>
              <a:t>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32377" y="5046307"/>
            <a:ext cx="80325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세세한 시스템기획은 무엇을 어디까지 구현할지를 정해놓고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팀원들과 같이 게임을 만들고 싶은 맘입니다</a:t>
            </a:r>
            <a:r>
              <a:rPr lang="en-US" altLang="ko-KR" dirty="0" smtClean="0"/>
              <a:t>. </a:t>
            </a:r>
          </a:p>
          <a:p>
            <a:endParaRPr lang="en-US" altLang="ko-KR" dirty="0"/>
          </a:p>
          <a:p>
            <a:r>
              <a:rPr lang="ko-KR" altLang="en-US" dirty="0" smtClean="0"/>
              <a:t>많은 의견 </a:t>
            </a:r>
            <a:r>
              <a:rPr lang="ko-KR" altLang="en-US" dirty="0" err="1" smtClean="0"/>
              <a:t>부탁드립니다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2107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1094</Words>
  <Application>Microsoft Office PowerPoint</Application>
  <PresentationFormat>화면 슬라이드 쇼(4:3)</PresentationFormat>
  <Paragraphs>452</Paragraphs>
  <Slides>22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3" baseType="lpstr">
      <vt:lpstr>Office 테마</vt:lpstr>
      <vt:lpstr>실제 게임 플로우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실제 게임 플로우 </dc:title>
  <dc:creator>goldenboy</dc:creator>
  <cp:lastModifiedBy>goldenboy</cp:lastModifiedBy>
  <cp:revision>97</cp:revision>
  <dcterms:created xsi:type="dcterms:W3CDTF">2017-04-07T16:19:56Z</dcterms:created>
  <dcterms:modified xsi:type="dcterms:W3CDTF">2017-04-08T11:28:52Z</dcterms:modified>
</cp:coreProperties>
</file>